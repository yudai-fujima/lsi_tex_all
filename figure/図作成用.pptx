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5" r:id="rId22"/>
    <p:sldId id="278" r:id="rId23"/>
    <p:sldId id="277" r:id="rId24"/>
    <p:sldId id="280" r:id="rId25"/>
    <p:sldId id="279" r:id="rId26"/>
    <p:sldId id="281" r:id="rId27"/>
    <p:sldId id="282" r:id="rId28"/>
    <p:sldId id="284" r:id="rId29"/>
    <p:sldId id="283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D2D8"/>
    <a:srgbClr val="FFFFCC"/>
    <a:srgbClr val="E7EAED"/>
    <a:srgbClr val="000000"/>
    <a:srgbClr val="F2CFEE"/>
    <a:srgbClr val="FBE3D6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55" autoAdjust="0"/>
    <p:restoredTop sz="93063" autoAdjust="0"/>
  </p:normalViewPr>
  <p:slideViewPr>
    <p:cSldViewPr snapToGrid="0">
      <p:cViewPr>
        <p:scale>
          <a:sx n="100" d="100"/>
          <a:sy n="100" d="100"/>
        </p:scale>
        <p:origin x="-302" y="-4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178549-28F8-4597-AA66-0F232015A20F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527BF9-E184-44A3-ACCC-564EDE433B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032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527BF9-E184-44A3-ACCC-564EDE433B63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1817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57A1C-8419-63E1-0FEB-52DFD2B9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32F7ED4-77A4-F5DB-5F34-7871D1C6A7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436DB90-0C92-84C2-7FB9-A79768293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86A1B17-6EFB-FE5E-47A1-715E44D077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527BF9-E184-44A3-ACCC-564EDE433B63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812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C5940-7880-E54D-B94E-60130EB10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5BD624A-B2A3-195D-2440-9377E32117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7D3E106-411F-A7C7-9613-4786B480B1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9F0BCF-2FD0-E2B8-A3CF-29A1856E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527BF9-E184-44A3-ACCC-564EDE433B63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36636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527BF9-E184-44A3-ACCC-564EDE433B63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9639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527BF9-E184-44A3-ACCC-564EDE433B63}" type="slidenum">
              <a:rPr kumimoji="1" lang="ja-JP" altLang="en-US" smtClean="0"/>
              <a:t>30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94383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673D8-FBED-7656-A2EF-1FF707859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8A2110C-3019-92E0-C902-646CB4C93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845D77E-8661-7AE7-22B2-88CC31E4C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076856-5D0C-60BE-E16E-57B009645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527BF9-E184-44A3-ACCC-564EDE433B63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57967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D17FD-F84C-F19B-804C-0BF8AE3ED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91FB46B-F978-2B04-B42A-E24B6A3365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FF5701B-2686-F7EE-F515-F107AAC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F9AA2D2-3B5B-3874-29DF-3C553DCDE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527BF9-E184-44A3-ACCC-564EDE433B63}" type="slidenum">
              <a:rPr kumimoji="1" lang="ja-JP" altLang="en-US" smtClean="0"/>
              <a:t>32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7751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D471E-CB91-ACBD-0487-75190F9F5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9CB3DA7-955E-B65A-C73A-4A2B94C103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38D3A92-8D58-427F-D80A-6E2C555236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2CC1F27-8E53-D8FB-1D98-66B647DB14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527BF9-E184-44A3-ACCC-564EDE433B63}" type="slidenum">
              <a:rPr kumimoji="1" lang="ja-JP" altLang="en-US" smtClean="0"/>
              <a:t>33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47425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E63C7-E30B-A89A-4701-BC5F07CAD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F8734A5-4D22-7D00-2455-4E66448FF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41319B8-93F2-2157-2875-89E9DDE1D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F5B3F23-228C-54FA-4711-E1BA571CBF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527BF9-E184-44A3-ACCC-564EDE433B63}" type="slidenum">
              <a:rPr kumimoji="1" lang="ja-JP" altLang="en-US" smtClean="0"/>
              <a:t>34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780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77C41-D5A2-A1A3-EDEB-452941FBD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500244E-B278-A396-F365-E8D77D6B5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A0199B4-3253-CDDA-61C7-9C3BA0B5A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EF12F8-ED34-99B4-AA4E-6A98529F9D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A527BF9-E184-44A3-ACCC-564EDE433B63}" type="slidenum">
              <a:rPr kumimoji="1" lang="ja-JP" altLang="en-US" smtClean="0"/>
              <a:t>35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7958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78B54C-CD55-54AA-B542-E7CCED368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3427B31-2251-24AB-9B8B-B30B060D48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FADD55-F368-5A5A-7B3E-F5AC3C472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8201B6-E4D1-5388-FDDA-3D795BF0D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BCB0E6-72C2-F70C-7A52-68C6C0F20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2340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76815A-7C84-6D51-B8FF-7B69F1292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7C7F1F-95A7-DCEF-9046-B038B2818B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C04D923-8FC5-83DB-9144-2B8BA8443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F076C8A-DEC8-8888-A7A2-893222551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F21E22-D189-5A56-55DD-D87432C98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53851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5F0A8A-5653-D8C8-0CE1-732D3EC5A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AD78125-89FC-E66C-6910-1CA6A25C4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05692B-C9A2-B57F-D57A-E915AB9D1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7D2AB6-88D7-A5A0-FAE3-112444B14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1375F4E-8D0E-8EB8-08FB-DAC422DA7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77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85455B-A494-9F24-6915-1566EB089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E1A2FA-2024-6FC8-FF19-EABB463594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9AF1E7-81B2-39CF-C96F-A4991FBD5A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3A08945-4818-51BE-C403-4AE8BABFA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426C5AD-99D0-199B-9378-A0718EC33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28CD04D-65F3-4778-EBDC-5B33ABE29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6930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F6D36E-3AA9-51AE-8AD7-EC86F3985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2505301-4707-C826-2D26-438D41FD8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E973FEB-4E9E-DE4F-A2D1-B5285A2E0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C32007-FB72-A9DB-3C23-90FA1C709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AE019CF-3F54-8054-C699-5BCFEB48CF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7510C8B-EF58-5945-DA49-1780BA8EE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F6BABFA-5AE8-D832-399D-C05BB33A8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2B74ADC-6397-B706-9B94-8EA1D9361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077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FF1F93-8E03-7BF9-6453-84FF5C1D5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1AE9A0A-C9B3-954D-5D01-7303646D1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4303AD3-949F-4D55-FD7F-4797A567D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C96A515-2CEF-6D74-9C14-0238F51CD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5580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368045E-B06E-C444-0A31-C8DABF1F5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85B324F-8638-6C81-AE3E-91297EFEA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0912193-72A5-52FA-C9A3-391B5C6B6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6094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922FF4-F63D-5671-7BC6-0A3300C2C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2FB8DF-7A98-1DAA-00DF-4B139C1152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37B605A-6FBA-74D9-8FCF-974014CF31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6234BE-123F-94AC-8122-964F11BCC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E45F516-EC0C-EB65-060A-E5EC03E19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871477B-974E-34F3-3536-97BBF5475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1923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65D649-A9AC-33E2-815D-D49DF0B2D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280ADD1-E447-308C-9734-D4CCBAAAF9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D4ABF7A-5296-56E4-E09A-C353C3BD5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4C1C802-DC9B-27AA-BD4F-6D952BC7F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F1ACAF9-25F9-B7B7-92E4-F8302F8A3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2EB2FD2-0A0C-2BCD-B87D-3CF18F108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3329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67F1F0-9BBB-1F2D-AC5B-DF9AF4738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1CF7231-172E-7F96-060D-ACC70F0F09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17BF0C-B610-BD55-A078-6C74F3808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335B00D-7269-F68D-2C20-D7946010F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5D1CA9B-9D1E-4990-0BC0-141DB6692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23749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EDD1DD-FD94-87E7-F1D6-9A65C0B41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527E4F-3538-8043-F8B0-B64477EDFB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DF9F85-A367-D360-9F18-D82893778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DC5EF50-3890-67CA-1D4E-3A79A3E8A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786F13-6DCA-ACA3-1FAB-18941D4A2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2976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63A2140-958B-59C6-3D0A-01E8CB24F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2CB0649-989C-2B54-20E3-84EF9129E7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786325-2E4C-C012-D9E4-2892A7FB4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3107C6-C473-4CAA-A5BE-14DD527DB99D}" type="datetimeFigureOut">
              <a:rPr kumimoji="1" lang="ja-JP" altLang="en-US" smtClean="0"/>
              <a:t>2026/1/22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2D7958-E984-564A-A953-7A7F2E9A0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78CFB7-0A31-4DD2-4FA3-884266C330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76E2B-9850-451F-B287-20FB03887AD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581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7" Type="http://schemas.openxmlformats.org/officeDocument/2006/relationships/image" Target="../media/image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5.png"/><Relationship Id="rId10" Type="http://schemas.openxmlformats.org/officeDocument/2006/relationships/image" Target="../media/image33.png"/><Relationship Id="rId4" Type="http://schemas.openxmlformats.org/officeDocument/2006/relationships/image" Target="../media/image29.png"/><Relationship Id="rId9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image" Target="../media/image37.png"/><Relationship Id="rId5" Type="http://schemas.openxmlformats.org/officeDocument/2006/relationships/image" Target="../media/image5.png"/><Relationship Id="rId10" Type="http://schemas.openxmlformats.org/officeDocument/2006/relationships/image" Target="../media/image36.png"/><Relationship Id="rId4" Type="http://schemas.openxmlformats.org/officeDocument/2006/relationships/image" Target="../media/image29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30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44.png"/><Relationship Id="rId7" Type="http://schemas.openxmlformats.org/officeDocument/2006/relationships/image" Target="../media/image47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0.png"/><Relationship Id="rId5" Type="http://schemas.openxmlformats.org/officeDocument/2006/relationships/image" Target="../media/image45.png"/><Relationship Id="rId10" Type="http://schemas.openxmlformats.org/officeDocument/2006/relationships/image" Target="../media/image49.png"/><Relationship Id="rId4" Type="http://schemas.openxmlformats.org/officeDocument/2006/relationships/image" Target="../media/image5.png"/><Relationship Id="rId9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51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11" Type="http://schemas.openxmlformats.org/officeDocument/2006/relationships/image" Target="../media/image57.png"/><Relationship Id="rId5" Type="http://schemas.openxmlformats.org/officeDocument/2006/relationships/image" Target="../media/image5.png"/><Relationship Id="rId10" Type="http://schemas.openxmlformats.org/officeDocument/2006/relationships/image" Target="../media/image56.png"/><Relationship Id="rId4" Type="http://schemas.openxmlformats.org/officeDocument/2006/relationships/image" Target="../media/image52.png"/><Relationship Id="rId9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18" Type="http://schemas.openxmlformats.org/officeDocument/2006/relationships/image" Target="../media/image9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17" Type="http://schemas.openxmlformats.org/officeDocument/2006/relationships/image" Target="../media/image84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5" Type="http://schemas.openxmlformats.org/officeDocument/2006/relationships/image" Target="../media/image8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0.png"/><Relationship Id="rId4" Type="http://schemas.openxmlformats.org/officeDocument/2006/relationships/image" Target="../media/image7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0.png"/><Relationship Id="rId4" Type="http://schemas.openxmlformats.org/officeDocument/2006/relationships/image" Target="../media/image7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5" Type="http://schemas.openxmlformats.org/officeDocument/2006/relationships/image" Target="../media/image80.png"/><Relationship Id="rId4" Type="http://schemas.openxmlformats.org/officeDocument/2006/relationships/image" Target="../media/image7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85.png"/><Relationship Id="rId7" Type="http://schemas.openxmlformats.org/officeDocument/2006/relationships/image" Target="../media/image8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73.png"/><Relationship Id="rId4" Type="http://schemas.openxmlformats.org/officeDocument/2006/relationships/image" Target="../media/image86.png"/><Relationship Id="rId9" Type="http://schemas.openxmlformats.org/officeDocument/2006/relationships/image" Target="../media/image7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4.png"/><Relationship Id="rId4" Type="http://schemas.openxmlformats.org/officeDocument/2006/relationships/image" Target="../media/image8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13" Type="http://schemas.openxmlformats.org/officeDocument/2006/relationships/image" Target="../media/image107.png"/><Relationship Id="rId3" Type="http://schemas.openxmlformats.org/officeDocument/2006/relationships/image" Target="../media/image100.png"/><Relationship Id="rId7" Type="http://schemas.openxmlformats.org/officeDocument/2006/relationships/image" Target="../media/image92.png"/><Relationship Id="rId12" Type="http://schemas.openxmlformats.org/officeDocument/2006/relationships/image" Target="../media/image106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11" Type="http://schemas.openxmlformats.org/officeDocument/2006/relationships/image" Target="../media/image105.png"/><Relationship Id="rId5" Type="http://schemas.openxmlformats.org/officeDocument/2006/relationships/image" Target="../media/image102.png"/><Relationship Id="rId10" Type="http://schemas.openxmlformats.org/officeDocument/2006/relationships/image" Target="../media/image104.png"/><Relationship Id="rId4" Type="http://schemas.openxmlformats.org/officeDocument/2006/relationships/image" Target="../media/image101.png"/><Relationship Id="rId9" Type="http://schemas.openxmlformats.org/officeDocument/2006/relationships/image" Target="../media/image10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F7A95F-DA62-8AB7-B7CB-916927132C0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A00DCEF-7C00-F41A-AF6B-A810BD137D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2281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A8F1367-A365-8828-B55C-908BCB57FE04}"/>
              </a:ext>
            </a:extLst>
          </p:cNvPr>
          <p:cNvSpPr/>
          <p:nvPr/>
        </p:nvSpPr>
        <p:spPr>
          <a:xfrm>
            <a:off x="871722" y="2788418"/>
            <a:ext cx="1165608" cy="17082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5B170448-1EB7-5E7E-52D6-7B63E09219C9}"/>
              </a:ext>
            </a:extLst>
          </p:cNvPr>
          <p:cNvSpPr/>
          <p:nvPr/>
        </p:nvSpPr>
        <p:spPr>
          <a:xfrm>
            <a:off x="2172930" y="2850969"/>
            <a:ext cx="167148" cy="4571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B43580A-6E64-0EFE-DB68-E2083394D8F0}"/>
              </a:ext>
            </a:extLst>
          </p:cNvPr>
          <p:cNvSpPr/>
          <p:nvPr/>
        </p:nvSpPr>
        <p:spPr>
          <a:xfrm>
            <a:off x="2340078" y="2653218"/>
            <a:ext cx="709974" cy="612044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scene3d>
            <a:camera prst="isometricLeftDown">
              <a:rot lat="1200000" lon="4200000" rev="21593776"/>
            </a:camera>
            <a:lightRig rig="balanced" dir="t"/>
          </a:scene3d>
          <a:sp3d extrusionH="1270000" contourW="12700">
            <a:extrusionClr>
              <a:schemeClr val="tx2">
                <a:lumMod val="25000"/>
                <a:lumOff val="75000"/>
              </a:schemeClr>
            </a:extrusionClr>
            <a:contourClr>
              <a:schemeClr val="tx2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6BB7FD6-19ED-57F7-CA3A-592D743AA985}"/>
              </a:ext>
            </a:extLst>
          </p:cNvPr>
          <p:cNvSpPr txBox="1"/>
          <p:nvPr/>
        </p:nvSpPr>
        <p:spPr>
          <a:xfrm>
            <a:off x="2408789" y="4044935"/>
            <a:ext cx="1697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サイズ：</a:t>
            </a:r>
            <a:r>
              <a:rPr kumimoji="1" lang="en-US" altLang="ja-JP" dirty="0"/>
              <a:t>4×</a:t>
            </a:r>
            <a:r>
              <a:rPr kumimoji="1" lang="ja-JP" altLang="en-US" dirty="0"/>
              <a:t>４</a:t>
            </a:r>
            <a:endParaRPr lang="en-US" altLang="ja-JP" dirty="0"/>
          </a:p>
          <a:p>
            <a:r>
              <a:rPr lang="ja-JP" altLang="en-US" dirty="0"/>
              <a:t>枚数　：</a:t>
            </a:r>
            <a:r>
              <a:rPr lang="en-US" altLang="ja-JP" dirty="0"/>
              <a:t>512</a:t>
            </a:r>
            <a:endParaRPr kumimoji="1" lang="ja-JP" altLang="en-US" dirty="0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424D5E82-E8B1-F6E6-8916-E0EB25227528}"/>
              </a:ext>
            </a:extLst>
          </p:cNvPr>
          <p:cNvSpPr/>
          <p:nvPr/>
        </p:nvSpPr>
        <p:spPr>
          <a:xfrm>
            <a:off x="4383792" y="2873828"/>
            <a:ext cx="855182" cy="85412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15F6624-D223-8C21-74D9-D3117C930885}"/>
              </a:ext>
            </a:extLst>
          </p:cNvPr>
          <p:cNvSpPr txBox="1"/>
          <p:nvPr/>
        </p:nvSpPr>
        <p:spPr>
          <a:xfrm>
            <a:off x="853239" y="3016858"/>
            <a:ext cx="1202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z 100</a:t>
            </a:r>
            <a:r>
              <a:rPr lang="ja-JP" altLang="en-US" dirty="0"/>
              <a:t>次元</a:t>
            </a:r>
            <a:endParaRPr lang="en-US" altLang="ja-JP" dirty="0"/>
          </a:p>
          <a:p>
            <a:endParaRPr kumimoji="1" lang="en-US" altLang="ja-JP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5C802AC-E7DF-2E42-CD72-C61DF1781B53}"/>
              </a:ext>
            </a:extLst>
          </p:cNvPr>
          <p:cNvSpPr/>
          <p:nvPr/>
        </p:nvSpPr>
        <p:spPr>
          <a:xfrm>
            <a:off x="4989152" y="2556796"/>
            <a:ext cx="1106848" cy="89634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scene3d>
            <a:camera prst="isometricLeftDown">
              <a:rot lat="1200000" lon="4200000" rev="21593776"/>
            </a:camera>
            <a:lightRig rig="balanced" dir="t"/>
          </a:scene3d>
          <a:sp3d extrusionH="1016000" contourW="12700">
            <a:extrusionClr>
              <a:schemeClr val="tx2">
                <a:lumMod val="25000"/>
                <a:lumOff val="75000"/>
              </a:schemeClr>
            </a:extrusionClr>
            <a:contourClr>
              <a:schemeClr val="tx2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85EBF76-7D54-69BE-FA7C-982872359739}"/>
              </a:ext>
            </a:extLst>
          </p:cNvPr>
          <p:cNvSpPr txBox="1"/>
          <p:nvPr/>
        </p:nvSpPr>
        <p:spPr>
          <a:xfrm>
            <a:off x="4388325" y="2527356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ReLU</a:t>
            </a:r>
            <a:endParaRPr kumimoji="1" lang="ja-JP" altLang="en-US" dirty="0"/>
          </a:p>
        </p:txBody>
      </p:sp>
      <p:sp>
        <p:nvSpPr>
          <p:cNvPr id="14" name="矢印: 右 13">
            <a:extLst>
              <a:ext uri="{FF2B5EF4-FFF2-40B4-BE49-F238E27FC236}">
                <a16:creationId xmlns:a16="http://schemas.microsoft.com/office/drawing/2014/main" id="{45CF7329-4017-A7D2-7C6D-B9D767DA7D71}"/>
              </a:ext>
            </a:extLst>
          </p:cNvPr>
          <p:cNvSpPr/>
          <p:nvPr/>
        </p:nvSpPr>
        <p:spPr>
          <a:xfrm>
            <a:off x="6881359" y="2896688"/>
            <a:ext cx="855182" cy="85412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60E2621-D56B-3403-C31D-488421DE9FD5}"/>
              </a:ext>
            </a:extLst>
          </p:cNvPr>
          <p:cNvSpPr/>
          <p:nvPr/>
        </p:nvSpPr>
        <p:spPr>
          <a:xfrm>
            <a:off x="7594295" y="2304895"/>
            <a:ext cx="1106848" cy="1400148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scene3d>
            <a:camera prst="isometricLeftDown">
              <a:rot lat="1200000" lon="4200000" rev="21593776"/>
            </a:camera>
            <a:lightRig rig="balanced" dir="t"/>
          </a:scene3d>
          <a:sp3d extrusionH="381000" contourW="12700">
            <a:extrusionClr>
              <a:schemeClr val="tx2">
                <a:lumMod val="25000"/>
                <a:lumOff val="75000"/>
              </a:schemeClr>
            </a:extrusionClr>
            <a:contourClr>
              <a:schemeClr val="tx2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30F6206-7E6A-E32A-A5DA-1C16F6A4C529}"/>
              </a:ext>
            </a:extLst>
          </p:cNvPr>
          <p:cNvSpPr txBox="1"/>
          <p:nvPr/>
        </p:nvSpPr>
        <p:spPr>
          <a:xfrm>
            <a:off x="6895802" y="2570062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ReLU</a:t>
            </a:r>
            <a:endParaRPr kumimoji="1" lang="ja-JP" altLang="en-US" dirty="0"/>
          </a:p>
        </p:txBody>
      </p:sp>
      <p:sp>
        <p:nvSpPr>
          <p:cNvPr id="17" name="矢印: 右 16">
            <a:extLst>
              <a:ext uri="{FF2B5EF4-FFF2-40B4-BE49-F238E27FC236}">
                <a16:creationId xmlns:a16="http://schemas.microsoft.com/office/drawing/2014/main" id="{29BAE3D5-C349-FB25-D392-66A458FCAD20}"/>
              </a:ext>
            </a:extLst>
          </p:cNvPr>
          <p:cNvSpPr/>
          <p:nvPr/>
        </p:nvSpPr>
        <p:spPr>
          <a:xfrm>
            <a:off x="8807245" y="2934528"/>
            <a:ext cx="855182" cy="85412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009C4B7-00D8-A292-57DD-76588A3FAD5D}"/>
              </a:ext>
            </a:extLst>
          </p:cNvPr>
          <p:cNvSpPr txBox="1"/>
          <p:nvPr/>
        </p:nvSpPr>
        <p:spPr>
          <a:xfrm>
            <a:off x="8858887" y="2570062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Tanh</a:t>
            </a:r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7D87F61-CAE9-5AE2-C953-8682AE65B7F5}"/>
              </a:ext>
            </a:extLst>
          </p:cNvPr>
          <p:cNvSpPr txBox="1"/>
          <p:nvPr/>
        </p:nvSpPr>
        <p:spPr>
          <a:xfrm>
            <a:off x="5162896" y="4044935"/>
            <a:ext cx="1595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サイズ：</a:t>
            </a:r>
            <a:r>
              <a:rPr kumimoji="1" lang="en-US" altLang="ja-JP" dirty="0"/>
              <a:t>8×</a:t>
            </a:r>
            <a:r>
              <a:rPr lang="en-US" altLang="ja-JP" dirty="0"/>
              <a:t>8</a:t>
            </a:r>
            <a:endParaRPr kumimoji="1" lang="en-US" altLang="ja-JP" dirty="0"/>
          </a:p>
          <a:p>
            <a:r>
              <a:rPr lang="ja-JP" altLang="en-US" dirty="0"/>
              <a:t>枚数　：</a:t>
            </a:r>
            <a:r>
              <a:rPr lang="en-US" altLang="ja-JP" dirty="0"/>
              <a:t>256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EC1D95D-C2C0-FBBA-FE3F-81F53CEAB731}"/>
              </a:ext>
            </a:extLst>
          </p:cNvPr>
          <p:cNvSpPr txBox="1"/>
          <p:nvPr/>
        </p:nvSpPr>
        <p:spPr>
          <a:xfrm>
            <a:off x="7383047" y="4044935"/>
            <a:ext cx="18517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サイズ：</a:t>
            </a:r>
            <a:r>
              <a:rPr kumimoji="1" lang="en-US" altLang="ja-JP" dirty="0"/>
              <a:t>16×16</a:t>
            </a:r>
          </a:p>
          <a:p>
            <a:r>
              <a:rPr lang="ja-JP" altLang="en-US" dirty="0"/>
              <a:t>枚数　：</a:t>
            </a:r>
            <a:r>
              <a:rPr lang="en-US" altLang="ja-JP" dirty="0"/>
              <a:t>128</a:t>
            </a:r>
            <a:endParaRPr kumimoji="1" lang="ja-JP" altLang="en-US" dirty="0"/>
          </a:p>
        </p:txBody>
      </p:sp>
      <p:graphicFrame>
        <p:nvGraphicFramePr>
          <p:cNvPr id="25" name="表 24">
            <a:extLst>
              <a:ext uri="{FF2B5EF4-FFF2-40B4-BE49-F238E27FC236}">
                <a16:creationId xmlns:a16="http://schemas.microsoft.com/office/drawing/2014/main" id="{9EA5AD3C-8FD2-7018-7BB1-DC9768D9EB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746982"/>
              </p:ext>
            </p:extLst>
          </p:nvPr>
        </p:nvGraphicFramePr>
        <p:xfrm>
          <a:off x="1356585" y="4051515"/>
          <a:ext cx="802771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216">
                  <a:extLst>
                    <a:ext uri="{9D8B030D-6E8A-4147-A177-3AD203B41FA5}">
                      <a16:colId xmlns:a16="http://schemas.microsoft.com/office/drawing/2014/main" val="2895031422"/>
                    </a:ext>
                  </a:extLst>
                </a:gridCol>
                <a:gridCol w="2326918">
                  <a:extLst>
                    <a:ext uri="{9D8B030D-6E8A-4147-A177-3AD203B41FA5}">
                      <a16:colId xmlns:a16="http://schemas.microsoft.com/office/drawing/2014/main" val="2872803199"/>
                    </a:ext>
                  </a:extLst>
                </a:gridCol>
                <a:gridCol w="2289786">
                  <a:extLst>
                    <a:ext uri="{9D8B030D-6E8A-4147-A177-3AD203B41FA5}">
                      <a16:colId xmlns:a16="http://schemas.microsoft.com/office/drawing/2014/main" val="3318974129"/>
                    </a:ext>
                  </a:extLst>
                </a:gridCol>
                <a:gridCol w="2281796">
                  <a:extLst>
                    <a:ext uri="{9D8B030D-6E8A-4147-A177-3AD203B41FA5}">
                      <a16:colId xmlns:a16="http://schemas.microsoft.com/office/drawing/2014/main" val="3257384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b="0" dirty="0"/>
                        <a:t>特徴マップ１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0" dirty="0"/>
                        <a:t>特徴マップ２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0" dirty="0"/>
                        <a:t>特徴マップ３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57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サイズ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4×</a:t>
                      </a:r>
                      <a:r>
                        <a:rPr kumimoji="1" lang="ja-JP" altLang="en-US" dirty="0"/>
                        <a:t>４</a:t>
                      </a:r>
                      <a:endParaRPr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8×</a:t>
                      </a:r>
                      <a:r>
                        <a:rPr lang="en-US" altLang="ja-JP" dirty="0"/>
                        <a:t>8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16×16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128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枚数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256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dirty="0"/>
                        <a:t>128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0065046"/>
                  </a:ext>
                </a:extLst>
              </a:tr>
            </a:tbl>
          </a:graphicData>
        </a:graphic>
      </p:graphicFrame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E2AD45B-8678-1A75-4B2C-4D3927873E45}"/>
              </a:ext>
            </a:extLst>
          </p:cNvPr>
          <p:cNvSpPr txBox="1"/>
          <p:nvPr/>
        </p:nvSpPr>
        <p:spPr>
          <a:xfrm>
            <a:off x="10384407" y="1730747"/>
            <a:ext cx="920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O</a:t>
            </a:r>
            <a:r>
              <a:rPr lang="en-US" altLang="ja-JP" dirty="0"/>
              <a:t>utput</a:t>
            </a:r>
            <a:endParaRPr kumimoji="1" lang="ja-JP" altLang="en-US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A5F4567-9130-760F-BFCD-6C7AEDFE5967}"/>
              </a:ext>
            </a:extLst>
          </p:cNvPr>
          <p:cNvSpPr txBox="1"/>
          <p:nvPr/>
        </p:nvSpPr>
        <p:spPr>
          <a:xfrm>
            <a:off x="1054306" y="2424554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Input</a:t>
            </a:r>
            <a:endParaRPr kumimoji="1" lang="ja-JP" altLang="en-US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0DC5BC5-93C9-74B6-0883-84E0BEAE2968}"/>
              </a:ext>
            </a:extLst>
          </p:cNvPr>
          <p:cNvSpPr txBox="1"/>
          <p:nvPr/>
        </p:nvSpPr>
        <p:spPr>
          <a:xfrm>
            <a:off x="10257427" y="4100213"/>
            <a:ext cx="9284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32×32</a:t>
            </a:r>
          </a:p>
          <a:p>
            <a:endParaRPr kumimoji="1" lang="en-US" altLang="ja-JP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BBA8B43-B827-A944-D84B-046E330D43AB}"/>
              </a:ext>
            </a:extLst>
          </p:cNvPr>
          <p:cNvSpPr txBox="1"/>
          <p:nvPr/>
        </p:nvSpPr>
        <p:spPr>
          <a:xfrm>
            <a:off x="1668745" y="1484591"/>
            <a:ext cx="181652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b="1" dirty="0"/>
              <a:t>Deconv 1</a:t>
            </a:r>
            <a:endParaRPr lang="en-US" altLang="ja-JP" dirty="0"/>
          </a:p>
          <a:p>
            <a:pPr algn="ctr"/>
            <a:r>
              <a:rPr lang="en-US" altLang="ja-JP" sz="1600" dirty="0"/>
              <a:t>(s</a:t>
            </a:r>
            <a:r>
              <a:rPr kumimoji="1" lang="en-US" altLang="ja-JP" sz="1600" dirty="0"/>
              <a:t>tride=1 pad=0)</a:t>
            </a:r>
            <a:endParaRPr kumimoji="1" lang="ja-JP" altLang="en-US" sz="1600" dirty="0"/>
          </a:p>
        </p:txBody>
      </p:sp>
      <p:pic>
        <p:nvPicPr>
          <p:cNvPr id="34" name="図 33" descr="QR コード&#10;&#10;AI 生成コンテンツは誤りを含む可能性があります。">
            <a:extLst>
              <a:ext uri="{FF2B5EF4-FFF2-40B4-BE49-F238E27FC236}">
                <a16:creationId xmlns:a16="http://schemas.microsoft.com/office/drawing/2014/main" id="{311D6F4A-4CE9-39E4-8748-9A80CE20D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2663" y="2255226"/>
            <a:ext cx="1697989" cy="1741528"/>
          </a:xfrm>
          <a:prstGeom prst="rect">
            <a:avLst/>
          </a:prstGeom>
          <a:scene3d>
            <a:camera prst="isometricLeftDown"/>
            <a:lightRig rig="threePt" dir="t"/>
          </a:scene3d>
        </p:spPr>
      </p:pic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FE82E14-0DD7-E12F-7999-DD372FC00603}"/>
              </a:ext>
            </a:extLst>
          </p:cNvPr>
          <p:cNvSpPr txBox="1"/>
          <p:nvPr/>
        </p:nvSpPr>
        <p:spPr>
          <a:xfrm>
            <a:off x="3951110" y="1484526"/>
            <a:ext cx="181652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b="1" dirty="0"/>
              <a:t>Deconv 2</a:t>
            </a:r>
            <a:endParaRPr lang="en-US" altLang="ja-JP" dirty="0"/>
          </a:p>
          <a:p>
            <a:pPr algn="ctr"/>
            <a:r>
              <a:rPr lang="en-US" altLang="ja-JP" sz="1600" dirty="0"/>
              <a:t>(s</a:t>
            </a:r>
            <a:r>
              <a:rPr kumimoji="1" lang="en-US" altLang="ja-JP" sz="1600" dirty="0"/>
              <a:t>tride=2 pad=1)</a:t>
            </a:r>
            <a:endParaRPr kumimoji="1" lang="ja-JP" altLang="en-US" sz="1600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B474BE01-42D2-4851-F046-2935D375BF78}"/>
              </a:ext>
            </a:extLst>
          </p:cNvPr>
          <p:cNvSpPr txBox="1"/>
          <p:nvPr/>
        </p:nvSpPr>
        <p:spPr>
          <a:xfrm>
            <a:off x="6233475" y="1484527"/>
            <a:ext cx="181652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b="1" dirty="0"/>
              <a:t>Deconv 3</a:t>
            </a:r>
            <a:endParaRPr lang="en-US" altLang="ja-JP" dirty="0"/>
          </a:p>
          <a:p>
            <a:pPr algn="ctr"/>
            <a:r>
              <a:rPr lang="en-US" altLang="ja-JP" sz="1600" dirty="0"/>
              <a:t>(s</a:t>
            </a:r>
            <a:r>
              <a:rPr kumimoji="1" lang="en-US" altLang="ja-JP" sz="1600" dirty="0"/>
              <a:t>tride=2 pad=1)</a:t>
            </a:r>
            <a:endParaRPr kumimoji="1" lang="ja-JP" altLang="en-US" sz="1600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7D4C96-1B12-B2A9-6703-283C09CD637B}"/>
              </a:ext>
            </a:extLst>
          </p:cNvPr>
          <p:cNvSpPr txBox="1"/>
          <p:nvPr/>
        </p:nvSpPr>
        <p:spPr>
          <a:xfrm>
            <a:off x="8308941" y="1484528"/>
            <a:ext cx="181652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b="1" dirty="0"/>
              <a:t>Deconv 4</a:t>
            </a:r>
            <a:endParaRPr lang="en-US" altLang="ja-JP" dirty="0"/>
          </a:p>
          <a:p>
            <a:pPr algn="ctr"/>
            <a:r>
              <a:rPr lang="en-US" altLang="ja-JP" sz="1600" dirty="0"/>
              <a:t>(s</a:t>
            </a:r>
            <a:r>
              <a:rPr kumimoji="1" lang="en-US" altLang="ja-JP" sz="1600" dirty="0"/>
              <a:t>tride=2 pad=1)</a:t>
            </a:r>
            <a:endParaRPr kumimoji="1" lang="ja-JP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46999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QR コード&#10;&#10;AI 生成コンテンツは誤りを含む可能性があります。">
            <a:extLst>
              <a:ext uri="{FF2B5EF4-FFF2-40B4-BE49-F238E27FC236}">
                <a16:creationId xmlns:a16="http://schemas.microsoft.com/office/drawing/2014/main" id="{6B62E619-7B33-C290-83B1-F2213C39F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73" y="2560203"/>
            <a:ext cx="1312121" cy="1345766"/>
          </a:xfrm>
          <a:prstGeom prst="rect">
            <a:avLst/>
          </a:prstGeom>
          <a:scene3d>
            <a:camera prst="isometricLeftDown"/>
            <a:lightRig rig="threePt" dir="t"/>
          </a:scene3d>
        </p:spPr>
      </p:pic>
      <p:sp>
        <p:nvSpPr>
          <p:cNvPr id="3" name="矢印: 右 2">
            <a:extLst>
              <a:ext uri="{FF2B5EF4-FFF2-40B4-BE49-F238E27FC236}">
                <a16:creationId xmlns:a16="http://schemas.microsoft.com/office/drawing/2014/main" id="{14D7A410-1F84-544C-FECD-1FA3EC826F02}"/>
              </a:ext>
            </a:extLst>
          </p:cNvPr>
          <p:cNvSpPr/>
          <p:nvPr/>
        </p:nvSpPr>
        <p:spPr>
          <a:xfrm flipV="1">
            <a:off x="1382980" y="3250708"/>
            <a:ext cx="310014" cy="4571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B8677D4-CEB1-C0A0-6561-119EC51E8A30}"/>
              </a:ext>
            </a:extLst>
          </p:cNvPr>
          <p:cNvSpPr txBox="1"/>
          <p:nvPr/>
        </p:nvSpPr>
        <p:spPr>
          <a:xfrm>
            <a:off x="767404" y="1753405"/>
            <a:ext cx="181652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b="1" dirty="0"/>
              <a:t>conv 1</a:t>
            </a:r>
            <a:endParaRPr lang="en-US" altLang="ja-JP" dirty="0"/>
          </a:p>
          <a:p>
            <a:pPr algn="ctr"/>
            <a:r>
              <a:rPr lang="en-US" altLang="ja-JP" sz="1600" dirty="0"/>
              <a:t>(s</a:t>
            </a:r>
            <a:r>
              <a:rPr kumimoji="1" lang="en-US" altLang="ja-JP" sz="1600" dirty="0"/>
              <a:t>tride=2 pad=1)</a:t>
            </a:r>
            <a:endParaRPr kumimoji="1" lang="ja-JP" altLang="en-US" sz="1600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CF37664-D169-0BFB-256D-529A6A2BE249}"/>
              </a:ext>
            </a:extLst>
          </p:cNvPr>
          <p:cNvSpPr/>
          <p:nvPr/>
        </p:nvSpPr>
        <p:spPr>
          <a:xfrm>
            <a:off x="1431880" y="2560203"/>
            <a:ext cx="1106848" cy="1400148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scene3d>
            <a:camera prst="isometricLeftDown">
              <a:rot lat="1200000" lon="4200000" rev="21593776"/>
            </a:camera>
            <a:lightRig rig="balanced" dir="t"/>
          </a:scene3d>
          <a:sp3d extrusionH="381000" contourW="12700">
            <a:extrusionClr>
              <a:schemeClr val="tx2">
                <a:lumMod val="25000"/>
                <a:lumOff val="75000"/>
              </a:schemeClr>
            </a:extrusionClr>
            <a:contourClr>
              <a:schemeClr val="tx2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1EABB1-ACD0-185C-F95E-AFC1FFFD0093}"/>
              </a:ext>
            </a:extLst>
          </p:cNvPr>
          <p:cNvSpPr/>
          <p:nvPr/>
        </p:nvSpPr>
        <p:spPr>
          <a:xfrm>
            <a:off x="3657988" y="2944421"/>
            <a:ext cx="1106848" cy="89634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scene3d>
            <a:camera prst="isometricLeftDown">
              <a:rot lat="1200000" lon="4200000" rev="21593776"/>
            </a:camera>
            <a:lightRig rig="balanced" dir="t"/>
          </a:scene3d>
          <a:sp3d extrusionH="1016000" contourW="12700">
            <a:extrusionClr>
              <a:schemeClr val="tx2">
                <a:lumMod val="25000"/>
                <a:lumOff val="75000"/>
              </a:schemeClr>
            </a:extrusionClr>
            <a:contourClr>
              <a:schemeClr val="tx2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D59D48CB-6829-AC95-AF29-B7A6DAEBA6B5}"/>
              </a:ext>
            </a:extLst>
          </p:cNvPr>
          <p:cNvSpPr/>
          <p:nvPr/>
        </p:nvSpPr>
        <p:spPr>
          <a:xfrm>
            <a:off x="2651948" y="3214558"/>
            <a:ext cx="1153934" cy="8186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7687BD4-6785-5CA9-CFDF-9339222E4ED5}"/>
              </a:ext>
            </a:extLst>
          </p:cNvPr>
          <p:cNvSpPr txBox="1"/>
          <p:nvPr/>
        </p:nvSpPr>
        <p:spPr>
          <a:xfrm>
            <a:off x="2639933" y="1753404"/>
            <a:ext cx="181652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b="1" dirty="0"/>
              <a:t>conv 2</a:t>
            </a:r>
            <a:endParaRPr lang="en-US" altLang="ja-JP" dirty="0"/>
          </a:p>
          <a:p>
            <a:pPr algn="ctr"/>
            <a:r>
              <a:rPr lang="en-US" altLang="ja-JP" sz="1600" dirty="0"/>
              <a:t>(s</a:t>
            </a:r>
            <a:r>
              <a:rPr kumimoji="1" lang="en-US" altLang="ja-JP" sz="1600" dirty="0"/>
              <a:t>tride=2 pad=1)</a:t>
            </a:r>
            <a:endParaRPr kumimoji="1" lang="ja-JP" altLang="en-US" sz="1600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09F0351-C7DE-ED4F-97B9-000B73ABF321}"/>
              </a:ext>
            </a:extLst>
          </p:cNvPr>
          <p:cNvSpPr/>
          <p:nvPr/>
        </p:nvSpPr>
        <p:spPr>
          <a:xfrm>
            <a:off x="6480299" y="3011593"/>
            <a:ext cx="709974" cy="612044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scene3d>
            <a:camera prst="isometricLeftDown">
              <a:rot lat="1200000" lon="4200000" rev="21593776"/>
            </a:camera>
            <a:lightRig rig="balanced" dir="t"/>
          </a:scene3d>
          <a:sp3d extrusionH="1270000" contourW="12700">
            <a:extrusionClr>
              <a:schemeClr val="tx2">
                <a:lumMod val="25000"/>
                <a:lumOff val="75000"/>
              </a:schemeClr>
            </a:extrusionClr>
            <a:contourClr>
              <a:schemeClr val="tx2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F9B376DF-8E10-05CF-BAB9-CDFA06D4C06C}"/>
              </a:ext>
            </a:extLst>
          </p:cNvPr>
          <p:cNvSpPr/>
          <p:nvPr/>
        </p:nvSpPr>
        <p:spPr>
          <a:xfrm>
            <a:off x="8217694" y="3240595"/>
            <a:ext cx="1378903" cy="637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5348D35-FFBC-EA63-B86B-4216D3ED5027}"/>
              </a:ext>
            </a:extLst>
          </p:cNvPr>
          <p:cNvSpPr txBox="1"/>
          <p:nvPr/>
        </p:nvSpPr>
        <p:spPr>
          <a:xfrm>
            <a:off x="8242376" y="2884461"/>
            <a:ext cx="13901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Leaky ReLU</a:t>
            </a:r>
            <a:endParaRPr kumimoji="1" lang="ja-JP" altLang="en-US" sz="1600" dirty="0"/>
          </a:p>
        </p:txBody>
      </p:sp>
      <p:sp>
        <p:nvSpPr>
          <p:cNvPr id="15" name="矢印: 右 14">
            <a:extLst>
              <a:ext uri="{FF2B5EF4-FFF2-40B4-BE49-F238E27FC236}">
                <a16:creationId xmlns:a16="http://schemas.microsoft.com/office/drawing/2014/main" id="{7F9AFB4E-0C43-FA71-F71F-64E3F0CFC099}"/>
              </a:ext>
            </a:extLst>
          </p:cNvPr>
          <p:cNvSpPr/>
          <p:nvPr/>
        </p:nvSpPr>
        <p:spPr>
          <a:xfrm>
            <a:off x="5476681" y="3199661"/>
            <a:ext cx="1153934" cy="8186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4B51946-6778-7C9A-E00F-29BAA071A150}"/>
              </a:ext>
            </a:extLst>
          </p:cNvPr>
          <p:cNvSpPr txBox="1"/>
          <p:nvPr/>
        </p:nvSpPr>
        <p:spPr>
          <a:xfrm>
            <a:off x="2633885" y="2861107"/>
            <a:ext cx="13901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Leaky ReLU</a:t>
            </a:r>
            <a:endParaRPr kumimoji="1" lang="ja-JP" altLang="en-US" sz="16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70A0B6B-9F89-C74D-E3E6-8F8DC58806E6}"/>
              </a:ext>
            </a:extLst>
          </p:cNvPr>
          <p:cNvSpPr txBox="1"/>
          <p:nvPr/>
        </p:nvSpPr>
        <p:spPr>
          <a:xfrm>
            <a:off x="5358586" y="2842316"/>
            <a:ext cx="13901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Leaky ReLU</a:t>
            </a:r>
            <a:endParaRPr kumimoji="1" lang="ja-JP" altLang="en-US" sz="16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EA3E619-12F8-C7D5-2628-6F3821407360}"/>
              </a:ext>
            </a:extLst>
          </p:cNvPr>
          <p:cNvSpPr txBox="1"/>
          <p:nvPr/>
        </p:nvSpPr>
        <p:spPr>
          <a:xfrm>
            <a:off x="5340355" y="3370471"/>
            <a:ext cx="1378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Batch Norm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56CC4FF-C3F3-64FB-E418-ADE30000AE93}"/>
              </a:ext>
            </a:extLst>
          </p:cNvPr>
          <p:cNvSpPr txBox="1"/>
          <p:nvPr/>
        </p:nvSpPr>
        <p:spPr>
          <a:xfrm>
            <a:off x="2630566" y="3350937"/>
            <a:ext cx="1378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Batch Norm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AAAC453-1298-F54E-8EE9-6EC830968013}"/>
              </a:ext>
            </a:extLst>
          </p:cNvPr>
          <p:cNvSpPr txBox="1"/>
          <p:nvPr/>
        </p:nvSpPr>
        <p:spPr>
          <a:xfrm>
            <a:off x="8244941" y="3304356"/>
            <a:ext cx="1378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Batch Norm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07DB3314-29C9-1B54-F4C9-540963AF7823}"/>
              </a:ext>
            </a:extLst>
          </p:cNvPr>
          <p:cNvSpPr/>
          <p:nvPr/>
        </p:nvSpPr>
        <p:spPr>
          <a:xfrm>
            <a:off x="9651092" y="2842316"/>
            <a:ext cx="1243050" cy="84717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全結合層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＋</a:t>
            </a:r>
            <a:r>
              <a:rPr kumimoji="1" lang="en-US" altLang="ja-JP" dirty="0">
                <a:solidFill>
                  <a:schemeClr val="tx1"/>
                </a:solidFill>
              </a:rPr>
              <a:t>sigmoid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AAC3063-3AFE-9C94-90EA-E10D145B8712}"/>
              </a:ext>
            </a:extLst>
          </p:cNvPr>
          <p:cNvSpPr txBox="1"/>
          <p:nvPr/>
        </p:nvSpPr>
        <p:spPr>
          <a:xfrm>
            <a:off x="5063590" y="1753403"/>
            <a:ext cx="181652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b="1" dirty="0"/>
              <a:t>conv 3</a:t>
            </a:r>
            <a:endParaRPr lang="en-US" altLang="ja-JP" dirty="0"/>
          </a:p>
          <a:p>
            <a:pPr algn="ctr"/>
            <a:r>
              <a:rPr lang="en-US" altLang="ja-JP" sz="1600" dirty="0"/>
              <a:t>(s</a:t>
            </a:r>
            <a:r>
              <a:rPr kumimoji="1" lang="en-US" altLang="ja-JP" sz="1600" dirty="0"/>
              <a:t>tride=2 pad=1)</a:t>
            </a:r>
            <a:endParaRPr kumimoji="1" lang="ja-JP" altLang="en-US" sz="16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68DB9BCD-4C49-3A50-D207-F2FDC0973997}"/>
              </a:ext>
            </a:extLst>
          </p:cNvPr>
          <p:cNvSpPr txBox="1"/>
          <p:nvPr/>
        </p:nvSpPr>
        <p:spPr>
          <a:xfrm>
            <a:off x="8217694" y="1762596"/>
            <a:ext cx="15359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b="1" dirty="0"/>
              <a:t>全結合層</a:t>
            </a:r>
            <a:endParaRPr lang="en-US" altLang="ja-JP" b="1" dirty="0"/>
          </a:p>
          <a:p>
            <a:pPr algn="ctr"/>
            <a:r>
              <a:rPr lang="ja-JP" altLang="en-US" dirty="0"/>
              <a:t>（</a:t>
            </a:r>
            <a:r>
              <a:rPr lang="en-US" altLang="ja-JP" dirty="0"/>
              <a:t>4096to1</a:t>
            </a:r>
            <a:r>
              <a:rPr lang="ja-JP" altLang="en-US" dirty="0"/>
              <a:t>）</a:t>
            </a:r>
            <a:endParaRPr lang="en-US" altLang="ja-JP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48A25605-B159-AA12-E28E-223895D49CD7}"/>
              </a:ext>
            </a:extLst>
          </p:cNvPr>
          <p:cNvSpPr/>
          <p:nvPr/>
        </p:nvSpPr>
        <p:spPr>
          <a:xfrm>
            <a:off x="10975688" y="3196014"/>
            <a:ext cx="364987" cy="14393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9816DFF-C536-CC9B-8054-4F74F75BEE5F}"/>
              </a:ext>
            </a:extLst>
          </p:cNvPr>
          <p:cNvSpPr txBox="1"/>
          <p:nvPr/>
        </p:nvSpPr>
        <p:spPr>
          <a:xfrm>
            <a:off x="11340675" y="3127150"/>
            <a:ext cx="623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b="1" dirty="0"/>
              <a:t>0</a:t>
            </a:r>
            <a:r>
              <a:rPr kumimoji="1" lang="ja-JP" altLang="en-US" sz="1600" b="1" dirty="0"/>
              <a:t>～</a:t>
            </a:r>
            <a:r>
              <a:rPr kumimoji="1" lang="en-US" altLang="ja-JP" sz="1600" b="1" dirty="0"/>
              <a:t>1</a:t>
            </a:r>
            <a:endParaRPr kumimoji="1" lang="ja-JP" altLang="en-US" sz="1600" dirty="0"/>
          </a:p>
        </p:txBody>
      </p:sp>
      <p:graphicFrame>
        <p:nvGraphicFramePr>
          <p:cNvPr id="27" name="表 26">
            <a:extLst>
              <a:ext uri="{FF2B5EF4-FFF2-40B4-BE49-F238E27FC236}">
                <a16:creationId xmlns:a16="http://schemas.microsoft.com/office/drawing/2014/main" id="{9BF06F14-D969-887E-2A5E-5D532C793C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281667"/>
              </p:ext>
            </p:extLst>
          </p:nvPr>
        </p:nvGraphicFramePr>
        <p:xfrm>
          <a:off x="570005" y="4331689"/>
          <a:ext cx="802771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216">
                  <a:extLst>
                    <a:ext uri="{9D8B030D-6E8A-4147-A177-3AD203B41FA5}">
                      <a16:colId xmlns:a16="http://schemas.microsoft.com/office/drawing/2014/main" val="2895031422"/>
                    </a:ext>
                  </a:extLst>
                </a:gridCol>
                <a:gridCol w="2326918">
                  <a:extLst>
                    <a:ext uri="{9D8B030D-6E8A-4147-A177-3AD203B41FA5}">
                      <a16:colId xmlns:a16="http://schemas.microsoft.com/office/drawing/2014/main" val="2872803199"/>
                    </a:ext>
                  </a:extLst>
                </a:gridCol>
                <a:gridCol w="2289786">
                  <a:extLst>
                    <a:ext uri="{9D8B030D-6E8A-4147-A177-3AD203B41FA5}">
                      <a16:colId xmlns:a16="http://schemas.microsoft.com/office/drawing/2014/main" val="3318974129"/>
                    </a:ext>
                  </a:extLst>
                </a:gridCol>
                <a:gridCol w="2281796">
                  <a:extLst>
                    <a:ext uri="{9D8B030D-6E8A-4147-A177-3AD203B41FA5}">
                      <a16:colId xmlns:a16="http://schemas.microsoft.com/office/drawing/2014/main" val="3257384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b="0" dirty="0"/>
                        <a:t>特徴マップ１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0" dirty="0"/>
                        <a:t>特徴マップ２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0" dirty="0"/>
                        <a:t>特徴マップ３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57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サイズ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16×16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8×</a:t>
                      </a:r>
                      <a:r>
                        <a:rPr lang="en-US" altLang="ja-JP" dirty="0"/>
                        <a:t>8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4×4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128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枚数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64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256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0065046"/>
                  </a:ext>
                </a:extLst>
              </a:tr>
            </a:tbl>
          </a:graphicData>
        </a:graphic>
      </p:graphicFrame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DCBB4BA-78D5-851A-4EB3-74098E2A6991}"/>
              </a:ext>
            </a:extLst>
          </p:cNvPr>
          <p:cNvSpPr txBox="1"/>
          <p:nvPr/>
        </p:nvSpPr>
        <p:spPr>
          <a:xfrm>
            <a:off x="293131" y="3976743"/>
            <a:ext cx="1378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/>
              <a:t>32×32(1ch)</a:t>
            </a:r>
          </a:p>
        </p:txBody>
      </p:sp>
    </p:spTree>
    <p:extLst>
      <p:ext uri="{BB962C8B-B14F-4D97-AF65-F5344CB8AC3E}">
        <p14:creationId xmlns:p14="http://schemas.microsoft.com/office/powerpoint/2010/main" val="1048261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C9AD-6862-4684-7F04-AEE0525DC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矢印: 右 2">
            <a:extLst>
              <a:ext uri="{FF2B5EF4-FFF2-40B4-BE49-F238E27FC236}">
                <a16:creationId xmlns:a16="http://schemas.microsoft.com/office/drawing/2014/main" id="{9F29C4FD-40C9-800A-BDA1-C0BEAD19D892}"/>
              </a:ext>
            </a:extLst>
          </p:cNvPr>
          <p:cNvSpPr/>
          <p:nvPr/>
        </p:nvSpPr>
        <p:spPr>
          <a:xfrm flipV="1">
            <a:off x="1382980" y="3250708"/>
            <a:ext cx="310014" cy="4571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1125487-68B6-A3D4-A5F9-2A1E320EC8DB}"/>
              </a:ext>
            </a:extLst>
          </p:cNvPr>
          <p:cNvSpPr txBox="1"/>
          <p:nvPr/>
        </p:nvSpPr>
        <p:spPr>
          <a:xfrm>
            <a:off x="767404" y="1753405"/>
            <a:ext cx="181652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b="1" dirty="0"/>
              <a:t>conv 1</a:t>
            </a:r>
            <a:endParaRPr lang="en-US" altLang="ja-JP" dirty="0"/>
          </a:p>
          <a:p>
            <a:pPr algn="ctr"/>
            <a:r>
              <a:rPr lang="en-US" altLang="ja-JP" sz="1600" dirty="0"/>
              <a:t>(s</a:t>
            </a:r>
            <a:r>
              <a:rPr kumimoji="1" lang="en-US" altLang="ja-JP" sz="1600" dirty="0"/>
              <a:t>tride=2 pad=1)</a:t>
            </a:r>
            <a:endParaRPr kumimoji="1" lang="ja-JP" altLang="en-US" sz="1600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52CD9DC-B28D-28CA-C1B8-83ABEAFE5789}"/>
              </a:ext>
            </a:extLst>
          </p:cNvPr>
          <p:cNvSpPr/>
          <p:nvPr/>
        </p:nvSpPr>
        <p:spPr>
          <a:xfrm>
            <a:off x="1431880" y="2560203"/>
            <a:ext cx="1106848" cy="1400148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scene3d>
            <a:camera prst="isometricLeftDown">
              <a:rot lat="1200000" lon="4200000" rev="21593776"/>
            </a:camera>
            <a:lightRig rig="balanced" dir="t"/>
          </a:scene3d>
          <a:sp3d extrusionH="381000" contourW="12700">
            <a:extrusionClr>
              <a:schemeClr val="tx2">
                <a:lumMod val="25000"/>
                <a:lumOff val="75000"/>
              </a:schemeClr>
            </a:extrusionClr>
            <a:contourClr>
              <a:schemeClr val="tx2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3C2B7D-AF9C-B624-D97F-1C2AB9B64BCE}"/>
              </a:ext>
            </a:extLst>
          </p:cNvPr>
          <p:cNvSpPr/>
          <p:nvPr/>
        </p:nvSpPr>
        <p:spPr>
          <a:xfrm>
            <a:off x="3657988" y="2944421"/>
            <a:ext cx="1106848" cy="89634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scene3d>
            <a:camera prst="isometricLeftDown">
              <a:rot lat="1200000" lon="4200000" rev="21593776"/>
            </a:camera>
            <a:lightRig rig="balanced" dir="t"/>
          </a:scene3d>
          <a:sp3d extrusionH="1016000" contourW="12700">
            <a:extrusionClr>
              <a:schemeClr val="tx2">
                <a:lumMod val="25000"/>
                <a:lumOff val="75000"/>
              </a:schemeClr>
            </a:extrusionClr>
            <a:contourClr>
              <a:schemeClr val="tx2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FB629C14-E39B-B6F5-2AD2-A211F5F77B6F}"/>
              </a:ext>
            </a:extLst>
          </p:cNvPr>
          <p:cNvSpPr/>
          <p:nvPr/>
        </p:nvSpPr>
        <p:spPr>
          <a:xfrm>
            <a:off x="2651948" y="3214558"/>
            <a:ext cx="1153934" cy="8186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12F8C73-9F6D-CB08-66D4-0E6791864051}"/>
              </a:ext>
            </a:extLst>
          </p:cNvPr>
          <p:cNvSpPr txBox="1"/>
          <p:nvPr/>
        </p:nvSpPr>
        <p:spPr>
          <a:xfrm>
            <a:off x="2639933" y="1753404"/>
            <a:ext cx="181652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b="1" dirty="0"/>
              <a:t>conv 2</a:t>
            </a:r>
            <a:endParaRPr lang="en-US" altLang="ja-JP" dirty="0"/>
          </a:p>
          <a:p>
            <a:pPr algn="ctr"/>
            <a:r>
              <a:rPr lang="en-US" altLang="ja-JP" sz="1600" dirty="0"/>
              <a:t>(s</a:t>
            </a:r>
            <a:r>
              <a:rPr kumimoji="1" lang="en-US" altLang="ja-JP" sz="1600" dirty="0"/>
              <a:t>tride=2 pad=1)</a:t>
            </a:r>
            <a:endParaRPr kumimoji="1" lang="ja-JP" altLang="en-US" sz="1600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69350B8-738C-C997-E860-5C586BB01AC3}"/>
              </a:ext>
            </a:extLst>
          </p:cNvPr>
          <p:cNvSpPr/>
          <p:nvPr/>
        </p:nvSpPr>
        <p:spPr>
          <a:xfrm>
            <a:off x="6480299" y="3011593"/>
            <a:ext cx="709974" cy="612044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scene3d>
            <a:camera prst="isometricLeftDown">
              <a:rot lat="1200000" lon="4200000" rev="21593776"/>
            </a:camera>
            <a:lightRig rig="balanced" dir="t"/>
          </a:scene3d>
          <a:sp3d extrusionH="1270000" contourW="12700">
            <a:extrusionClr>
              <a:schemeClr val="tx2">
                <a:lumMod val="25000"/>
                <a:lumOff val="75000"/>
              </a:schemeClr>
            </a:extrusionClr>
            <a:contourClr>
              <a:schemeClr val="tx2"/>
            </a:contourClr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BFF67BA1-FA1B-8C26-69CB-3C3B15BEC65A}"/>
              </a:ext>
            </a:extLst>
          </p:cNvPr>
          <p:cNvSpPr/>
          <p:nvPr/>
        </p:nvSpPr>
        <p:spPr>
          <a:xfrm>
            <a:off x="8217694" y="3240595"/>
            <a:ext cx="1378903" cy="637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D456F65-8DC9-F930-F215-1A6F33935E97}"/>
              </a:ext>
            </a:extLst>
          </p:cNvPr>
          <p:cNvSpPr txBox="1"/>
          <p:nvPr/>
        </p:nvSpPr>
        <p:spPr>
          <a:xfrm>
            <a:off x="8242376" y="2884461"/>
            <a:ext cx="13901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Leaky ReLU</a:t>
            </a:r>
            <a:endParaRPr kumimoji="1" lang="ja-JP" altLang="en-US" sz="1600" dirty="0"/>
          </a:p>
        </p:txBody>
      </p:sp>
      <p:sp>
        <p:nvSpPr>
          <p:cNvPr id="15" name="矢印: 右 14">
            <a:extLst>
              <a:ext uri="{FF2B5EF4-FFF2-40B4-BE49-F238E27FC236}">
                <a16:creationId xmlns:a16="http://schemas.microsoft.com/office/drawing/2014/main" id="{D11EC39A-0385-3E68-26B2-1A303B0BD799}"/>
              </a:ext>
            </a:extLst>
          </p:cNvPr>
          <p:cNvSpPr/>
          <p:nvPr/>
        </p:nvSpPr>
        <p:spPr>
          <a:xfrm>
            <a:off x="5476681" y="3199661"/>
            <a:ext cx="1153934" cy="8186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FB687A1-885D-F5D6-9549-E0CAC235C94D}"/>
              </a:ext>
            </a:extLst>
          </p:cNvPr>
          <p:cNvSpPr txBox="1"/>
          <p:nvPr/>
        </p:nvSpPr>
        <p:spPr>
          <a:xfrm>
            <a:off x="2633885" y="2861107"/>
            <a:ext cx="13901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Leaky ReLU</a:t>
            </a:r>
            <a:endParaRPr kumimoji="1" lang="ja-JP" altLang="en-US" sz="16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425D00A-48CF-EFAD-E6FC-BD959E8FE023}"/>
              </a:ext>
            </a:extLst>
          </p:cNvPr>
          <p:cNvSpPr txBox="1"/>
          <p:nvPr/>
        </p:nvSpPr>
        <p:spPr>
          <a:xfrm>
            <a:off x="5358586" y="2842316"/>
            <a:ext cx="13901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Leaky ReLU</a:t>
            </a:r>
            <a:endParaRPr kumimoji="1" lang="ja-JP" altLang="en-US" sz="16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3A1ECB8-DDDC-8D06-5E1A-6FAE705A6B5A}"/>
              </a:ext>
            </a:extLst>
          </p:cNvPr>
          <p:cNvSpPr txBox="1"/>
          <p:nvPr/>
        </p:nvSpPr>
        <p:spPr>
          <a:xfrm>
            <a:off x="5340355" y="3370471"/>
            <a:ext cx="1378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Batch Norm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8B43E7B-2B87-798A-086C-0AA6CCA07611}"/>
              </a:ext>
            </a:extLst>
          </p:cNvPr>
          <p:cNvSpPr txBox="1"/>
          <p:nvPr/>
        </p:nvSpPr>
        <p:spPr>
          <a:xfrm>
            <a:off x="2630566" y="3350937"/>
            <a:ext cx="1378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Batch Norm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DC103011-9EC0-69A9-580C-28E013373E5C}"/>
              </a:ext>
            </a:extLst>
          </p:cNvPr>
          <p:cNvSpPr txBox="1"/>
          <p:nvPr/>
        </p:nvSpPr>
        <p:spPr>
          <a:xfrm>
            <a:off x="8244941" y="3304356"/>
            <a:ext cx="1378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b="1" dirty="0"/>
              <a:t>Batch Norm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FB51AF9-5F33-C5B3-2126-A801363FDA59}"/>
              </a:ext>
            </a:extLst>
          </p:cNvPr>
          <p:cNvSpPr/>
          <p:nvPr/>
        </p:nvSpPr>
        <p:spPr>
          <a:xfrm>
            <a:off x="9651092" y="2842316"/>
            <a:ext cx="1243050" cy="84717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全結合層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＋</a:t>
            </a:r>
            <a:r>
              <a:rPr kumimoji="1" lang="en-US" altLang="ja-JP" dirty="0">
                <a:solidFill>
                  <a:schemeClr val="tx1"/>
                </a:solidFill>
              </a:rPr>
              <a:t>sigmoid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5D88BA3-0425-E245-2CDE-21B232E3E568}"/>
              </a:ext>
            </a:extLst>
          </p:cNvPr>
          <p:cNvSpPr txBox="1"/>
          <p:nvPr/>
        </p:nvSpPr>
        <p:spPr>
          <a:xfrm>
            <a:off x="5063590" y="1753403"/>
            <a:ext cx="181652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b="1" dirty="0"/>
              <a:t>conv 3</a:t>
            </a:r>
            <a:endParaRPr lang="en-US" altLang="ja-JP" dirty="0"/>
          </a:p>
          <a:p>
            <a:pPr algn="ctr"/>
            <a:r>
              <a:rPr lang="en-US" altLang="ja-JP" sz="1600" dirty="0"/>
              <a:t>(s</a:t>
            </a:r>
            <a:r>
              <a:rPr kumimoji="1" lang="en-US" altLang="ja-JP" sz="1600" dirty="0"/>
              <a:t>tride=2 pad=1)</a:t>
            </a:r>
            <a:endParaRPr kumimoji="1" lang="ja-JP" altLang="en-US" sz="16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0923E37-DFFD-CDCC-FF43-39B9A46FE156}"/>
              </a:ext>
            </a:extLst>
          </p:cNvPr>
          <p:cNvSpPr txBox="1"/>
          <p:nvPr/>
        </p:nvSpPr>
        <p:spPr>
          <a:xfrm>
            <a:off x="8217694" y="1762596"/>
            <a:ext cx="15359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b="1" dirty="0"/>
              <a:t>全結合層</a:t>
            </a:r>
            <a:endParaRPr lang="en-US" altLang="ja-JP" b="1" dirty="0"/>
          </a:p>
          <a:p>
            <a:pPr algn="ctr"/>
            <a:r>
              <a:rPr lang="ja-JP" altLang="en-US" dirty="0"/>
              <a:t>（</a:t>
            </a:r>
            <a:r>
              <a:rPr lang="en-US" altLang="ja-JP" dirty="0"/>
              <a:t>4096to1</a:t>
            </a:r>
            <a:r>
              <a:rPr lang="ja-JP" altLang="en-US" dirty="0"/>
              <a:t>）</a:t>
            </a:r>
            <a:endParaRPr lang="en-US" altLang="ja-JP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CA787CC2-BD46-2719-9E1A-3E2394BDC479}"/>
              </a:ext>
            </a:extLst>
          </p:cNvPr>
          <p:cNvSpPr/>
          <p:nvPr/>
        </p:nvSpPr>
        <p:spPr>
          <a:xfrm>
            <a:off x="10975688" y="3196014"/>
            <a:ext cx="364987" cy="14393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CE6058B1-2761-BA9B-6BB0-B76EBEFF9FA3}"/>
              </a:ext>
            </a:extLst>
          </p:cNvPr>
          <p:cNvSpPr txBox="1"/>
          <p:nvPr/>
        </p:nvSpPr>
        <p:spPr>
          <a:xfrm>
            <a:off x="11340675" y="3127150"/>
            <a:ext cx="6238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b="1" dirty="0"/>
              <a:t>0</a:t>
            </a:r>
            <a:r>
              <a:rPr kumimoji="1" lang="ja-JP" altLang="en-US" sz="1600" b="1" dirty="0"/>
              <a:t>～</a:t>
            </a:r>
            <a:r>
              <a:rPr kumimoji="1" lang="en-US" altLang="ja-JP" sz="1600" b="1" dirty="0"/>
              <a:t>1</a:t>
            </a:r>
            <a:endParaRPr kumimoji="1" lang="ja-JP" altLang="en-US" sz="1600" dirty="0"/>
          </a:p>
        </p:txBody>
      </p:sp>
      <p:graphicFrame>
        <p:nvGraphicFramePr>
          <p:cNvPr id="27" name="表 26">
            <a:extLst>
              <a:ext uri="{FF2B5EF4-FFF2-40B4-BE49-F238E27FC236}">
                <a16:creationId xmlns:a16="http://schemas.microsoft.com/office/drawing/2014/main" id="{F2609652-A149-A9F4-E802-E6B509A289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437169"/>
              </p:ext>
            </p:extLst>
          </p:nvPr>
        </p:nvGraphicFramePr>
        <p:xfrm>
          <a:off x="570005" y="4331689"/>
          <a:ext cx="802771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9216">
                  <a:extLst>
                    <a:ext uri="{9D8B030D-6E8A-4147-A177-3AD203B41FA5}">
                      <a16:colId xmlns:a16="http://schemas.microsoft.com/office/drawing/2014/main" val="2895031422"/>
                    </a:ext>
                  </a:extLst>
                </a:gridCol>
                <a:gridCol w="2326918">
                  <a:extLst>
                    <a:ext uri="{9D8B030D-6E8A-4147-A177-3AD203B41FA5}">
                      <a16:colId xmlns:a16="http://schemas.microsoft.com/office/drawing/2014/main" val="2872803199"/>
                    </a:ext>
                  </a:extLst>
                </a:gridCol>
                <a:gridCol w="2289786">
                  <a:extLst>
                    <a:ext uri="{9D8B030D-6E8A-4147-A177-3AD203B41FA5}">
                      <a16:colId xmlns:a16="http://schemas.microsoft.com/office/drawing/2014/main" val="3318974129"/>
                    </a:ext>
                  </a:extLst>
                </a:gridCol>
                <a:gridCol w="2281796">
                  <a:extLst>
                    <a:ext uri="{9D8B030D-6E8A-4147-A177-3AD203B41FA5}">
                      <a16:colId xmlns:a16="http://schemas.microsoft.com/office/drawing/2014/main" val="3257384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b="0" dirty="0"/>
                        <a:t>特徴マップ１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0" dirty="0"/>
                        <a:t>特徴マップ２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0" dirty="0"/>
                        <a:t>特徴マップ３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57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サイズ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16×16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8×</a:t>
                      </a:r>
                      <a:r>
                        <a:rPr lang="en-US" altLang="ja-JP" dirty="0"/>
                        <a:t>8</a:t>
                      </a:r>
                      <a:endParaRPr kumimoji="1" lang="en-US" altLang="ja-JP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4×4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1282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枚数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64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256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0065046"/>
                  </a:ext>
                </a:extLst>
              </a:tr>
            </a:tbl>
          </a:graphicData>
        </a:graphic>
      </p:graphicFrame>
      <p:pic>
        <p:nvPicPr>
          <p:cNvPr id="12" name="図 11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9069FF99-8638-A4DC-53B6-612AE09F5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10" y="2564751"/>
            <a:ext cx="1241444" cy="1276016"/>
          </a:xfrm>
          <a:prstGeom prst="rect">
            <a:avLst/>
          </a:prstGeom>
          <a:scene3d>
            <a:camera prst="isometricLeftDown"/>
            <a:lightRig rig="threePt" dir="t"/>
          </a:scene3d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AB86B26-B237-37CF-791B-233F5BC06CD4}"/>
              </a:ext>
            </a:extLst>
          </p:cNvPr>
          <p:cNvSpPr txBox="1"/>
          <p:nvPr/>
        </p:nvSpPr>
        <p:spPr>
          <a:xfrm>
            <a:off x="293131" y="3976743"/>
            <a:ext cx="1340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/>
              <a:t>32×32(3ch)</a:t>
            </a:r>
          </a:p>
        </p:txBody>
      </p:sp>
    </p:spTree>
    <p:extLst>
      <p:ext uri="{BB962C8B-B14F-4D97-AF65-F5344CB8AC3E}">
        <p14:creationId xmlns:p14="http://schemas.microsoft.com/office/powerpoint/2010/main" val="1669505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2939CFCB-FE9E-B79B-3211-8108FE06F6FE}"/>
              </a:ext>
            </a:extLst>
          </p:cNvPr>
          <p:cNvSpPr/>
          <p:nvPr/>
        </p:nvSpPr>
        <p:spPr>
          <a:xfrm>
            <a:off x="747252" y="2873829"/>
            <a:ext cx="2556387" cy="1024932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673113B-438B-2E65-2E65-FB0ECFBCE663}"/>
              </a:ext>
            </a:extLst>
          </p:cNvPr>
          <p:cNvSpPr txBox="1"/>
          <p:nvPr/>
        </p:nvSpPr>
        <p:spPr>
          <a:xfrm>
            <a:off x="1424158" y="320162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z 100</a:t>
            </a:r>
            <a:r>
              <a:rPr lang="ja-JP" altLang="en-US" dirty="0"/>
              <a:t>次元</a:t>
            </a:r>
            <a:endParaRPr lang="en-US" altLang="ja-JP" dirty="0"/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E1F19DC4-98E7-5B31-E5A5-793D648F6A4E}"/>
              </a:ext>
            </a:extLst>
          </p:cNvPr>
          <p:cNvSpPr/>
          <p:nvPr/>
        </p:nvSpPr>
        <p:spPr>
          <a:xfrm>
            <a:off x="3528261" y="3262474"/>
            <a:ext cx="452284" cy="1846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BF4F10E-609E-0D13-F68B-C30328929950}"/>
              </a:ext>
            </a:extLst>
          </p:cNvPr>
          <p:cNvSpPr/>
          <p:nvPr/>
        </p:nvSpPr>
        <p:spPr>
          <a:xfrm>
            <a:off x="4186887" y="2962707"/>
            <a:ext cx="1466662" cy="84717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Generator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938FCA38-7CF5-D327-D3A1-CC6DE430200C}"/>
              </a:ext>
            </a:extLst>
          </p:cNvPr>
          <p:cNvSpPr/>
          <p:nvPr/>
        </p:nvSpPr>
        <p:spPr>
          <a:xfrm>
            <a:off x="5774932" y="3262474"/>
            <a:ext cx="452284" cy="1846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ACDCCD19-1F59-FA8C-6B15-E43EA6C62D1D}"/>
              </a:ext>
            </a:extLst>
          </p:cNvPr>
          <p:cNvSpPr/>
          <p:nvPr/>
        </p:nvSpPr>
        <p:spPr>
          <a:xfrm>
            <a:off x="6348600" y="1710813"/>
            <a:ext cx="4781516" cy="3077497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動物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AAC2A14-0C45-8EF9-196C-8495F3A68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5580" y="3159803"/>
            <a:ext cx="1041370" cy="1044000"/>
          </a:xfrm>
          <a:prstGeom prst="rect">
            <a:avLst/>
          </a:prstGeom>
        </p:spPr>
      </p:pic>
      <p:pic>
        <p:nvPicPr>
          <p:cNvPr id="16" name="図 15" descr="カラフル, 色付け, 挿絵, 立つ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BC432EEC-3668-C01C-5C5C-E0F4F242E9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3690" y="2049693"/>
            <a:ext cx="1023120" cy="1044000"/>
          </a:xfrm>
          <a:prstGeom prst="rect">
            <a:avLst/>
          </a:prstGeom>
        </p:spPr>
      </p:pic>
      <p:pic>
        <p:nvPicPr>
          <p:cNvPr id="18" name="図 17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6C5DA4E-4AC3-F6DB-AA4C-6D8A260D85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5116" y="3159805"/>
            <a:ext cx="1031079" cy="1044000"/>
          </a:xfrm>
          <a:prstGeom prst="rect">
            <a:avLst/>
          </a:prstGeom>
        </p:spPr>
      </p:pic>
      <p:pic>
        <p:nvPicPr>
          <p:cNvPr id="20" name="図 19" descr="挿絵, カラフ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7CCCD054-7B35-93DA-01C7-17A2E62D8A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8048" y="2049693"/>
            <a:ext cx="1044000" cy="1038766"/>
          </a:xfrm>
          <a:prstGeom prst="rect">
            <a:avLst/>
          </a:prstGeom>
        </p:spPr>
      </p:pic>
      <p:pic>
        <p:nvPicPr>
          <p:cNvPr id="22" name="図 21" descr="カラフル, 色付け, 色, 座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F89F924-9D71-899D-9705-DD6114C891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4996" y="3159803"/>
            <a:ext cx="1044000" cy="10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765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E09C-BA39-010C-9C2C-CB9280FF6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737E5B27-A98E-8C4C-9060-70CE53C21B3B}"/>
              </a:ext>
            </a:extLst>
          </p:cNvPr>
          <p:cNvSpPr/>
          <p:nvPr/>
        </p:nvSpPr>
        <p:spPr>
          <a:xfrm>
            <a:off x="775381" y="3560486"/>
            <a:ext cx="2215744" cy="10249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A718B1B1-7AEE-E6D2-4E7B-ECC812700385}"/>
                  </a:ext>
                </a:extLst>
              </p:cNvPr>
              <p:cNvSpPr txBox="1"/>
              <p:nvPr/>
            </p:nvSpPr>
            <p:spPr>
              <a:xfrm>
                <a:off x="861247" y="3785888"/>
                <a:ext cx="212987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𝒛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ja-JP" b="0" dirty="0"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l-GR" altLang="ja-JP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Ν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A718B1B1-7AEE-E6D2-4E7B-ECC812700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247" y="3785888"/>
                <a:ext cx="2129878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矢印: 右 4">
            <a:extLst>
              <a:ext uri="{FF2B5EF4-FFF2-40B4-BE49-F238E27FC236}">
                <a16:creationId xmlns:a16="http://schemas.microsoft.com/office/drawing/2014/main" id="{B7F84761-4306-10F2-C0AD-3D99E7E2B73F}"/>
              </a:ext>
            </a:extLst>
          </p:cNvPr>
          <p:cNvSpPr/>
          <p:nvPr/>
        </p:nvSpPr>
        <p:spPr>
          <a:xfrm>
            <a:off x="4171243" y="3263818"/>
            <a:ext cx="452284" cy="18466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0593CCE-E20E-6070-4795-52A2E0F8FEBD}"/>
              </a:ext>
            </a:extLst>
          </p:cNvPr>
          <p:cNvSpPr/>
          <p:nvPr/>
        </p:nvSpPr>
        <p:spPr>
          <a:xfrm>
            <a:off x="4829869" y="2964051"/>
            <a:ext cx="1466662" cy="8471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Generator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CF3DE486-B8EA-8630-11E8-8913973784DA}"/>
              </a:ext>
            </a:extLst>
          </p:cNvPr>
          <p:cNvSpPr/>
          <p:nvPr/>
        </p:nvSpPr>
        <p:spPr>
          <a:xfrm>
            <a:off x="6417914" y="3263818"/>
            <a:ext cx="452284" cy="18466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EA2A47E9-2668-84F8-9A59-82B38151658B}"/>
              </a:ext>
            </a:extLst>
          </p:cNvPr>
          <p:cNvSpPr/>
          <p:nvPr/>
        </p:nvSpPr>
        <p:spPr>
          <a:xfrm>
            <a:off x="7272835" y="805214"/>
            <a:ext cx="1757218" cy="119953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 descr="QR コード&#10;&#10;AI 生成コンテンツは誤りを含む可能性があります。">
            <a:extLst>
              <a:ext uri="{FF2B5EF4-FFF2-40B4-BE49-F238E27FC236}">
                <a16:creationId xmlns:a16="http://schemas.microsoft.com/office/drawing/2014/main" id="{55A70803-311E-A41A-3BC8-CDE5B84AC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5443" y="903537"/>
            <a:ext cx="972000" cy="984382"/>
          </a:xfrm>
          <a:prstGeom prst="rect">
            <a:avLst/>
          </a:prstGeom>
        </p:spPr>
      </p:pic>
      <p:sp>
        <p:nvSpPr>
          <p:cNvPr id="23" name="楕円 22">
            <a:extLst>
              <a:ext uri="{FF2B5EF4-FFF2-40B4-BE49-F238E27FC236}">
                <a16:creationId xmlns:a16="http://schemas.microsoft.com/office/drawing/2014/main" id="{EBFD026F-D2A5-A113-3797-C8EB12C85B2F}"/>
              </a:ext>
            </a:extLst>
          </p:cNvPr>
          <p:cNvSpPr/>
          <p:nvPr/>
        </p:nvSpPr>
        <p:spPr>
          <a:xfrm>
            <a:off x="6796682" y="2061829"/>
            <a:ext cx="1757219" cy="1199536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E77D5DD3-4356-C4CF-2384-F1A8A852D248}"/>
              </a:ext>
            </a:extLst>
          </p:cNvPr>
          <p:cNvSpPr/>
          <p:nvPr/>
        </p:nvSpPr>
        <p:spPr>
          <a:xfrm>
            <a:off x="9030053" y="2061829"/>
            <a:ext cx="1757219" cy="119953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 descr="色付け, 座る, 手, カラフ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BB256B3-64A6-6A1E-514C-1F9780AD1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2662" y="2195314"/>
            <a:ext cx="972000" cy="981994"/>
          </a:xfrm>
          <a:prstGeom prst="rect">
            <a:avLst/>
          </a:prstGeom>
        </p:spPr>
      </p:pic>
      <p:pic>
        <p:nvPicPr>
          <p:cNvPr id="17" name="図 16" descr="タイル張り, 立つ, 座る, 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C837A7AD-E5EC-085F-50D4-DD6A7655A5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158" y="2172155"/>
            <a:ext cx="972000" cy="969552"/>
          </a:xfrm>
          <a:prstGeom prst="rect">
            <a:avLst/>
          </a:prstGeom>
        </p:spPr>
      </p:pic>
      <p:sp>
        <p:nvSpPr>
          <p:cNvPr id="25" name="楕円 24">
            <a:extLst>
              <a:ext uri="{FF2B5EF4-FFF2-40B4-BE49-F238E27FC236}">
                <a16:creationId xmlns:a16="http://schemas.microsoft.com/office/drawing/2014/main" id="{7BC1C505-37C5-C4B9-317B-9CE6503B84A9}"/>
              </a:ext>
            </a:extLst>
          </p:cNvPr>
          <p:cNvSpPr/>
          <p:nvPr/>
        </p:nvSpPr>
        <p:spPr>
          <a:xfrm>
            <a:off x="2428009" y="2152376"/>
            <a:ext cx="1567722" cy="1024932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楕円 25">
            <a:extLst>
              <a:ext uri="{FF2B5EF4-FFF2-40B4-BE49-F238E27FC236}">
                <a16:creationId xmlns:a16="http://schemas.microsoft.com/office/drawing/2014/main" id="{11F8A2DF-7A86-F045-84CE-19D538DA32E7}"/>
              </a:ext>
            </a:extLst>
          </p:cNvPr>
          <p:cNvSpPr/>
          <p:nvPr/>
        </p:nvSpPr>
        <p:spPr>
          <a:xfrm>
            <a:off x="472516" y="2131568"/>
            <a:ext cx="1501318" cy="102493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A1ECEE2A-20E6-D040-4370-5AB8B99967C9}"/>
                  </a:ext>
                </a:extLst>
              </p:cNvPr>
              <p:cNvSpPr txBox="1"/>
              <p:nvPr/>
            </p:nvSpPr>
            <p:spPr>
              <a:xfrm>
                <a:off x="2769338" y="2443317"/>
                <a:ext cx="1003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A1ECEE2A-20E6-D040-4370-5AB8B9996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9338" y="2443317"/>
                <a:ext cx="100367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AC2B69D4-2D0A-23C2-9140-846E767CAAE6}"/>
                  </a:ext>
                </a:extLst>
              </p:cNvPr>
              <p:cNvSpPr txBox="1"/>
              <p:nvPr/>
            </p:nvSpPr>
            <p:spPr>
              <a:xfrm>
                <a:off x="767075" y="2424695"/>
                <a:ext cx="1003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AC2B69D4-2D0A-23C2-9140-846E767CA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75" y="2424695"/>
                <a:ext cx="100367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矢印: 右 28">
            <a:extLst>
              <a:ext uri="{FF2B5EF4-FFF2-40B4-BE49-F238E27FC236}">
                <a16:creationId xmlns:a16="http://schemas.microsoft.com/office/drawing/2014/main" id="{957C2CB7-D9CE-CB3F-5CAD-3707863D70F8}"/>
              </a:ext>
            </a:extLst>
          </p:cNvPr>
          <p:cNvSpPr/>
          <p:nvPr/>
        </p:nvSpPr>
        <p:spPr>
          <a:xfrm rot="19019614">
            <a:off x="2154642" y="3246217"/>
            <a:ext cx="853556" cy="158584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矢印: 右 29">
            <a:extLst>
              <a:ext uri="{FF2B5EF4-FFF2-40B4-BE49-F238E27FC236}">
                <a16:creationId xmlns:a16="http://schemas.microsoft.com/office/drawing/2014/main" id="{8A387668-8226-BF5B-A02B-170ACA068116}"/>
              </a:ext>
            </a:extLst>
          </p:cNvPr>
          <p:cNvSpPr/>
          <p:nvPr/>
        </p:nvSpPr>
        <p:spPr>
          <a:xfrm rot="14995609">
            <a:off x="1088301" y="3191000"/>
            <a:ext cx="707424" cy="128811"/>
          </a:xfrm>
          <a:prstGeom prst="rightArrow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9EE53EE1-4F1D-D1C5-A9AC-0A830BE38474}"/>
                  </a:ext>
                </a:extLst>
              </p:cNvPr>
              <p:cNvSpPr txBox="1"/>
              <p:nvPr/>
            </p:nvSpPr>
            <p:spPr>
              <a:xfrm>
                <a:off x="2592443" y="3277001"/>
                <a:ext cx="49879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9EE53EE1-4F1D-D1C5-A9AC-0A830BE384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2443" y="3277001"/>
                <a:ext cx="498791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A71E1DC3-914E-38D1-C12D-7557C564FFA4}"/>
                  </a:ext>
                </a:extLst>
              </p:cNvPr>
              <p:cNvSpPr txBox="1"/>
              <p:nvPr/>
            </p:nvSpPr>
            <p:spPr>
              <a:xfrm>
                <a:off x="988083" y="3132339"/>
                <a:ext cx="4987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A71E1DC3-914E-38D1-C12D-7557C564FF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083" y="3132339"/>
                <a:ext cx="49879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矢印: 右 32">
            <a:extLst>
              <a:ext uri="{FF2B5EF4-FFF2-40B4-BE49-F238E27FC236}">
                <a16:creationId xmlns:a16="http://schemas.microsoft.com/office/drawing/2014/main" id="{846AB82D-C6D8-9C86-3582-6D922B27196F}"/>
              </a:ext>
            </a:extLst>
          </p:cNvPr>
          <p:cNvSpPr/>
          <p:nvPr/>
        </p:nvSpPr>
        <p:spPr>
          <a:xfrm rot="19019614">
            <a:off x="10035197" y="5148758"/>
            <a:ext cx="853556" cy="158584"/>
          </a:xfrm>
          <a:prstGeom prst="right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4811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75FB2-B800-5B93-5BF1-2C7468D69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FEE2AEDD-89A1-1887-BB95-57E2424B1970}"/>
              </a:ext>
            </a:extLst>
          </p:cNvPr>
          <p:cNvSpPr/>
          <p:nvPr/>
        </p:nvSpPr>
        <p:spPr>
          <a:xfrm>
            <a:off x="974923" y="602683"/>
            <a:ext cx="2215744" cy="10249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9ADD4788-BF1A-0912-6AB4-2115A5E16E43}"/>
                  </a:ext>
                </a:extLst>
              </p:cNvPr>
              <p:cNvSpPr txBox="1"/>
              <p:nvPr/>
            </p:nvSpPr>
            <p:spPr>
              <a:xfrm>
                <a:off x="1053636" y="821305"/>
                <a:ext cx="212987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𝒛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ja-JP" b="0" dirty="0"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l-GR" altLang="ja-JP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Ν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9ADD4788-BF1A-0912-6AB4-2115A5E16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636" y="821305"/>
                <a:ext cx="2129878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楕円 7">
            <a:extLst>
              <a:ext uri="{FF2B5EF4-FFF2-40B4-BE49-F238E27FC236}">
                <a16:creationId xmlns:a16="http://schemas.microsoft.com/office/drawing/2014/main" id="{6C8D5AC4-FFAF-7857-B60B-840DC75562E7}"/>
              </a:ext>
            </a:extLst>
          </p:cNvPr>
          <p:cNvSpPr/>
          <p:nvPr/>
        </p:nvSpPr>
        <p:spPr>
          <a:xfrm>
            <a:off x="7205158" y="488435"/>
            <a:ext cx="1757218" cy="119953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 descr="QR コード&#10;&#10;AI 生成コンテンツは誤りを含む可能性があります。">
            <a:extLst>
              <a:ext uri="{FF2B5EF4-FFF2-40B4-BE49-F238E27FC236}">
                <a16:creationId xmlns:a16="http://schemas.microsoft.com/office/drawing/2014/main" id="{86DF506F-6BA3-106A-6FAB-0B13B32F8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766" y="586758"/>
            <a:ext cx="972000" cy="984382"/>
          </a:xfrm>
          <a:prstGeom prst="rect">
            <a:avLst/>
          </a:prstGeom>
        </p:spPr>
      </p:pic>
      <p:sp>
        <p:nvSpPr>
          <p:cNvPr id="23" name="楕円 22">
            <a:extLst>
              <a:ext uri="{FF2B5EF4-FFF2-40B4-BE49-F238E27FC236}">
                <a16:creationId xmlns:a16="http://schemas.microsoft.com/office/drawing/2014/main" id="{9A559635-9A94-5D7B-62F7-FB57944F87DC}"/>
              </a:ext>
            </a:extLst>
          </p:cNvPr>
          <p:cNvSpPr/>
          <p:nvPr/>
        </p:nvSpPr>
        <p:spPr>
          <a:xfrm>
            <a:off x="7272834" y="1816678"/>
            <a:ext cx="1757219" cy="119953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C6A9D6B9-B0F6-1F02-EBBF-08A1CC749CBD}"/>
              </a:ext>
            </a:extLst>
          </p:cNvPr>
          <p:cNvSpPr/>
          <p:nvPr/>
        </p:nvSpPr>
        <p:spPr>
          <a:xfrm>
            <a:off x="7317352" y="3100802"/>
            <a:ext cx="1757219" cy="1199536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 descr="色付け, 座る, 手, カラフ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0E677CD7-B788-C5C6-78CD-4C46500710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553" y="1957683"/>
            <a:ext cx="972000" cy="981994"/>
          </a:xfrm>
          <a:prstGeom prst="rect">
            <a:avLst/>
          </a:prstGeom>
        </p:spPr>
      </p:pic>
      <p:pic>
        <p:nvPicPr>
          <p:cNvPr id="17" name="図 16" descr="タイル張り, 立つ, 座る, 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523DCB5A-0BB5-A2DF-3DCD-D6B1DC057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553" y="3207705"/>
            <a:ext cx="972000" cy="969552"/>
          </a:xfrm>
          <a:prstGeom prst="rect">
            <a:avLst/>
          </a:prstGeom>
        </p:spPr>
      </p:pic>
      <p:sp>
        <p:nvSpPr>
          <p:cNvPr id="26" name="楕円 25">
            <a:extLst>
              <a:ext uri="{FF2B5EF4-FFF2-40B4-BE49-F238E27FC236}">
                <a16:creationId xmlns:a16="http://schemas.microsoft.com/office/drawing/2014/main" id="{E39CD5CA-8CFE-E3D0-BACF-DFF633222747}"/>
              </a:ext>
            </a:extLst>
          </p:cNvPr>
          <p:cNvSpPr/>
          <p:nvPr/>
        </p:nvSpPr>
        <p:spPr>
          <a:xfrm>
            <a:off x="967770" y="1899529"/>
            <a:ext cx="2215744" cy="1024932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3E32DBF2-9350-8C78-5E47-A59163ED3D87}"/>
                  </a:ext>
                </a:extLst>
              </p:cNvPr>
              <p:cNvSpPr txBox="1"/>
              <p:nvPr/>
            </p:nvSpPr>
            <p:spPr>
              <a:xfrm>
                <a:off x="1365157" y="2192656"/>
                <a:ext cx="14812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𝒛</m:t>
                      </m:r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3E32DBF2-9350-8C78-5E47-A59163ED3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157" y="2192656"/>
                <a:ext cx="148128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矢印: 右 8">
            <a:extLst>
              <a:ext uri="{FF2B5EF4-FFF2-40B4-BE49-F238E27FC236}">
                <a16:creationId xmlns:a16="http://schemas.microsoft.com/office/drawing/2014/main" id="{2C614882-6EB6-139C-CFF1-4CCC971AC4CF}"/>
              </a:ext>
            </a:extLst>
          </p:cNvPr>
          <p:cNvSpPr/>
          <p:nvPr/>
        </p:nvSpPr>
        <p:spPr>
          <a:xfrm>
            <a:off x="3293218" y="2266347"/>
            <a:ext cx="932077" cy="184666"/>
          </a:xfrm>
          <a:prstGeom prst="rightArrow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9AD6FD6-789D-DB7A-6FE5-9DE03576D982}"/>
              </a:ext>
            </a:extLst>
          </p:cNvPr>
          <p:cNvSpPr/>
          <p:nvPr/>
        </p:nvSpPr>
        <p:spPr>
          <a:xfrm>
            <a:off x="4494843" y="1927004"/>
            <a:ext cx="1466662" cy="8471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Generator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223A2A4-19E6-E7C3-102B-377B826889EB}"/>
              </a:ext>
            </a:extLst>
          </p:cNvPr>
          <p:cNvSpPr/>
          <p:nvPr/>
        </p:nvSpPr>
        <p:spPr>
          <a:xfrm>
            <a:off x="6096000" y="2266347"/>
            <a:ext cx="1067130" cy="184666"/>
          </a:xfrm>
          <a:prstGeom prst="rightArrow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D0DBFA76-7B0F-57E8-C10D-0CC36E3E0339}"/>
              </a:ext>
            </a:extLst>
          </p:cNvPr>
          <p:cNvSpPr/>
          <p:nvPr/>
        </p:nvSpPr>
        <p:spPr>
          <a:xfrm>
            <a:off x="1013483" y="3099933"/>
            <a:ext cx="2215744" cy="102493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A56CEAD9-D7CA-2364-4D05-28332478161E}"/>
                  </a:ext>
                </a:extLst>
              </p:cNvPr>
              <p:cNvSpPr txBox="1"/>
              <p:nvPr/>
            </p:nvSpPr>
            <p:spPr>
              <a:xfrm>
                <a:off x="1410870" y="3393060"/>
                <a:ext cx="14812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𝒛</m:t>
                      </m:r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A56CEAD9-D7CA-2364-4D05-283324781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0870" y="3393060"/>
                <a:ext cx="148128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FC0D670-C211-99A0-F397-7A6FBAA8866A}"/>
              </a:ext>
            </a:extLst>
          </p:cNvPr>
          <p:cNvSpPr txBox="1"/>
          <p:nvPr/>
        </p:nvSpPr>
        <p:spPr>
          <a:xfrm>
            <a:off x="9030053" y="894283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R</a:t>
            </a:r>
            <a:r>
              <a:rPr kumimoji="1" lang="ja-JP" altLang="en-US" dirty="0"/>
              <a:t>画像空間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1646665-635E-3B27-EE10-8223FD4F88FF}"/>
              </a:ext>
            </a:extLst>
          </p:cNvPr>
          <p:cNvSpPr txBox="1"/>
          <p:nvPr/>
        </p:nvSpPr>
        <p:spPr>
          <a:xfrm>
            <a:off x="9030053" y="2227329"/>
            <a:ext cx="1276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G</a:t>
            </a:r>
            <a:r>
              <a:rPr kumimoji="1" lang="ja-JP" altLang="en-US" dirty="0"/>
              <a:t>画像空間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8DC250D-3984-5029-CB89-B797934732B2}"/>
              </a:ext>
            </a:extLst>
          </p:cNvPr>
          <p:cNvSpPr txBox="1"/>
          <p:nvPr/>
        </p:nvSpPr>
        <p:spPr>
          <a:xfrm>
            <a:off x="9076597" y="3507815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</a:t>
            </a:r>
            <a:r>
              <a:rPr kumimoji="1" lang="ja-JP" altLang="en-US" dirty="0"/>
              <a:t>画像空間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7865E3-B86B-D786-F33B-4F36FDC10AFD}"/>
              </a:ext>
            </a:extLst>
          </p:cNvPr>
          <p:cNvSpPr txBox="1"/>
          <p:nvPr/>
        </p:nvSpPr>
        <p:spPr>
          <a:xfrm>
            <a:off x="546932" y="4300338"/>
            <a:ext cx="3570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ランダムノイズ</a:t>
            </a:r>
            <a:r>
              <a:rPr kumimoji="1" lang="ja-JP" altLang="en-US" dirty="0"/>
              <a:t>空間（</a:t>
            </a:r>
            <a:r>
              <a:rPr kumimoji="1" lang="en-US" altLang="ja-JP" dirty="0"/>
              <a:t>100</a:t>
            </a:r>
            <a:r>
              <a:rPr kumimoji="1" lang="ja-JP" altLang="en-US" dirty="0"/>
              <a:t>次元）</a:t>
            </a:r>
          </a:p>
        </p:txBody>
      </p:sp>
      <p:sp>
        <p:nvSpPr>
          <p:cNvPr id="35" name="矢印: 右 34">
            <a:extLst>
              <a:ext uri="{FF2B5EF4-FFF2-40B4-BE49-F238E27FC236}">
                <a16:creationId xmlns:a16="http://schemas.microsoft.com/office/drawing/2014/main" id="{A9BCD1A2-3F48-9B13-E933-E59F48EBC1F3}"/>
              </a:ext>
            </a:extLst>
          </p:cNvPr>
          <p:cNvSpPr/>
          <p:nvPr/>
        </p:nvSpPr>
        <p:spPr>
          <a:xfrm rot="1195983">
            <a:off x="3238034" y="1508803"/>
            <a:ext cx="1137100" cy="16558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矢印: 右 35">
            <a:extLst>
              <a:ext uri="{FF2B5EF4-FFF2-40B4-BE49-F238E27FC236}">
                <a16:creationId xmlns:a16="http://schemas.microsoft.com/office/drawing/2014/main" id="{433EEBF9-2C0A-0A9B-60CD-8EE1AB5D0670}"/>
              </a:ext>
            </a:extLst>
          </p:cNvPr>
          <p:cNvSpPr/>
          <p:nvPr/>
        </p:nvSpPr>
        <p:spPr>
          <a:xfrm rot="20013872">
            <a:off x="6048620" y="1564386"/>
            <a:ext cx="1137100" cy="16558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矢印: 右 36">
            <a:extLst>
              <a:ext uri="{FF2B5EF4-FFF2-40B4-BE49-F238E27FC236}">
                <a16:creationId xmlns:a16="http://schemas.microsoft.com/office/drawing/2014/main" id="{303DE2C5-5A47-2ABB-AB07-290E0560271D}"/>
              </a:ext>
            </a:extLst>
          </p:cNvPr>
          <p:cNvSpPr/>
          <p:nvPr/>
        </p:nvSpPr>
        <p:spPr>
          <a:xfrm rot="20116904">
            <a:off x="3205634" y="2996639"/>
            <a:ext cx="1152569" cy="200572"/>
          </a:xfrm>
          <a:prstGeom prst="rightArrow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BB80D08A-E12A-0FCF-AB1A-E78A9DEDDBC8}"/>
              </a:ext>
            </a:extLst>
          </p:cNvPr>
          <p:cNvSpPr/>
          <p:nvPr/>
        </p:nvSpPr>
        <p:spPr>
          <a:xfrm rot="1429802">
            <a:off x="6008800" y="3038296"/>
            <a:ext cx="1152569" cy="200572"/>
          </a:xfrm>
          <a:prstGeom prst="rightArrow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6906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690C58D-53AB-4BAC-C6D7-789B3B0F78F8}"/>
              </a:ext>
            </a:extLst>
          </p:cNvPr>
          <p:cNvSpPr/>
          <p:nvPr/>
        </p:nvSpPr>
        <p:spPr>
          <a:xfrm>
            <a:off x="1877960" y="1950421"/>
            <a:ext cx="6292645" cy="305419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BF62058-6CF7-5E8B-6152-735374F6C4B4}"/>
              </a:ext>
            </a:extLst>
          </p:cNvPr>
          <p:cNvSpPr/>
          <p:nvPr/>
        </p:nvSpPr>
        <p:spPr>
          <a:xfrm>
            <a:off x="4022403" y="3690509"/>
            <a:ext cx="1748641" cy="8471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Generator</a:t>
            </a:r>
            <a:r>
              <a:rPr lang="ja-JP" altLang="en-US" dirty="0">
                <a:solidFill>
                  <a:schemeClr val="tx1"/>
                </a:solidFill>
              </a:rPr>
              <a:t>回路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pic>
        <p:nvPicPr>
          <p:cNvPr id="5" name="グラフィックス 4" descr="男性 単色塗りつぶし">
            <a:extLst>
              <a:ext uri="{FF2B5EF4-FFF2-40B4-BE49-F238E27FC236}">
                <a16:creationId xmlns:a16="http://schemas.microsoft.com/office/drawing/2014/main" id="{1AF55AD2-9E40-23FB-E79C-AC9CF75D5E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5821" y="599074"/>
            <a:ext cx="914400" cy="914400"/>
          </a:xfrm>
          <a:prstGeom prst="rect">
            <a:avLst/>
          </a:prstGeom>
        </p:spPr>
      </p:pic>
      <p:sp>
        <p:nvSpPr>
          <p:cNvPr id="6" name="吹き出し: 角を丸めた四角形 5">
            <a:extLst>
              <a:ext uri="{FF2B5EF4-FFF2-40B4-BE49-F238E27FC236}">
                <a16:creationId xmlns:a16="http://schemas.microsoft.com/office/drawing/2014/main" id="{44654867-20C8-4066-55C2-4F425658BFAE}"/>
              </a:ext>
            </a:extLst>
          </p:cNvPr>
          <p:cNvSpPr/>
          <p:nvPr/>
        </p:nvSpPr>
        <p:spPr>
          <a:xfrm>
            <a:off x="2261418" y="679308"/>
            <a:ext cx="2635306" cy="736537"/>
          </a:xfrm>
          <a:prstGeom prst="wedgeRoundRectCallout">
            <a:avLst>
              <a:gd name="adj1" fmla="val -63281"/>
              <a:gd name="adj2" fmla="val -18701"/>
              <a:gd name="adj3" fmla="val 16667"/>
            </a:avLst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55DFD536-0464-0828-4AA5-6AFC54F29EFC}"/>
                  </a:ext>
                </a:extLst>
              </p:cNvPr>
              <p:cNvSpPr txBox="1"/>
              <p:nvPr/>
            </p:nvSpPr>
            <p:spPr>
              <a:xfrm>
                <a:off x="2208402" y="638543"/>
                <a:ext cx="282237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endParaRPr lang="en-US" altLang="ja-JP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ja-JP" altLang="en-US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任意</m:t>
                      </m:r>
                      <m:r>
                        <a:rPr lang="ja-JP" altLang="en-US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の</m:t>
                      </m:r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𝒛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ja-JP" b="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55DFD536-0464-0828-4AA5-6AFC54F29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8402" y="638543"/>
                <a:ext cx="2822376" cy="646331"/>
              </a:xfrm>
              <a:prstGeom prst="rect">
                <a:avLst/>
              </a:prstGeom>
              <a:blipFill>
                <a:blip r:embed="rId4"/>
                <a:stretch>
                  <a:fillRect l="-216" b="-47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09ADE88F-C4DD-B47E-0F0D-233FCBDE8EBA}"/>
                  </a:ext>
                </a:extLst>
              </p:cNvPr>
              <p:cNvSpPr txBox="1"/>
              <p:nvPr/>
            </p:nvSpPr>
            <p:spPr>
              <a:xfrm>
                <a:off x="4455513" y="2081392"/>
                <a:ext cx="3633020" cy="9233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r>
                  <a:rPr lang="ja-JP" altLang="en-US" b="1" u="sng" dirty="0">
                    <a:ea typeface="Cambria Math" panose="02040503050406030204" pitchFamily="18" charset="0"/>
                  </a:rPr>
                  <a:t>実装する値</a:t>
                </a:r>
                <a:endParaRPr lang="en-US" altLang="ja-JP" b="1" u="sng" dirty="0">
                  <a:ea typeface="Cambria Math" panose="02040503050406030204" pitchFamily="18" charset="0"/>
                </a:endParaRPr>
              </a:p>
              <a:p>
                <a:r>
                  <a:rPr lang="ja-JP" altLang="en-US" b="1" dirty="0">
                    <a:ea typeface="Cambria Math" panose="02040503050406030204" pitchFamily="18" charset="0"/>
                  </a:rPr>
                  <a:t>学習時の固定ベクトル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ja-JP" altLang="en-US" dirty="0"/>
                  <a:t>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altLang="ja-JP" dirty="0"/>
              </a:p>
              <a:p>
                <a:r>
                  <a:rPr lang="ja-JP" altLang="en-US" b="1" dirty="0">
                    <a:ea typeface="Cambria Math" panose="02040503050406030204" pitchFamily="18" charset="0"/>
                  </a:rPr>
                  <a:t>学習時の</a:t>
                </a:r>
                <a:r>
                  <a:rPr lang="en-US" altLang="ja-JP" b="1" dirty="0">
                    <a:ea typeface="Cambria Math" panose="02040503050406030204" pitchFamily="18" charset="0"/>
                  </a:rPr>
                  <a:t>Generator</a:t>
                </a:r>
                <a:r>
                  <a:rPr lang="ja-JP" altLang="en-US" b="1" dirty="0">
                    <a:ea typeface="Cambria Math" panose="02040503050406030204" pitchFamily="18" charset="0"/>
                  </a:rPr>
                  <a:t>のパラメータ</a:t>
                </a:r>
                <a:endParaRPr lang="ja-JP" altLang="en-US"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09ADE88F-C4DD-B47E-0F0D-233FCBDE8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513" y="2081392"/>
                <a:ext cx="3633020" cy="923330"/>
              </a:xfrm>
              <a:prstGeom prst="rect">
                <a:avLst/>
              </a:prstGeom>
              <a:blipFill>
                <a:blip r:embed="rId5"/>
                <a:stretch>
                  <a:fillRect l="-1510" t="-5921" r="-1007" b="-921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3560EC93-9393-2F2D-455B-4B49956C8686}"/>
              </a:ext>
            </a:extLst>
          </p:cNvPr>
          <p:cNvCxnSpPr>
            <a:cxnSpLocks/>
          </p:cNvCxnSpPr>
          <p:nvPr/>
        </p:nvCxnSpPr>
        <p:spPr>
          <a:xfrm>
            <a:off x="3396324" y="1415845"/>
            <a:ext cx="0" cy="1191573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A6CCE28-87EB-FD84-D5FC-3122F0E84E22}"/>
              </a:ext>
            </a:extLst>
          </p:cNvPr>
          <p:cNvSpPr txBox="1"/>
          <p:nvPr/>
        </p:nvSpPr>
        <p:spPr>
          <a:xfrm>
            <a:off x="3469039" y="154180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入力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00B48CB-04FE-0675-E53A-4A632A14C3A4}"/>
              </a:ext>
            </a:extLst>
          </p:cNvPr>
          <p:cNvSpPr txBox="1"/>
          <p:nvPr/>
        </p:nvSpPr>
        <p:spPr>
          <a:xfrm>
            <a:off x="2060221" y="3648001"/>
            <a:ext cx="1620957" cy="9233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①</a:t>
            </a:r>
            <a:r>
              <a:rPr kumimoji="1" lang="en-US" altLang="ja-JP" dirty="0"/>
              <a:t>z</a:t>
            </a:r>
            <a:r>
              <a:rPr kumimoji="1" lang="ja-JP" altLang="en-US" dirty="0"/>
              <a:t>を入力</a:t>
            </a:r>
            <a:endParaRPr kumimoji="1" lang="en-US" altLang="ja-JP" dirty="0"/>
          </a:p>
          <a:p>
            <a:r>
              <a:rPr lang="ja-JP" altLang="en-US" dirty="0"/>
              <a:t>②</a:t>
            </a:r>
            <a:r>
              <a:rPr lang="en-US" altLang="ja-JP" dirty="0"/>
              <a:t>z+v1</a:t>
            </a:r>
            <a:r>
              <a:rPr lang="ja-JP" altLang="en-US" dirty="0"/>
              <a:t>を入力</a:t>
            </a:r>
            <a:endParaRPr lang="en-US" altLang="ja-JP" dirty="0"/>
          </a:p>
          <a:p>
            <a:r>
              <a:rPr kumimoji="1" lang="ja-JP" altLang="en-US" dirty="0"/>
              <a:t>③</a:t>
            </a:r>
            <a:r>
              <a:rPr kumimoji="1" lang="en-US" altLang="ja-JP" dirty="0"/>
              <a:t>z+v2</a:t>
            </a:r>
            <a:r>
              <a:rPr kumimoji="1" lang="ja-JP" altLang="en-US" dirty="0"/>
              <a:t>を入力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C07D0947-F1C8-8616-5C6E-7FC15FAFB8DD}"/>
                  </a:ext>
                </a:extLst>
              </p:cNvPr>
              <p:cNvSpPr txBox="1"/>
              <p:nvPr/>
            </p:nvSpPr>
            <p:spPr>
              <a:xfrm>
                <a:off x="2060221" y="2577243"/>
                <a:ext cx="2127864" cy="64633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𝒛</m:t>
                        </m:r>
                        <m:r>
                          <a:rPr lang="ja-JP" alt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、</m:t>
                        </m:r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𝒛</m:t>
                        </m:r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ja-JP" altLang="en-US" dirty="0"/>
                  <a:t>、</a:t>
                </a:r>
                <a14:m>
                  <m:oMath xmlns:m="http://schemas.openxmlformats.org/officeDocument/2006/math">
                    <m:r>
                      <a:rPr lang="en-US" altLang="ja-JP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𝒛</m:t>
                    </m:r>
                    <m:r>
                      <a:rPr lang="en-US" altLang="ja-JP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altLang="ja-JP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endParaRPr lang="en-US" altLang="ja-JP" dirty="0"/>
              </a:p>
              <a:p>
                <a:pPr algn="ctr"/>
                <a:r>
                  <a:rPr lang="ja-JP" altLang="en-US" dirty="0"/>
                  <a:t>の生成</a:t>
                </a:r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C07D0947-F1C8-8616-5C6E-7FC15FAFB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0221" y="2577243"/>
                <a:ext cx="2127864" cy="646331"/>
              </a:xfrm>
              <a:prstGeom prst="rect">
                <a:avLst/>
              </a:prstGeom>
              <a:blipFill>
                <a:blip r:embed="rId6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23F2862-EC85-610B-0D62-AA900924E306}"/>
              </a:ext>
            </a:extLst>
          </p:cNvPr>
          <p:cNvSpPr txBox="1"/>
          <p:nvPr/>
        </p:nvSpPr>
        <p:spPr>
          <a:xfrm>
            <a:off x="1877960" y="1961087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FPGA</a:t>
            </a:r>
            <a:r>
              <a:rPr lang="ja-JP" altLang="en-US" b="1" dirty="0"/>
              <a:t>ボード</a:t>
            </a:r>
            <a:endParaRPr kumimoji="1" lang="ja-JP" altLang="en-US" b="1" dirty="0"/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A62DEF3F-FD09-4098-8E0F-792597141E90}"/>
              </a:ext>
            </a:extLst>
          </p:cNvPr>
          <p:cNvCxnSpPr>
            <a:endCxn id="13" idx="0"/>
          </p:cNvCxnSpPr>
          <p:nvPr/>
        </p:nvCxnSpPr>
        <p:spPr>
          <a:xfrm>
            <a:off x="2870699" y="3223574"/>
            <a:ext cx="1" cy="4244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CE0FF4B-FFEB-EA45-F838-832200F2297E}"/>
              </a:ext>
            </a:extLst>
          </p:cNvPr>
          <p:cNvCxnSpPr>
            <a:cxnSpLocks/>
          </p:cNvCxnSpPr>
          <p:nvPr/>
        </p:nvCxnSpPr>
        <p:spPr>
          <a:xfrm>
            <a:off x="3681178" y="3839730"/>
            <a:ext cx="3221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18F7C9A1-A46E-CB01-6B19-22067513B822}"/>
              </a:ext>
            </a:extLst>
          </p:cNvPr>
          <p:cNvCxnSpPr>
            <a:cxnSpLocks/>
          </p:cNvCxnSpPr>
          <p:nvPr/>
        </p:nvCxnSpPr>
        <p:spPr>
          <a:xfrm>
            <a:off x="3681178" y="4112152"/>
            <a:ext cx="322100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4A35F3B8-2102-6A40-833C-A8FD0B5EFFC8}"/>
              </a:ext>
            </a:extLst>
          </p:cNvPr>
          <p:cNvCxnSpPr>
            <a:cxnSpLocks/>
          </p:cNvCxnSpPr>
          <p:nvPr/>
        </p:nvCxnSpPr>
        <p:spPr>
          <a:xfrm>
            <a:off x="3681178" y="4380053"/>
            <a:ext cx="322100" cy="0"/>
          </a:xfrm>
          <a:prstGeom prst="straightConnector1">
            <a:avLst/>
          </a:prstGeom>
          <a:ln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CA9C021-6B78-62CB-56D5-731BD3AB5A01}"/>
              </a:ext>
            </a:extLst>
          </p:cNvPr>
          <p:cNvSpPr txBox="1"/>
          <p:nvPr/>
        </p:nvSpPr>
        <p:spPr>
          <a:xfrm>
            <a:off x="6112269" y="3648001"/>
            <a:ext cx="1045479" cy="92333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①</a:t>
            </a:r>
            <a:r>
              <a:rPr lang="en-US" altLang="ja-JP" dirty="0"/>
              <a:t>R</a:t>
            </a:r>
            <a:r>
              <a:rPr lang="ja-JP" altLang="en-US" dirty="0"/>
              <a:t>画像</a:t>
            </a:r>
            <a:endParaRPr kumimoji="1" lang="en-US" altLang="ja-JP" dirty="0"/>
          </a:p>
          <a:p>
            <a:r>
              <a:rPr lang="ja-JP" altLang="en-US" dirty="0"/>
              <a:t>②</a:t>
            </a:r>
            <a:r>
              <a:rPr lang="en-US" altLang="ja-JP" dirty="0"/>
              <a:t>G</a:t>
            </a:r>
            <a:r>
              <a:rPr lang="ja-JP" altLang="en-US" dirty="0"/>
              <a:t>画像</a:t>
            </a:r>
            <a:endParaRPr lang="en-US" altLang="ja-JP" dirty="0"/>
          </a:p>
          <a:p>
            <a:r>
              <a:rPr kumimoji="1" lang="ja-JP" altLang="en-US" dirty="0"/>
              <a:t>③</a:t>
            </a:r>
            <a:r>
              <a:rPr lang="en-US" altLang="ja-JP" dirty="0"/>
              <a:t>B</a:t>
            </a:r>
            <a:r>
              <a:rPr lang="ja-JP" altLang="en-US" dirty="0"/>
              <a:t>画像</a:t>
            </a:r>
            <a:endParaRPr kumimoji="1" lang="ja-JP" altLang="en-US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09AB27E-5D99-7003-8E76-77F184AB0EC8}"/>
              </a:ext>
            </a:extLst>
          </p:cNvPr>
          <p:cNvCxnSpPr>
            <a:cxnSpLocks/>
          </p:cNvCxnSpPr>
          <p:nvPr/>
        </p:nvCxnSpPr>
        <p:spPr>
          <a:xfrm>
            <a:off x="5771044" y="3839730"/>
            <a:ext cx="3221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AB05B287-54F6-0639-813B-215E7F0ADF06}"/>
              </a:ext>
            </a:extLst>
          </p:cNvPr>
          <p:cNvCxnSpPr>
            <a:cxnSpLocks/>
          </p:cNvCxnSpPr>
          <p:nvPr/>
        </p:nvCxnSpPr>
        <p:spPr>
          <a:xfrm>
            <a:off x="5771044" y="4109666"/>
            <a:ext cx="322100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C6E2B04E-FE39-16CD-D3BB-774B25B4A4B1}"/>
              </a:ext>
            </a:extLst>
          </p:cNvPr>
          <p:cNvCxnSpPr>
            <a:cxnSpLocks/>
          </p:cNvCxnSpPr>
          <p:nvPr/>
        </p:nvCxnSpPr>
        <p:spPr>
          <a:xfrm>
            <a:off x="5771044" y="4380053"/>
            <a:ext cx="322100" cy="0"/>
          </a:xfrm>
          <a:prstGeom prst="straightConnector1">
            <a:avLst/>
          </a:prstGeom>
          <a:ln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70F8128A-E128-ED65-EDC0-73CE9EF7DA4A}"/>
              </a:ext>
            </a:extLst>
          </p:cNvPr>
          <p:cNvCxnSpPr>
            <a:cxnSpLocks/>
          </p:cNvCxnSpPr>
          <p:nvPr/>
        </p:nvCxnSpPr>
        <p:spPr>
          <a:xfrm>
            <a:off x="7157748" y="4109666"/>
            <a:ext cx="130350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図 31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91440B3-2FD9-D47F-321C-CAC9DFF03A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1830" y="3538773"/>
            <a:ext cx="1031079" cy="1044000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94D7DF1-46F0-4AFE-F050-A9615129BBEC}"/>
              </a:ext>
            </a:extLst>
          </p:cNvPr>
          <p:cNvSpPr txBox="1"/>
          <p:nvPr/>
        </p:nvSpPr>
        <p:spPr>
          <a:xfrm>
            <a:off x="8322689" y="4568280"/>
            <a:ext cx="14093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b="1" dirty="0"/>
              <a:t>RGB</a:t>
            </a:r>
            <a:r>
              <a:rPr lang="ja-JP" altLang="en-US" b="1" dirty="0"/>
              <a:t>画像</a:t>
            </a:r>
            <a:endParaRPr lang="en-US" altLang="ja-JP" b="1" dirty="0"/>
          </a:p>
          <a:p>
            <a:pPr algn="ctr"/>
            <a:r>
              <a:rPr lang="ja-JP" altLang="en-US" b="1" dirty="0"/>
              <a:t>（</a:t>
            </a:r>
            <a:r>
              <a:rPr lang="en-US" altLang="ja-JP" b="1" dirty="0"/>
              <a:t>32×32</a:t>
            </a:r>
            <a:r>
              <a:rPr lang="ja-JP" altLang="en-US" b="1" dirty="0"/>
              <a:t>）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949585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食品, 部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C7365EF8-CBFF-DE23-7CA9-2116A06E5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625" y="699706"/>
            <a:ext cx="8230749" cy="5458587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EC9917B-BD48-F93D-4AD7-5112D092FCED}"/>
              </a:ext>
            </a:extLst>
          </p:cNvPr>
          <p:cNvSpPr txBox="1"/>
          <p:nvPr/>
        </p:nvSpPr>
        <p:spPr>
          <a:xfrm>
            <a:off x="2040128" y="778256"/>
            <a:ext cx="312906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EB3BF04-6CBD-83FB-4274-A467E7E98AAB}"/>
              </a:ext>
            </a:extLst>
          </p:cNvPr>
          <p:cNvSpPr txBox="1"/>
          <p:nvPr/>
        </p:nvSpPr>
        <p:spPr>
          <a:xfrm>
            <a:off x="4783328" y="778256"/>
            <a:ext cx="312906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6D85431-0323-3F4E-9DEB-7C450E54F19F}"/>
              </a:ext>
            </a:extLst>
          </p:cNvPr>
          <p:cNvSpPr txBox="1"/>
          <p:nvPr/>
        </p:nvSpPr>
        <p:spPr>
          <a:xfrm>
            <a:off x="7526528" y="778256"/>
            <a:ext cx="312906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F0BA5B5-D728-D12C-E4C6-4E8A238C47EC}"/>
              </a:ext>
            </a:extLst>
          </p:cNvPr>
          <p:cNvSpPr txBox="1"/>
          <p:nvPr/>
        </p:nvSpPr>
        <p:spPr>
          <a:xfrm>
            <a:off x="2040128" y="3468274"/>
            <a:ext cx="312906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ja-JP" dirty="0"/>
              <a:t>4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1851900-6A48-29A8-8500-784752C3346F}"/>
              </a:ext>
            </a:extLst>
          </p:cNvPr>
          <p:cNvSpPr txBox="1"/>
          <p:nvPr/>
        </p:nvSpPr>
        <p:spPr>
          <a:xfrm>
            <a:off x="4783328" y="3468274"/>
            <a:ext cx="312906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EF4C1B7-E1FB-A92B-573D-B13D4346B2E0}"/>
              </a:ext>
            </a:extLst>
          </p:cNvPr>
          <p:cNvSpPr txBox="1"/>
          <p:nvPr/>
        </p:nvSpPr>
        <p:spPr>
          <a:xfrm>
            <a:off x="7526528" y="3468274"/>
            <a:ext cx="312906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ja-JP" dirty="0"/>
              <a:t>6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78833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ゲーム画面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A75A8B16-FD58-538B-21A9-2B0219CBE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6322" y="2830006"/>
            <a:ext cx="5736276" cy="1070967"/>
          </a:xfrm>
          <a:prstGeom prst="rect">
            <a:avLst/>
          </a:prstGeom>
        </p:spPr>
      </p:pic>
      <p:pic>
        <p:nvPicPr>
          <p:cNvPr id="5" name="図 4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59B54F9-6518-7729-AF06-C267938E9F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322" y="1425791"/>
            <a:ext cx="5736276" cy="1028281"/>
          </a:xfrm>
          <a:prstGeom prst="rect">
            <a:avLst/>
          </a:prstGeom>
        </p:spPr>
      </p:pic>
      <p:pic>
        <p:nvPicPr>
          <p:cNvPr id="7" name="図 6" descr="色付け, カラフル, 立つ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2AAAE9C2-A010-A44E-6EE7-42EDD299A0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6322" y="4214603"/>
            <a:ext cx="5736276" cy="106289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BF8745D-5A56-145F-1217-4D658D244C58}"/>
              </a:ext>
            </a:extLst>
          </p:cNvPr>
          <p:cNvSpPr txBox="1"/>
          <p:nvPr/>
        </p:nvSpPr>
        <p:spPr>
          <a:xfrm>
            <a:off x="3451122" y="243733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z1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8C9117B-80E7-8D4C-1E12-C7B9B4D666B0}"/>
              </a:ext>
            </a:extLst>
          </p:cNvPr>
          <p:cNvSpPr txBox="1"/>
          <p:nvPr/>
        </p:nvSpPr>
        <p:spPr>
          <a:xfrm>
            <a:off x="3466703" y="38690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z1</a:t>
            </a:r>
            <a:endParaRPr kumimoji="1"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6A3800-E477-FE4B-FC7A-8D1A8B490E00}"/>
              </a:ext>
            </a:extLst>
          </p:cNvPr>
          <p:cNvSpPr txBox="1"/>
          <p:nvPr/>
        </p:nvSpPr>
        <p:spPr>
          <a:xfrm>
            <a:off x="3451122" y="527750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z1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B66B1D6-ACEF-411D-A3E1-834CA5EB453C}"/>
              </a:ext>
            </a:extLst>
          </p:cNvPr>
          <p:cNvSpPr txBox="1"/>
          <p:nvPr/>
        </p:nvSpPr>
        <p:spPr>
          <a:xfrm>
            <a:off x="8185354" y="243733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z2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7F42A2E-63AF-A96C-A3B1-19CFBA5F7C76}"/>
              </a:ext>
            </a:extLst>
          </p:cNvPr>
          <p:cNvSpPr txBox="1"/>
          <p:nvPr/>
        </p:nvSpPr>
        <p:spPr>
          <a:xfrm>
            <a:off x="8200935" y="3869088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z2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0707E79-9A37-38F1-DF42-C4024922BFEF}"/>
              </a:ext>
            </a:extLst>
          </p:cNvPr>
          <p:cNvSpPr txBox="1"/>
          <p:nvPr/>
        </p:nvSpPr>
        <p:spPr>
          <a:xfrm>
            <a:off x="8185354" y="527750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z2</a:t>
            </a:r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12C9844-EF81-2DB8-A85D-D299C24CE6FD}"/>
              </a:ext>
            </a:extLst>
          </p:cNvPr>
          <p:cNvSpPr txBox="1"/>
          <p:nvPr/>
        </p:nvSpPr>
        <p:spPr>
          <a:xfrm>
            <a:off x="2782576" y="1828800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D05E80E-42C8-FAA9-BF9A-8BB83BDC2FE3}"/>
              </a:ext>
            </a:extLst>
          </p:cNvPr>
          <p:cNvSpPr txBox="1"/>
          <p:nvPr/>
        </p:nvSpPr>
        <p:spPr>
          <a:xfrm>
            <a:off x="2782576" y="3180823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B</a:t>
            </a:r>
            <a:endParaRPr kumimoji="1"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76D9329-8E1F-5DE5-339D-2367653FA832}"/>
              </a:ext>
            </a:extLst>
          </p:cNvPr>
          <p:cNvSpPr txBox="1"/>
          <p:nvPr/>
        </p:nvSpPr>
        <p:spPr>
          <a:xfrm>
            <a:off x="2778569" y="4561386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9895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台形 1">
            <a:extLst>
              <a:ext uri="{FF2B5EF4-FFF2-40B4-BE49-F238E27FC236}">
                <a16:creationId xmlns:a16="http://schemas.microsoft.com/office/drawing/2014/main" id="{8C24FD71-A101-D81A-EA0C-F5E45307646C}"/>
              </a:ext>
            </a:extLst>
          </p:cNvPr>
          <p:cNvSpPr/>
          <p:nvPr/>
        </p:nvSpPr>
        <p:spPr>
          <a:xfrm rot="16200000">
            <a:off x="3013512" y="1783783"/>
            <a:ext cx="904567" cy="1220737"/>
          </a:xfrm>
          <a:prstGeom prst="trapezoid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台形 2">
            <a:extLst>
              <a:ext uri="{FF2B5EF4-FFF2-40B4-BE49-F238E27FC236}">
                <a16:creationId xmlns:a16="http://schemas.microsoft.com/office/drawing/2014/main" id="{58D82625-5CC3-B8E8-F61E-456ED14D2C0F}"/>
              </a:ext>
            </a:extLst>
          </p:cNvPr>
          <p:cNvSpPr/>
          <p:nvPr/>
        </p:nvSpPr>
        <p:spPr>
          <a:xfrm rot="5400000">
            <a:off x="6912178" y="2855204"/>
            <a:ext cx="870138" cy="1170038"/>
          </a:xfrm>
          <a:prstGeom prst="trapezoid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DFD7DA0-02D4-E1E1-9DB4-9B5906585624}"/>
              </a:ext>
            </a:extLst>
          </p:cNvPr>
          <p:cNvSpPr/>
          <p:nvPr/>
        </p:nvSpPr>
        <p:spPr>
          <a:xfrm rot="10800000">
            <a:off x="1980169" y="1812518"/>
            <a:ext cx="186812" cy="11798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54E3083F-9324-C1F7-938C-2216C23C967F}"/>
              </a:ext>
            </a:extLst>
          </p:cNvPr>
          <p:cNvCxnSpPr>
            <a:cxnSpLocks/>
          </p:cNvCxnSpPr>
          <p:nvPr/>
        </p:nvCxnSpPr>
        <p:spPr>
          <a:xfrm>
            <a:off x="2399071" y="2394153"/>
            <a:ext cx="37362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109956E7-70DE-855A-3B84-98F36049D8B3}"/>
                  </a:ext>
                </a:extLst>
              </p:cNvPr>
              <p:cNvSpPr txBox="1"/>
              <p:nvPr/>
            </p:nvSpPr>
            <p:spPr>
              <a:xfrm>
                <a:off x="1449044" y="2992389"/>
                <a:ext cx="124906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kumimoji="1" lang="en-US" altLang="ja-JP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Ν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109956E7-70DE-855A-3B84-98F36049D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044" y="2992389"/>
                <a:ext cx="1249060" cy="553998"/>
              </a:xfrm>
              <a:prstGeom prst="rect">
                <a:avLst/>
              </a:prstGeom>
              <a:blipFill>
                <a:blip r:embed="rId3"/>
                <a:stretch>
                  <a:fillRect l="-3902" r="-5854" b="-1648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1095A19-7865-EC1C-C169-72FF506BC943}"/>
                  </a:ext>
                </a:extLst>
              </p:cNvPr>
              <p:cNvSpPr txBox="1"/>
              <p:nvPr/>
            </p:nvSpPr>
            <p:spPr>
              <a:xfrm>
                <a:off x="2984647" y="2215793"/>
                <a:ext cx="1091517" cy="6404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sz="20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1095A19-7865-EC1C-C169-72FF506BC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647" y="2215793"/>
                <a:ext cx="1091517" cy="640496"/>
              </a:xfrm>
              <a:prstGeom prst="rect">
                <a:avLst/>
              </a:prstGeom>
              <a:blipFill>
                <a:blip r:embed="rId4"/>
                <a:stretch>
                  <a:fillRect r="-167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A95F344E-8FBC-7B87-EA7C-317B6B0E754C}"/>
              </a:ext>
            </a:extLst>
          </p:cNvPr>
          <p:cNvCxnSpPr>
            <a:cxnSpLocks/>
          </p:cNvCxnSpPr>
          <p:nvPr/>
        </p:nvCxnSpPr>
        <p:spPr>
          <a:xfrm>
            <a:off x="4170107" y="2394151"/>
            <a:ext cx="4018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91F1DCA9-E2CB-8D7F-9A78-A32F16736E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1866" y="3759172"/>
            <a:ext cx="1220739" cy="1236038"/>
          </a:xfrm>
          <a:prstGeom prst="rect">
            <a:avLst/>
          </a:prstGeom>
        </p:spPr>
      </p:pic>
      <p:pic>
        <p:nvPicPr>
          <p:cNvPr id="11" name="図 10" descr="食品, 部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A87B44A-5342-FC4B-7434-9D21C7898FE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112" t="1772" r="34231" b="52093"/>
          <a:stretch>
            <a:fillRect/>
          </a:stretch>
        </p:blipFill>
        <p:spPr>
          <a:xfrm>
            <a:off x="4751867" y="1812518"/>
            <a:ext cx="1220739" cy="11798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A57BD456-4127-E548-5E19-B158378F53B1}"/>
                  </a:ext>
                </a:extLst>
              </p:cNvPr>
              <p:cNvSpPr txBox="1"/>
              <p:nvPr/>
            </p:nvSpPr>
            <p:spPr>
              <a:xfrm>
                <a:off x="4630963" y="2949219"/>
                <a:ext cx="1553630" cy="6689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b="1" dirty="0"/>
                  <a:t>Fake Image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A57BD456-4127-E548-5E19-B158378F53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0963" y="2949219"/>
                <a:ext cx="1553630" cy="668901"/>
              </a:xfrm>
              <a:prstGeom prst="rect">
                <a:avLst/>
              </a:prstGeom>
              <a:blipFill>
                <a:blip r:embed="rId7"/>
                <a:stretch>
                  <a:fillRect l="-3529" t="-5455" r="-1961" b="-18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C93F547-80F3-87FA-2B48-AC7A4BFA1686}"/>
              </a:ext>
            </a:extLst>
          </p:cNvPr>
          <p:cNvSpPr txBox="1"/>
          <p:nvPr/>
        </p:nvSpPr>
        <p:spPr>
          <a:xfrm>
            <a:off x="2855323" y="2927101"/>
            <a:ext cx="1314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Generator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226FE468-827E-A86D-E2A7-EBD7402125A2}"/>
                  </a:ext>
                </a:extLst>
              </p:cNvPr>
              <p:cNvSpPr txBox="1"/>
              <p:nvPr/>
            </p:nvSpPr>
            <p:spPr>
              <a:xfrm>
                <a:off x="4670292" y="4995210"/>
                <a:ext cx="150393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b="1" dirty="0"/>
                  <a:t>Real</a:t>
                </a:r>
                <a:r>
                  <a:rPr kumimoji="1" lang="en-US" altLang="ja-JP" b="1" dirty="0"/>
                  <a:t> Image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226FE468-827E-A86D-E2A7-EBD7402125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0292" y="4995210"/>
                <a:ext cx="1503938" cy="646331"/>
              </a:xfrm>
              <a:prstGeom prst="rect">
                <a:avLst/>
              </a:prstGeom>
              <a:blipFill>
                <a:blip r:embed="rId8"/>
                <a:stretch>
                  <a:fillRect l="-3239" t="-4717" r="-2429" b="-377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BDFE8BA-DD95-A99C-185D-3945AA2F76C7}"/>
              </a:ext>
            </a:extLst>
          </p:cNvPr>
          <p:cNvSpPr txBox="1"/>
          <p:nvPr/>
        </p:nvSpPr>
        <p:spPr>
          <a:xfrm>
            <a:off x="6611197" y="3875292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Discriminator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BAAFAD00-DC2D-C4F8-9F1A-22FB67574C99}"/>
                  </a:ext>
                </a:extLst>
              </p:cNvPr>
              <p:cNvSpPr txBox="1"/>
              <p:nvPr/>
            </p:nvSpPr>
            <p:spPr>
              <a:xfrm>
                <a:off x="6827155" y="3259434"/>
                <a:ext cx="1105111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sz="20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BAAFAD00-DC2D-C4F8-9F1A-22FB67574C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155" y="3259434"/>
                <a:ext cx="1105111" cy="615553"/>
              </a:xfrm>
              <a:prstGeom prst="rect">
                <a:avLst/>
              </a:prstGeom>
              <a:blipFill>
                <a:blip r:embed="rId9"/>
                <a:stretch>
                  <a:fillRect t="-1980" r="-2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90F7B2B4-2E0F-B037-EFB3-0368F03B1DD8}"/>
              </a:ext>
            </a:extLst>
          </p:cNvPr>
          <p:cNvCxnSpPr>
            <a:cxnSpLocks/>
          </p:cNvCxnSpPr>
          <p:nvPr/>
        </p:nvCxnSpPr>
        <p:spPr>
          <a:xfrm>
            <a:off x="5972605" y="2402454"/>
            <a:ext cx="31014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189F66B4-F90D-7BB2-58E6-EC870D48CA61}"/>
              </a:ext>
            </a:extLst>
          </p:cNvPr>
          <p:cNvCxnSpPr>
            <a:cxnSpLocks/>
          </p:cNvCxnSpPr>
          <p:nvPr/>
        </p:nvCxnSpPr>
        <p:spPr>
          <a:xfrm>
            <a:off x="5941390" y="4455548"/>
            <a:ext cx="33333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98CD107B-E5D1-C0CA-7AF7-A7E3C0C17853}"/>
              </a:ext>
            </a:extLst>
          </p:cNvPr>
          <p:cNvCxnSpPr>
            <a:cxnSpLocks/>
          </p:cNvCxnSpPr>
          <p:nvPr/>
        </p:nvCxnSpPr>
        <p:spPr>
          <a:xfrm flipH="1">
            <a:off x="6266696" y="2394151"/>
            <a:ext cx="16058" cy="20613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255A743-E4C4-F274-8883-EBC08C02A455}"/>
              </a:ext>
            </a:extLst>
          </p:cNvPr>
          <p:cNvCxnSpPr>
            <a:cxnSpLocks/>
          </p:cNvCxnSpPr>
          <p:nvPr/>
        </p:nvCxnSpPr>
        <p:spPr>
          <a:xfrm>
            <a:off x="6282754" y="3440223"/>
            <a:ext cx="4106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A3E30D0-87F1-E378-3E1B-6556F1560C4F}"/>
              </a:ext>
            </a:extLst>
          </p:cNvPr>
          <p:cNvSpPr txBox="1"/>
          <p:nvPr/>
        </p:nvSpPr>
        <p:spPr>
          <a:xfrm>
            <a:off x="1333628" y="3642234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Input Noise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F2D7EC2-862A-7576-971F-E40185FDE13D}"/>
              </a:ext>
            </a:extLst>
          </p:cNvPr>
          <p:cNvCxnSpPr>
            <a:cxnSpLocks/>
          </p:cNvCxnSpPr>
          <p:nvPr/>
        </p:nvCxnSpPr>
        <p:spPr>
          <a:xfrm>
            <a:off x="7932266" y="3446366"/>
            <a:ext cx="4106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11E170B4-200C-53AF-2F7F-663B6B43A086}"/>
                  </a:ext>
                </a:extLst>
              </p:cNvPr>
              <p:cNvSpPr txBox="1"/>
              <p:nvPr/>
            </p:nvSpPr>
            <p:spPr>
              <a:xfrm>
                <a:off x="8539904" y="3248788"/>
                <a:ext cx="6476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0~1</m:t>
                      </m:r>
                    </m:oMath>
                  </m:oMathPara>
                </a14:m>
                <a:endParaRPr kumimoji="1" lang="en-US" altLang="ja-JP" sz="2400" dirty="0"/>
              </a:p>
            </p:txBody>
          </p:sp>
        </mc:Choice>
        <mc:Fallback xmlns="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11E170B4-200C-53AF-2F7F-663B6B43A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9904" y="3248788"/>
                <a:ext cx="647613" cy="369332"/>
              </a:xfrm>
              <a:prstGeom prst="rect">
                <a:avLst/>
              </a:prstGeom>
              <a:blipFill>
                <a:blip r:embed="rId10"/>
                <a:stretch>
                  <a:fillRect l="-9434" r="-9434" b="-327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60C253-D6FA-D20D-2C01-AB5E7250C085}"/>
              </a:ext>
            </a:extLst>
          </p:cNvPr>
          <p:cNvSpPr txBox="1"/>
          <p:nvPr/>
        </p:nvSpPr>
        <p:spPr>
          <a:xfrm>
            <a:off x="8463335" y="3875292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Score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0741149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594CB-C168-90F5-2E5F-47F6B53E2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台形 1">
            <a:extLst>
              <a:ext uri="{FF2B5EF4-FFF2-40B4-BE49-F238E27FC236}">
                <a16:creationId xmlns:a16="http://schemas.microsoft.com/office/drawing/2014/main" id="{35CEF1AB-8B05-C076-89BD-CD18A9B3C0B7}"/>
              </a:ext>
            </a:extLst>
          </p:cNvPr>
          <p:cNvSpPr/>
          <p:nvPr/>
        </p:nvSpPr>
        <p:spPr>
          <a:xfrm rot="16200000">
            <a:off x="3013512" y="1783783"/>
            <a:ext cx="904567" cy="1220737"/>
          </a:xfrm>
          <a:prstGeom prst="trapezoid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6BDE2F2-B0A8-D947-A285-741E520BA4B3}"/>
              </a:ext>
            </a:extLst>
          </p:cNvPr>
          <p:cNvSpPr/>
          <p:nvPr/>
        </p:nvSpPr>
        <p:spPr>
          <a:xfrm rot="10800000">
            <a:off x="1980169" y="1812518"/>
            <a:ext cx="186812" cy="11798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C5D03D1D-9435-12B6-B252-C1CF915F4C68}"/>
              </a:ext>
            </a:extLst>
          </p:cNvPr>
          <p:cNvCxnSpPr>
            <a:cxnSpLocks/>
          </p:cNvCxnSpPr>
          <p:nvPr/>
        </p:nvCxnSpPr>
        <p:spPr>
          <a:xfrm>
            <a:off x="2399071" y="2394153"/>
            <a:ext cx="37362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51350853-88B3-D281-607F-2F41E91F9C3D}"/>
                  </a:ext>
                </a:extLst>
              </p:cNvPr>
              <p:cNvSpPr txBox="1"/>
              <p:nvPr/>
            </p:nvSpPr>
            <p:spPr>
              <a:xfrm>
                <a:off x="1449044" y="2992389"/>
                <a:ext cx="124906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kumimoji="1" lang="en-US" altLang="ja-JP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Ν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51350853-88B3-D281-607F-2F41E91F9C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044" y="2992389"/>
                <a:ext cx="1249060" cy="553998"/>
              </a:xfrm>
              <a:prstGeom prst="rect">
                <a:avLst/>
              </a:prstGeom>
              <a:blipFill>
                <a:blip r:embed="rId3"/>
                <a:stretch>
                  <a:fillRect l="-3902" r="-5854" b="-1648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6E4D1419-FC75-CE71-57A6-6B8C6F22117E}"/>
                  </a:ext>
                </a:extLst>
              </p:cNvPr>
              <p:cNvSpPr txBox="1"/>
              <p:nvPr/>
            </p:nvSpPr>
            <p:spPr>
              <a:xfrm>
                <a:off x="2984647" y="2215793"/>
                <a:ext cx="1091517" cy="6404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sz="20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6E4D1419-FC75-CE71-57A6-6B8C6F2211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647" y="2215793"/>
                <a:ext cx="1091517" cy="640496"/>
              </a:xfrm>
              <a:prstGeom prst="rect">
                <a:avLst/>
              </a:prstGeom>
              <a:blipFill>
                <a:blip r:embed="rId4"/>
                <a:stretch>
                  <a:fillRect r="-167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5597AF3-D5BD-F650-A0BB-238A2518BEFB}"/>
              </a:ext>
            </a:extLst>
          </p:cNvPr>
          <p:cNvCxnSpPr>
            <a:cxnSpLocks/>
          </p:cNvCxnSpPr>
          <p:nvPr/>
        </p:nvCxnSpPr>
        <p:spPr>
          <a:xfrm>
            <a:off x="4170107" y="2394151"/>
            <a:ext cx="4018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E0C89AA9-B7F9-AE7E-52BA-5278B8A74E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5379" y="4578532"/>
            <a:ext cx="1220739" cy="1236038"/>
          </a:xfrm>
          <a:prstGeom prst="rect">
            <a:avLst/>
          </a:prstGeom>
        </p:spPr>
      </p:pic>
      <p:pic>
        <p:nvPicPr>
          <p:cNvPr id="11" name="図 10" descr="食品, 部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7A192AE-8764-90CA-4155-D76896CEFB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112" t="1772" r="34231" b="52093"/>
          <a:stretch>
            <a:fillRect/>
          </a:stretch>
        </p:blipFill>
        <p:spPr>
          <a:xfrm>
            <a:off x="4751867" y="1812518"/>
            <a:ext cx="1220739" cy="11798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CC36C1E6-A5A3-BEB9-85CE-338B2B5C59FD}"/>
                  </a:ext>
                </a:extLst>
              </p:cNvPr>
              <p:cNvSpPr txBox="1"/>
              <p:nvPr/>
            </p:nvSpPr>
            <p:spPr>
              <a:xfrm>
                <a:off x="4630963" y="2949219"/>
                <a:ext cx="1553630" cy="6689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b="1" dirty="0"/>
                  <a:t>Fake Image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CC36C1E6-A5A3-BEB9-85CE-338B2B5C59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0963" y="2949219"/>
                <a:ext cx="1553630" cy="668901"/>
              </a:xfrm>
              <a:prstGeom prst="rect">
                <a:avLst/>
              </a:prstGeom>
              <a:blipFill>
                <a:blip r:embed="rId7"/>
                <a:stretch>
                  <a:fillRect l="-3529" t="-5455" r="-1961" b="-18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163DD4C-BC86-0FB4-EA42-123AA185B6F7}"/>
              </a:ext>
            </a:extLst>
          </p:cNvPr>
          <p:cNvSpPr txBox="1"/>
          <p:nvPr/>
        </p:nvSpPr>
        <p:spPr>
          <a:xfrm>
            <a:off x="2855323" y="2927101"/>
            <a:ext cx="1314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Generator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B4153225-8911-F86E-71A6-1D70093B1D8F}"/>
                  </a:ext>
                </a:extLst>
              </p:cNvPr>
              <p:cNvSpPr txBox="1"/>
              <p:nvPr/>
            </p:nvSpPr>
            <p:spPr>
              <a:xfrm>
                <a:off x="4663805" y="5822282"/>
                <a:ext cx="150393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b="1" dirty="0"/>
                  <a:t>Real</a:t>
                </a:r>
                <a:r>
                  <a:rPr kumimoji="1" lang="en-US" altLang="ja-JP" b="1" dirty="0"/>
                  <a:t> Image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B4153225-8911-F86E-71A6-1D70093B1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3805" y="5822282"/>
                <a:ext cx="1503938" cy="646331"/>
              </a:xfrm>
              <a:prstGeom prst="rect">
                <a:avLst/>
              </a:prstGeom>
              <a:blipFill>
                <a:blip r:embed="rId8"/>
                <a:stretch>
                  <a:fillRect l="-3239" t="-4717" r="-2429" b="-377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C59AA482-5D26-445E-0549-BC231B821217}"/>
              </a:ext>
            </a:extLst>
          </p:cNvPr>
          <p:cNvSpPr txBox="1"/>
          <p:nvPr/>
        </p:nvSpPr>
        <p:spPr>
          <a:xfrm>
            <a:off x="1333628" y="3642234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Input Noise</a:t>
            </a:r>
            <a:endParaRPr kumimoji="1" lang="ja-JP" altLang="en-US" b="1" dirty="0"/>
          </a:p>
        </p:txBody>
      </p:sp>
      <p:sp>
        <p:nvSpPr>
          <p:cNvPr id="16" name="台形 15">
            <a:extLst>
              <a:ext uri="{FF2B5EF4-FFF2-40B4-BE49-F238E27FC236}">
                <a16:creationId xmlns:a16="http://schemas.microsoft.com/office/drawing/2014/main" id="{4312B11E-8A6C-BBC6-8C7E-B79ECA10DCE7}"/>
              </a:ext>
            </a:extLst>
          </p:cNvPr>
          <p:cNvSpPr/>
          <p:nvPr/>
        </p:nvSpPr>
        <p:spPr>
          <a:xfrm rot="5400000">
            <a:off x="6953061" y="4713265"/>
            <a:ext cx="870138" cy="1170038"/>
          </a:xfrm>
          <a:prstGeom prst="trapezoid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6B28276-09FB-F2F6-A087-A50D827B14E4}"/>
              </a:ext>
            </a:extLst>
          </p:cNvPr>
          <p:cNvSpPr txBox="1"/>
          <p:nvPr/>
        </p:nvSpPr>
        <p:spPr>
          <a:xfrm>
            <a:off x="6652080" y="5743292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Discriminator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C5014D5D-F3BA-635A-5C32-849017DF6C79}"/>
                  </a:ext>
                </a:extLst>
              </p:cNvPr>
              <p:cNvSpPr txBox="1"/>
              <p:nvPr/>
            </p:nvSpPr>
            <p:spPr>
              <a:xfrm>
                <a:off x="6868038" y="5117495"/>
                <a:ext cx="1105111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sz="20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C5014D5D-F3BA-635A-5C32-849017DF6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8038" y="5117495"/>
                <a:ext cx="1105111" cy="615553"/>
              </a:xfrm>
              <a:prstGeom prst="rect">
                <a:avLst/>
              </a:prstGeom>
              <a:blipFill>
                <a:blip r:embed="rId9"/>
                <a:stretch>
                  <a:fillRect t="-990" r="-2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92A770B0-DE50-2773-D2E9-654ED485B19B}"/>
              </a:ext>
            </a:extLst>
          </p:cNvPr>
          <p:cNvCxnSpPr>
            <a:cxnSpLocks/>
          </p:cNvCxnSpPr>
          <p:nvPr/>
        </p:nvCxnSpPr>
        <p:spPr>
          <a:xfrm>
            <a:off x="6009023" y="5277966"/>
            <a:ext cx="718571" cy="67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4ABCB9F-D891-2250-8752-F6E0F883AC7F}"/>
              </a:ext>
            </a:extLst>
          </p:cNvPr>
          <p:cNvCxnSpPr>
            <a:cxnSpLocks/>
          </p:cNvCxnSpPr>
          <p:nvPr/>
        </p:nvCxnSpPr>
        <p:spPr>
          <a:xfrm>
            <a:off x="7973149" y="5304427"/>
            <a:ext cx="4106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B508574E-8092-9EEC-6B29-BC4E099523F7}"/>
                  </a:ext>
                </a:extLst>
              </p:cNvPr>
              <p:cNvSpPr txBox="1"/>
              <p:nvPr/>
            </p:nvSpPr>
            <p:spPr>
              <a:xfrm>
                <a:off x="8580787" y="5106849"/>
                <a:ext cx="6476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0~1</m:t>
                      </m:r>
                    </m:oMath>
                  </m:oMathPara>
                </a14:m>
                <a:endParaRPr kumimoji="1" lang="en-US" altLang="ja-JP" sz="2400" dirty="0"/>
              </a:p>
            </p:txBody>
          </p:sp>
        </mc:Choice>
        <mc:Fallback xmlns="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B508574E-8092-9EEC-6B29-BC4E09952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0787" y="5106849"/>
                <a:ext cx="647613" cy="369332"/>
              </a:xfrm>
              <a:prstGeom prst="rect">
                <a:avLst/>
              </a:prstGeom>
              <a:blipFill>
                <a:blip r:embed="rId10"/>
                <a:stretch>
                  <a:fillRect l="-9434" r="-9434" b="-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8F96BF4-1DD4-D767-8511-76AAF17D3A97}"/>
              </a:ext>
            </a:extLst>
          </p:cNvPr>
          <p:cNvSpPr txBox="1"/>
          <p:nvPr/>
        </p:nvSpPr>
        <p:spPr>
          <a:xfrm>
            <a:off x="8504218" y="5733353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Score</a:t>
            </a:r>
            <a:endParaRPr kumimoji="1" lang="ja-JP" altLang="en-US" b="1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C138CB70-6D95-3C31-2B62-A14379503F82}"/>
              </a:ext>
            </a:extLst>
          </p:cNvPr>
          <p:cNvCxnSpPr/>
          <p:nvPr/>
        </p:nvCxnSpPr>
        <p:spPr>
          <a:xfrm>
            <a:off x="7422163" y="4506906"/>
            <a:ext cx="0" cy="44121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D9495776-9FEA-CF71-F7A0-84E72FF9C5F1}"/>
              </a:ext>
            </a:extLst>
          </p:cNvPr>
          <p:cNvCxnSpPr/>
          <p:nvPr/>
        </p:nvCxnSpPr>
        <p:spPr>
          <a:xfrm>
            <a:off x="7422163" y="4516743"/>
            <a:ext cx="146500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8AC872C7-7513-98BF-981F-8727F9E6FECD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8887169" y="4506906"/>
            <a:ext cx="17425" cy="59994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C6DEA292-0CAD-4CFB-F665-84827E8FCE29}"/>
                  </a:ext>
                </a:extLst>
              </p:cNvPr>
              <p:cNvSpPr txBox="1"/>
              <p:nvPr/>
            </p:nvSpPr>
            <p:spPr>
              <a:xfrm>
                <a:off x="6305974" y="4048349"/>
                <a:ext cx="43964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ja-JP" altLang="en-US" b="1" dirty="0">
                    <a:solidFill>
                      <a:srgbClr val="FF0000"/>
                    </a:solidFill>
                  </a:rPr>
                  <a:t>パラメータ更新（ </a:t>
                </a:r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ja-JP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)=1</m:t>
                    </m:r>
                    <m:r>
                      <a:rPr lang="ja-JP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が</m:t>
                    </m:r>
                    <m:r>
                      <a:rPr lang="ja-JP" alt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目標</m:t>
                    </m:r>
                    <m:r>
                      <a:rPr lang="en-US" altLang="ja-JP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ja-JP" dirty="0">
                    <a:solidFill>
                      <a:srgbClr val="FF0000"/>
                    </a:solidFill>
                  </a:rPr>
                  <a:t>)</a:t>
                </a:r>
                <a:endParaRPr lang="ja-JP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C6DEA292-0CAD-4CFB-F665-84827E8FC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974" y="4048349"/>
                <a:ext cx="4396487" cy="369332"/>
              </a:xfrm>
              <a:prstGeom prst="rect">
                <a:avLst/>
              </a:prstGeom>
              <a:blipFill>
                <a:blip r:embed="rId11"/>
                <a:stretch>
                  <a:fillRect l="-1108" t="-8197" b="-2623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台形 40">
            <a:extLst>
              <a:ext uri="{FF2B5EF4-FFF2-40B4-BE49-F238E27FC236}">
                <a16:creationId xmlns:a16="http://schemas.microsoft.com/office/drawing/2014/main" id="{35ECBE52-29DC-0498-700D-5E5C973213EA}"/>
              </a:ext>
            </a:extLst>
          </p:cNvPr>
          <p:cNvSpPr/>
          <p:nvPr/>
        </p:nvSpPr>
        <p:spPr>
          <a:xfrm rot="5400000">
            <a:off x="6953061" y="1849157"/>
            <a:ext cx="870138" cy="1170038"/>
          </a:xfrm>
          <a:prstGeom prst="trapezoid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67CBF8BA-BFAC-67B9-4418-7E42FC7DA740}"/>
              </a:ext>
            </a:extLst>
          </p:cNvPr>
          <p:cNvSpPr txBox="1"/>
          <p:nvPr/>
        </p:nvSpPr>
        <p:spPr>
          <a:xfrm>
            <a:off x="6652080" y="2879184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Discriminator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テキスト ボックス 42">
                <a:extLst>
                  <a:ext uri="{FF2B5EF4-FFF2-40B4-BE49-F238E27FC236}">
                    <a16:creationId xmlns:a16="http://schemas.microsoft.com/office/drawing/2014/main" id="{4280DBB9-38EB-613F-E2B9-23791F892F8B}"/>
                  </a:ext>
                </a:extLst>
              </p:cNvPr>
              <p:cNvSpPr txBox="1"/>
              <p:nvPr/>
            </p:nvSpPr>
            <p:spPr>
              <a:xfrm>
                <a:off x="6868038" y="2253387"/>
                <a:ext cx="1105111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sz="20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43" name="テキスト ボックス 42">
                <a:extLst>
                  <a:ext uri="{FF2B5EF4-FFF2-40B4-BE49-F238E27FC236}">
                    <a16:creationId xmlns:a16="http://schemas.microsoft.com/office/drawing/2014/main" id="{4280DBB9-38EB-613F-E2B9-23791F892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8038" y="2253387"/>
                <a:ext cx="1105111" cy="615553"/>
              </a:xfrm>
              <a:prstGeom prst="rect">
                <a:avLst/>
              </a:prstGeom>
              <a:blipFill>
                <a:blip r:embed="rId12"/>
                <a:stretch>
                  <a:fillRect t="-1980" r="-276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418B4F12-360E-3C99-546E-B81F0B36D009}"/>
              </a:ext>
            </a:extLst>
          </p:cNvPr>
          <p:cNvCxnSpPr>
            <a:cxnSpLocks/>
          </p:cNvCxnSpPr>
          <p:nvPr/>
        </p:nvCxnSpPr>
        <p:spPr>
          <a:xfrm>
            <a:off x="6009023" y="2413858"/>
            <a:ext cx="718571" cy="67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BA911F26-F663-E663-6CC0-12408733B2B5}"/>
              </a:ext>
            </a:extLst>
          </p:cNvPr>
          <p:cNvCxnSpPr>
            <a:cxnSpLocks/>
          </p:cNvCxnSpPr>
          <p:nvPr/>
        </p:nvCxnSpPr>
        <p:spPr>
          <a:xfrm>
            <a:off x="7973149" y="2440319"/>
            <a:ext cx="4106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ECFAF74A-4283-6316-CA8E-35C7D6FBF47D}"/>
                  </a:ext>
                </a:extLst>
              </p:cNvPr>
              <p:cNvSpPr txBox="1"/>
              <p:nvPr/>
            </p:nvSpPr>
            <p:spPr>
              <a:xfrm>
                <a:off x="8580787" y="2242741"/>
                <a:ext cx="6476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0~1</m:t>
                      </m:r>
                    </m:oMath>
                  </m:oMathPara>
                </a14:m>
                <a:endParaRPr kumimoji="1" lang="en-US" altLang="ja-JP" sz="2400" dirty="0"/>
              </a:p>
            </p:txBody>
          </p:sp>
        </mc:Choice>
        <mc:Fallback xmlns="">
          <p:sp>
            <p:nvSpPr>
              <p:cNvPr id="46" name="テキスト ボックス 45">
                <a:extLst>
                  <a:ext uri="{FF2B5EF4-FFF2-40B4-BE49-F238E27FC236}">
                    <a16:creationId xmlns:a16="http://schemas.microsoft.com/office/drawing/2014/main" id="{ECFAF74A-4283-6316-CA8E-35C7D6FBF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0787" y="2242741"/>
                <a:ext cx="647613" cy="369332"/>
              </a:xfrm>
              <a:prstGeom prst="rect">
                <a:avLst/>
              </a:prstGeom>
              <a:blipFill>
                <a:blip r:embed="rId13"/>
                <a:stretch>
                  <a:fillRect l="-9434" r="-9434" b="-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2EB60992-A094-17BE-FCA0-30CE4EF5F782}"/>
              </a:ext>
            </a:extLst>
          </p:cNvPr>
          <p:cNvSpPr txBox="1"/>
          <p:nvPr/>
        </p:nvSpPr>
        <p:spPr>
          <a:xfrm>
            <a:off x="8504218" y="2869245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Score</a:t>
            </a:r>
            <a:endParaRPr kumimoji="1" lang="ja-JP" altLang="en-US" b="1" dirty="0"/>
          </a:p>
        </p:txBody>
      </p: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FBDDED9D-E651-C517-5E44-EFEFC04521CC}"/>
              </a:ext>
            </a:extLst>
          </p:cNvPr>
          <p:cNvCxnSpPr/>
          <p:nvPr/>
        </p:nvCxnSpPr>
        <p:spPr>
          <a:xfrm>
            <a:off x="7422163" y="1642798"/>
            <a:ext cx="0" cy="44121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コネクタ 48">
            <a:extLst>
              <a:ext uri="{FF2B5EF4-FFF2-40B4-BE49-F238E27FC236}">
                <a16:creationId xmlns:a16="http://schemas.microsoft.com/office/drawing/2014/main" id="{9A624ACD-2A71-DE12-90FD-C36A7D4B0494}"/>
              </a:ext>
            </a:extLst>
          </p:cNvPr>
          <p:cNvCxnSpPr/>
          <p:nvPr/>
        </p:nvCxnSpPr>
        <p:spPr>
          <a:xfrm>
            <a:off x="7422163" y="1652635"/>
            <a:ext cx="146500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コネクタ 49">
            <a:extLst>
              <a:ext uri="{FF2B5EF4-FFF2-40B4-BE49-F238E27FC236}">
                <a16:creationId xmlns:a16="http://schemas.microsoft.com/office/drawing/2014/main" id="{1DD06A50-5BF5-4F26-9E9A-26B13A6B2C4F}"/>
              </a:ext>
            </a:extLst>
          </p:cNvPr>
          <p:cNvCxnSpPr>
            <a:cxnSpLocks/>
            <a:endCxn id="46" idx="0"/>
          </p:cNvCxnSpPr>
          <p:nvPr/>
        </p:nvCxnSpPr>
        <p:spPr>
          <a:xfrm>
            <a:off x="8887169" y="1642798"/>
            <a:ext cx="17425" cy="59994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テキスト ボックス 50">
                <a:extLst>
                  <a:ext uri="{FF2B5EF4-FFF2-40B4-BE49-F238E27FC236}">
                    <a16:creationId xmlns:a16="http://schemas.microsoft.com/office/drawing/2014/main" id="{1A546305-696F-A517-B03B-EF37CD5F6400}"/>
                  </a:ext>
                </a:extLst>
              </p:cNvPr>
              <p:cNvSpPr txBox="1"/>
              <p:nvPr/>
            </p:nvSpPr>
            <p:spPr>
              <a:xfrm>
                <a:off x="6154943" y="1166461"/>
                <a:ext cx="43964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ja-JP" altLang="en-US" b="1" dirty="0">
                    <a:solidFill>
                      <a:srgbClr val="FF0000"/>
                    </a:solidFill>
                  </a:rPr>
                  <a:t>パラメータ更新（ </a:t>
                </a:r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altLang="ja-JP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ja-JP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altLang="ja-JP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))=0</m:t>
                    </m:r>
                    <m:r>
                      <a:rPr lang="ja-JP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が</m:t>
                    </m:r>
                    <m:r>
                      <a:rPr lang="ja-JP" alt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目標</m:t>
                    </m:r>
                    <m:r>
                      <a:rPr lang="en-US" altLang="ja-JP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ja-JP" dirty="0">
                    <a:solidFill>
                      <a:srgbClr val="FF0000"/>
                    </a:solidFill>
                  </a:rPr>
                  <a:t>)</a:t>
                </a:r>
                <a:endParaRPr lang="ja-JP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51" name="テキスト ボックス 50">
                <a:extLst>
                  <a:ext uri="{FF2B5EF4-FFF2-40B4-BE49-F238E27FC236}">
                    <a16:creationId xmlns:a16="http://schemas.microsoft.com/office/drawing/2014/main" id="{1A546305-696F-A517-B03B-EF37CD5F64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4943" y="1166461"/>
                <a:ext cx="4396487" cy="369332"/>
              </a:xfrm>
              <a:prstGeom prst="rect">
                <a:avLst/>
              </a:prstGeom>
              <a:blipFill>
                <a:blip r:embed="rId14"/>
                <a:stretch>
                  <a:fillRect l="-1248" t="-8197" b="-2623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B384865E-8D25-A054-51CE-FEE8D93E46FC}"/>
              </a:ext>
            </a:extLst>
          </p:cNvPr>
          <p:cNvSpPr txBox="1"/>
          <p:nvPr/>
        </p:nvSpPr>
        <p:spPr>
          <a:xfrm>
            <a:off x="2617048" y="1532202"/>
            <a:ext cx="17913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/>
              <a:t>パラメータ固定</a:t>
            </a:r>
          </a:p>
        </p:txBody>
      </p:sp>
    </p:spTree>
    <p:extLst>
      <p:ext uri="{BB962C8B-B14F-4D97-AF65-F5344CB8AC3E}">
        <p14:creationId xmlns:p14="http://schemas.microsoft.com/office/powerpoint/2010/main" val="2791302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台形 1">
            <a:extLst>
              <a:ext uri="{FF2B5EF4-FFF2-40B4-BE49-F238E27FC236}">
                <a16:creationId xmlns:a16="http://schemas.microsoft.com/office/drawing/2014/main" id="{6FEE5A14-563A-2BCB-4C36-3B99D71EF48A}"/>
              </a:ext>
            </a:extLst>
          </p:cNvPr>
          <p:cNvSpPr/>
          <p:nvPr/>
        </p:nvSpPr>
        <p:spPr>
          <a:xfrm rot="16200000">
            <a:off x="3013512" y="1783783"/>
            <a:ext cx="904567" cy="1220737"/>
          </a:xfrm>
          <a:prstGeom prst="trapezoid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台形 2">
            <a:extLst>
              <a:ext uri="{FF2B5EF4-FFF2-40B4-BE49-F238E27FC236}">
                <a16:creationId xmlns:a16="http://schemas.microsoft.com/office/drawing/2014/main" id="{4FBB4D12-F8D5-101B-ED2C-06B32224E031}"/>
              </a:ext>
            </a:extLst>
          </p:cNvPr>
          <p:cNvSpPr/>
          <p:nvPr/>
        </p:nvSpPr>
        <p:spPr>
          <a:xfrm rot="5400000">
            <a:off x="6912178" y="2855204"/>
            <a:ext cx="870138" cy="1170038"/>
          </a:xfrm>
          <a:prstGeom prst="trapezoid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6510F14-213F-79D5-DD28-E508E4E4DB67}"/>
              </a:ext>
            </a:extLst>
          </p:cNvPr>
          <p:cNvSpPr/>
          <p:nvPr/>
        </p:nvSpPr>
        <p:spPr>
          <a:xfrm rot="10800000">
            <a:off x="1980169" y="1812518"/>
            <a:ext cx="186812" cy="11798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5C34DC44-B0C0-51D7-96DF-37F6EAB008F6}"/>
              </a:ext>
            </a:extLst>
          </p:cNvPr>
          <p:cNvCxnSpPr>
            <a:cxnSpLocks/>
          </p:cNvCxnSpPr>
          <p:nvPr/>
        </p:nvCxnSpPr>
        <p:spPr>
          <a:xfrm>
            <a:off x="2399071" y="2394153"/>
            <a:ext cx="37362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12B5AF2-EF64-C2D0-A71E-5629459C3203}"/>
                  </a:ext>
                </a:extLst>
              </p:cNvPr>
              <p:cNvSpPr txBox="1"/>
              <p:nvPr/>
            </p:nvSpPr>
            <p:spPr>
              <a:xfrm>
                <a:off x="1449044" y="2992389"/>
                <a:ext cx="124906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kumimoji="1" lang="en-US" altLang="ja-JP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Ν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12B5AF2-EF64-C2D0-A71E-5629459C32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044" y="2992389"/>
                <a:ext cx="1249060" cy="553998"/>
              </a:xfrm>
              <a:prstGeom prst="rect">
                <a:avLst/>
              </a:prstGeom>
              <a:blipFill>
                <a:blip r:embed="rId2"/>
                <a:stretch>
                  <a:fillRect l="-3902" r="-5854" b="-1648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33331B63-5EA8-CBD2-F629-0D6D33F91514}"/>
                  </a:ext>
                </a:extLst>
              </p:cNvPr>
              <p:cNvSpPr txBox="1"/>
              <p:nvPr/>
            </p:nvSpPr>
            <p:spPr>
              <a:xfrm>
                <a:off x="2984647" y="2215793"/>
                <a:ext cx="1091517" cy="6404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sz="20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33331B63-5EA8-CBD2-F629-0D6D33F91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647" y="2215793"/>
                <a:ext cx="1091517" cy="640496"/>
              </a:xfrm>
              <a:prstGeom prst="rect">
                <a:avLst/>
              </a:prstGeom>
              <a:blipFill>
                <a:blip r:embed="rId3"/>
                <a:stretch>
                  <a:fillRect r="-167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2C432A2E-19DC-1575-DDBB-4AF39A352437}"/>
              </a:ext>
            </a:extLst>
          </p:cNvPr>
          <p:cNvCxnSpPr>
            <a:cxnSpLocks/>
          </p:cNvCxnSpPr>
          <p:nvPr/>
        </p:nvCxnSpPr>
        <p:spPr>
          <a:xfrm>
            <a:off x="4170107" y="2394151"/>
            <a:ext cx="4018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食品, 部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C6629832-A2D9-EDE2-4A45-CCB59DEE17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112" t="1772" r="34231" b="52093"/>
          <a:stretch>
            <a:fillRect/>
          </a:stretch>
        </p:blipFill>
        <p:spPr>
          <a:xfrm>
            <a:off x="4751867" y="1812518"/>
            <a:ext cx="1220739" cy="11798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69F21C9F-17D9-0808-6C60-22A4D4AEAF38}"/>
                  </a:ext>
                </a:extLst>
              </p:cNvPr>
              <p:cNvSpPr txBox="1"/>
              <p:nvPr/>
            </p:nvSpPr>
            <p:spPr>
              <a:xfrm>
                <a:off x="4630963" y="2949219"/>
                <a:ext cx="1553630" cy="6689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b="1" dirty="0"/>
                  <a:t>Fake Image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69F21C9F-17D9-0808-6C60-22A4D4AEA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0963" y="2949219"/>
                <a:ext cx="1553630" cy="668901"/>
              </a:xfrm>
              <a:prstGeom prst="rect">
                <a:avLst/>
              </a:prstGeom>
              <a:blipFill>
                <a:blip r:embed="rId5"/>
                <a:stretch>
                  <a:fillRect l="-3529" t="-5455" r="-1961" b="-18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ED53E21-C586-0388-9BA2-77B3FD60B087}"/>
              </a:ext>
            </a:extLst>
          </p:cNvPr>
          <p:cNvSpPr txBox="1"/>
          <p:nvPr/>
        </p:nvSpPr>
        <p:spPr>
          <a:xfrm>
            <a:off x="2855323" y="2927101"/>
            <a:ext cx="1314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Generator</a:t>
            </a:r>
            <a:endParaRPr kumimoji="1" lang="ja-JP" altLang="en-US" b="1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90D2889-5D88-FE3B-4446-3F2CDBDDD6D1}"/>
              </a:ext>
            </a:extLst>
          </p:cNvPr>
          <p:cNvSpPr txBox="1"/>
          <p:nvPr/>
        </p:nvSpPr>
        <p:spPr>
          <a:xfrm>
            <a:off x="6611197" y="3875292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Discriminator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3FB47706-52F7-17EB-4A7A-860776DF158E}"/>
                  </a:ext>
                </a:extLst>
              </p:cNvPr>
              <p:cNvSpPr txBox="1"/>
              <p:nvPr/>
            </p:nvSpPr>
            <p:spPr>
              <a:xfrm>
                <a:off x="6827155" y="3259434"/>
                <a:ext cx="983346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3FB47706-52F7-17EB-4A7A-860776DF15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7155" y="3259434"/>
                <a:ext cx="983346" cy="615553"/>
              </a:xfrm>
              <a:prstGeom prst="rect">
                <a:avLst/>
              </a:prstGeom>
              <a:blipFill>
                <a:blip r:embed="rId6"/>
                <a:stretch>
                  <a:fillRect l="-4969" t="-1980" r="-807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C85695EA-DF99-CD2E-C14A-A6415F18DEFB}"/>
              </a:ext>
            </a:extLst>
          </p:cNvPr>
          <p:cNvCxnSpPr>
            <a:cxnSpLocks/>
          </p:cNvCxnSpPr>
          <p:nvPr/>
        </p:nvCxnSpPr>
        <p:spPr>
          <a:xfrm>
            <a:off x="5972605" y="2402454"/>
            <a:ext cx="310149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32B06E89-C410-B710-31BB-5E885D904BC1}"/>
              </a:ext>
            </a:extLst>
          </p:cNvPr>
          <p:cNvCxnSpPr>
            <a:cxnSpLocks/>
          </p:cNvCxnSpPr>
          <p:nvPr/>
        </p:nvCxnSpPr>
        <p:spPr>
          <a:xfrm>
            <a:off x="6282754" y="2394151"/>
            <a:ext cx="0" cy="10460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A116A7DC-186A-D0AF-DC13-26302F13E1D6}"/>
              </a:ext>
            </a:extLst>
          </p:cNvPr>
          <p:cNvCxnSpPr>
            <a:cxnSpLocks/>
          </p:cNvCxnSpPr>
          <p:nvPr/>
        </p:nvCxnSpPr>
        <p:spPr>
          <a:xfrm>
            <a:off x="6282754" y="3440223"/>
            <a:ext cx="4106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7B74E81-EEA9-6F2F-69F3-239861348464}"/>
              </a:ext>
            </a:extLst>
          </p:cNvPr>
          <p:cNvSpPr txBox="1"/>
          <p:nvPr/>
        </p:nvSpPr>
        <p:spPr>
          <a:xfrm>
            <a:off x="1333628" y="3642234"/>
            <a:ext cx="1479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Input Noise</a:t>
            </a:r>
            <a:endParaRPr kumimoji="1" lang="ja-JP" altLang="en-US" b="1" dirty="0"/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784D7F56-5642-E98D-DEDF-E72E16C4F120}"/>
              </a:ext>
            </a:extLst>
          </p:cNvPr>
          <p:cNvCxnSpPr>
            <a:cxnSpLocks/>
          </p:cNvCxnSpPr>
          <p:nvPr/>
        </p:nvCxnSpPr>
        <p:spPr>
          <a:xfrm>
            <a:off x="7932266" y="3446366"/>
            <a:ext cx="4106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596047BF-C72C-0955-8756-2ADF3D83F9DD}"/>
                  </a:ext>
                </a:extLst>
              </p:cNvPr>
              <p:cNvSpPr txBox="1"/>
              <p:nvPr/>
            </p:nvSpPr>
            <p:spPr>
              <a:xfrm>
                <a:off x="8539904" y="3248788"/>
                <a:ext cx="6476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0~1</m:t>
                      </m:r>
                    </m:oMath>
                  </m:oMathPara>
                </a14:m>
                <a:endParaRPr kumimoji="1" lang="en-US" altLang="ja-JP" sz="2400" dirty="0"/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596047BF-C72C-0955-8756-2ADF3D83F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9904" y="3248788"/>
                <a:ext cx="647613" cy="369332"/>
              </a:xfrm>
              <a:prstGeom prst="rect">
                <a:avLst/>
              </a:prstGeom>
              <a:blipFill>
                <a:blip r:embed="rId7"/>
                <a:stretch>
                  <a:fillRect l="-9434" r="-9434" b="-327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A395E5F-6818-F4D1-F716-DC647EE265A3}"/>
              </a:ext>
            </a:extLst>
          </p:cNvPr>
          <p:cNvSpPr txBox="1"/>
          <p:nvPr/>
        </p:nvSpPr>
        <p:spPr>
          <a:xfrm>
            <a:off x="8463335" y="3875292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Score</a:t>
            </a:r>
            <a:endParaRPr kumimoji="1" lang="ja-JP" altLang="en-US" b="1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A2C41F5-B18C-AE0D-36D7-A05393319F6A}"/>
              </a:ext>
            </a:extLst>
          </p:cNvPr>
          <p:cNvSpPr txBox="1"/>
          <p:nvPr/>
        </p:nvSpPr>
        <p:spPr>
          <a:xfrm>
            <a:off x="6451580" y="2613376"/>
            <a:ext cx="17913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/>
              <a:t>パラメータ固定</a:t>
            </a:r>
          </a:p>
        </p:txBody>
      </p: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E499C228-4669-22FE-3FCE-7B8EF60DAB61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8863710" y="1474839"/>
            <a:ext cx="1" cy="177394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5102CD59-FE8C-4C5E-27DD-CC5E5C97B36D}"/>
              </a:ext>
            </a:extLst>
          </p:cNvPr>
          <p:cNvCxnSpPr>
            <a:cxnSpLocks/>
          </p:cNvCxnSpPr>
          <p:nvPr/>
        </p:nvCxnSpPr>
        <p:spPr>
          <a:xfrm flipV="1">
            <a:off x="3476041" y="1474839"/>
            <a:ext cx="0" cy="49940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99D5B290-D981-187E-C5F8-B9C248D7861D}"/>
              </a:ext>
            </a:extLst>
          </p:cNvPr>
          <p:cNvCxnSpPr>
            <a:cxnSpLocks/>
          </p:cNvCxnSpPr>
          <p:nvPr/>
        </p:nvCxnSpPr>
        <p:spPr>
          <a:xfrm>
            <a:off x="3476041" y="1474839"/>
            <a:ext cx="540022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二等辺三角形 33">
            <a:extLst>
              <a:ext uri="{FF2B5EF4-FFF2-40B4-BE49-F238E27FC236}">
                <a16:creationId xmlns:a16="http://schemas.microsoft.com/office/drawing/2014/main" id="{07D78D6A-C1A1-BA1C-F27E-9B2438F76728}"/>
              </a:ext>
            </a:extLst>
          </p:cNvPr>
          <p:cNvSpPr/>
          <p:nvPr/>
        </p:nvSpPr>
        <p:spPr>
          <a:xfrm rot="10800000">
            <a:off x="3403476" y="1781752"/>
            <a:ext cx="186805" cy="240886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1038679D-C8D3-CDF1-0D68-0934B145DFAD}"/>
                  </a:ext>
                </a:extLst>
              </p:cNvPr>
              <p:cNvSpPr txBox="1"/>
              <p:nvPr/>
            </p:nvSpPr>
            <p:spPr>
              <a:xfrm>
                <a:off x="4170107" y="1076458"/>
                <a:ext cx="4396487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ja-JP" altLang="en-US" b="1" dirty="0">
                    <a:solidFill>
                      <a:srgbClr val="FF0000"/>
                    </a:solidFill>
                  </a:rPr>
                  <a:t>パラメータ更新（ </a:t>
                </a:r>
                <a14:m>
                  <m:oMath xmlns:m="http://schemas.openxmlformats.org/officeDocument/2006/math">
                    <m:r>
                      <a:rPr lang="en-US" altLang="ja-JP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altLang="ja-JP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</m:d>
                    <m:r>
                      <a:rPr lang="en-US" altLang="ja-JP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ja-JP" altLang="en-US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が</m:t>
                    </m:r>
                    <m:r>
                      <a:rPr lang="ja-JP" altLang="en-US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目標</m:t>
                    </m:r>
                    <m:r>
                      <a:rPr lang="en-US" altLang="ja-JP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ja-JP" dirty="0">
                    <a:solidFill>
                      <a:srgbClr val="FF0000"/>
                    </a:solidFill>
                  </a:rPr>
                  <a:t>)</a:t>
                </a:r>
                <a:endParaRPr lang="ja-JP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1038679D-C8D3-CDF1-0D68-0934B145D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0107" y="1076458"/>
                <a:ext cx="4396487" cy="404983"/>
              </a:xfrm>
              <a:prstGeom prst="rect">
                <a:avLst/>
              </a:prstGeom>
              <a:blipFill>
                <a:blip r:embed="rId8"/>
                <a:stretch>
                  <a:fillRect l="-1110" t="-3030" b="-227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21478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E1E6990-4066-7F9E-B435-19A90BB6DACF}"/>
              </a:ext>
            </a:extLst>
          </p:cNvPr>
          <p:cNvSpPr/>
          <p:nvPr/>
        </p:nvSpPr>
        <p:spPr>
          <a:xfrm>
            <a:off x="4084112" y="1678079"/>
            <a:ext cx="3100672" cy="11398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台形 1">
            <a:extLst>
              <a:ext uri="{FF2B5EF4-FFF2-40B4-BE49-F238E27FC236}">
                <a16:creationId xmlns:a16="http://schemas.microsoft.com/office/drawing/2014/main" id="{7A9A51D7-408E-2E75-5B4B-A64FEFC2DFF9}"/>
              </a:ext>
            </a:extLst>
          </p:cNvPr>
          <p:cNvSpPr/>
          <p:nvPr/>
        </p:nvSpPr>
        <p:spPr>
          <a:xfrm rot="5400000">
            <a:off x="2536823" y="1714662"/>
            <a:ext cx="870138" cy="1170038"/>
          </a:xfrm>
          <a:prstGeom prst="trapezoid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566ACD11-8EC4-B9CB-0251-BF878E05DFF7}"/>
                  </a:ext>
                </a:extLst>
              </p:cNvPr>
              <p:cNvSpPr txBox="1"/>
              <p:nvPr/>
            </p:nvSpPr>
            <p:spPr>
              <a:xfrm>
                <a:off x="2386873" y="2119197"/>
                <a:ext cx="1038426" cy="64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kumimoji="1" lang="ja-JP" altLang="en-US" sz="20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566ACD11-8EC4-B9CB-0251-BF878E05D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873" y="2119197"/>
                <a:ext cx="1038426" cy="642868"/>
              </a:xfrm>
              <a:prstGeom prst="rect">
                <a:avLst/>
              </a:prstGeom>
              <a:blipFill>
                <a:blip r:embed="rId2"/>
                <a:stretch>
                  <a:fillRect t="-952" r="-235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6CD6B392-3CA0-3C65-44FE-90B5AAC366B7}"/>
              </a:ext>
            </a:extLst>
          </p:cNvPr>
          <p:cNvCxnSpPr>
            <a:cxnSpLocks/>
          </p:cNvCxnSpPr>
          <p:nvPr/>
        </p:nvCxnSpPr>
        <p:spPr>
          <a:xfrm>
            <a:off x="3622461" y="2299681"/>
            <a:ext cx="37362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EA0A73CB-6DF7-636F-7257-71FEBF7D87AF}"/>
                  </a:ext>
                </a:extLst>
              </p:cNvPr>
              <p:cNvSpPr txBox="1"/>
              <p:nvPr/>
            </p:nvSpPr>
            <p:spPr>
              <a:xfrm>
                <a:off x="4180440" y="2091882"/>
                <a:ext cx="870431" cy="64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ja-JP" altLang="en-US" sz="2000" i="1"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200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ja-JP" altLang="en-US" sz="2000" i="1"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EA0A73CB-6DF7-636F-7257-71FEBF7D8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0440" y="2091882"/>
                <a:ext cx="870431" cy="6428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図 6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0A283DAE-633C-3E3C-5C21-5C1122E9C6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584" y="1710840"/>
            <a:ext cx="1038426" cy="1051440"/>
          </a:xfrm>
          <a:prstGeom prst="rect">
            <a:avLst/>
          </a:prstGeom>
        </p:spPr>
      </p:pic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7352A507-DCFE-9CFF-3F29-DCE0492074CF}"/>
              </a:ext>
            </a:extLst>
          </p:cNvPr>
          <p:cNvCxnSpPr>
            <a:cxnSpLocks/>
          </p:cNvCxnSpPr>
          <p:nvPr/>
        </p:nvCxnSpPr>
        <p:spPr>
          <a:xfrm>
            <a:off x="1910007" y="2292552"/>
            <a:ext cx="37362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台形 9">
            <a:extLst>
              <a:ext uri="{FF2B5EF4-FFF2-40B4-BE49-F238E27FC236}">
                <a16:creationId xmlns:a16="http://schemas.microsoft.com/office/drawing/2014/main" id="{131FE11F-4435-C3CF-C0E1-C66BD0D48C28}"/>
              </a:ext>
            </a:extLst>
          </p:cNvPr>
          <p:cNvSpPr/>
          <p:nvPr/>
        </p:nvSpPr>
        <p:spPr>
          <a:xfrm rot="16200000">
            <a:off x="7905264" y="1687341"/>
            <a:ext cx="904567" cy="1220737"/>
          </a:xfrm>
          <a:prstGeom prst="trapezoid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C44FBF01-EAB2-A3D5-5BEC-EF4513684283}"/>
              </a:ext>
            </a:extLst>
          </p:cNvPr>
          <p:cNvCxnSpPr>
            <a:cxnSpLocks/>
          </p:cNvCxnSpPr>
          <p:nvPr/>
        </p:nvCxnSpPr>
        <p:spPr>
          <a:xfrm>
            <a:off x="7222290" y="2320900"/>
            <a:ext cx="37362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12D3A80A-5A43-8B4B-E7F5-32653465190F}"/>
                  </a:ext>
                </a:extLst>
              </p:cNvPr>
              <p:cNvSpPr txBox="1"/>
              <p:nvPr/>
            </p:nvSpPr>
            <p:spPr>
              <a:xfrm>
                <a:off x="4161512" y="3277902"/>
                <a:ext cx="2696308" cy="6428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ja-JP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ja-JP" altLang="en-US" sz="20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ja-JP" altLang="en-US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</m:e>
                      </m:acc>
                      <m:r>
                        <a:rPr lang="en-US" altLang="ja-JP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ja-JP" altLang="en-US" sz="2000" i="1" smtClean="0">
                          <a:latin typeface="Cambria Math" panose="02040503050406030204" pitchFamily="18" charset="0"/>
                        </a:rPr>
                        <m:t>𝜀</m:t>
                      </m:r>
                      <m:sSub>
                        <m:sSubPr>
                          <m:ctrlPr>
                            <a:rPr lang="en-US" altLang="ja-JP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200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ja-JP" altLang="en-US" sz="2000" i="1"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  <m:r>
                        <a:rPr lang="en-US" altLang="ja-JP" sz="20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ja-JP" altLang="en-US" sz="2000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US" altLang="ja-JP" sz="2000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altLang="ja-JP" sz="2000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altLang="ja-JP" sz="2000" i="1">
                          <a:latin typeface="Cambria Math" panose="02040503050406030204" pitchFamily="18" charset="0"/>
                        </a:rPr>
                        <m:t>(0,</m:t>
                      </m:r>
                      <m:r>
                        <a:rPr lang="en-US" altLang="ja-JP" sz="20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altLang="ja-JP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12D3A80A-5A43-8B4B-E7F5-326534651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1512" y="3277902"/>
                <a:ext cx="2696308" cy="642868"/>
              </a:xfrm>
              <a:prstGeom prst="rect">
                <a:avLst/>
              </a:prstGeom>
              <a:blipFill>
                <a:blip r:embed="rId5"/>
                <a:stretch>
                  <a:fillRect t="-761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C94C41A-0DD0-F32E-BE7D-8E6D9041B647}"/>
              </a:ext>
            </a:extLst>
          </p:cNvPr>
          <p:cNvSpPr txBox="1"/>
          <p:nvPr/>
        </p:nvSpPr>
        <p:spPr>
          <a:xfrm>
            <a:off x="2283633" y="2793359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推論モデル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438204A9-D8F4-1616-69D6-58AF49D37024}"/>
                  </a:ext>
                </a:extLst>
              </p:cNvPr>
              <p:cNvSpPr txBox="1"/>
              <p:nvPr/>
            </p:nvSpPr>
            <p:spPr>
              <a:xfrm>
                <a:off x="870184" y="2774787"/>
                <a:ext cx="9353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ja-JP" altLang="en-US" b="1" dirty="0"/>
                  <a:t>データ </a:t>
                </a:r>
                <a:endParaRPr lang="en-US" altLang="ja-JP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sub>
                      </m:sSub>
                    </m:oMath>
                  </m:oMathPara>
                </a14:m>
                <a:endParaRPr kumimoji="1" lang="ja-JP" altLang="en-US" b="1" dirty="0"/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438204A9-D8F4-1616-69D6-58AF49D37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184" y="2774787"/>
                <a:ext cx="935301" cy="646331"/>
              </a:xfrm>
              <a:prstGeom prst="rect">
                <a:avLst/>
              </a:prstGeom>
              <a:blipFill>
                <a:blip r:embed="rId6"/>
                <a:stretch>
                  <a:fillRect l="-5882" t="-4717" r="-1307" b="-377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1528ABD-67E3-E825-B113-55CB6A487624}"/>
              </a:ext>
            </a:extLst>
          </p:cNvPr>
          <p:cNvSpPr txBox="1"/>
          <p:nvPr/>
        </p:nvSpPr>
        <p:spPr>
          <a:xfrm>
            <a:off x="4839337" y="279335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潜在</a:t>
            </a:r>
            <a:r>
              <a:rPr lang="ja-JP" altLang="en-US" b="1" dirty="0"/>
              <a:t>空間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9DB6D8CB-3023-CE85-603A-6D3F71283896}"/>
                  </a:ext>
                </a:extLst>
              </p:cNvPr>
              <p:cNvSpPr txBox="1"/>
              <p:nvPr/>
            </p:nvSpPr>
            <p:spPr>
              <a:xfrm>
                <a:off x="5617654" y="2095510"/>
                <a:ext cx="1604636" cy="6428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ja-JP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altLang="ja-JP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ja-JP" altLang="en-US" sz="2000" i="1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ja-JP" altLang="en-US" sz="2000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</m:e>
                      </m:acc>
                      <m:r>
                        <a:rPr lang="en-US" altLang="ja-JP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ja-JP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200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ja-JP" altLang="en-US" sz="2000" i="1">
                              <a:latin typeface="Cambria Math" panose="02040503050406030204" pitchFamily="18" charset="0"/>
                            </a:rPr>
                            <m:t>𝜙</m:t>
                          </m:r>
                        </m:sub>
                      </m:sSub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9DB6D8CB-3023-CE85-603A-6D3F71283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7654" y="2095510"/>
                <a:ext cx="1604636" cy="642868"/>
              </a:xfrm>
              <a:prstGeom prst="rect">
                <a:avLst/>
              </a:prstGeom>
              <a:blipFill>
                <a:blip r:embed="rId7"/>
                <a:stretch>
                  <a:fillRect t="-7619" r="-418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円弧 18">
            <a:extLst>
              <a:ext uri="{FF2B5EF4-FFF2-40B4-BE49-F238E27FC236}">
                <a16:creationId xmlns:a16="http://schemas.microsoft.com/office/drawing/2014/main" id="{A2C31166-D2DA-47E0-EA8E-8935EB8E9696}"/>
              </a:ext>
            </a:extLst>
          </p:cNvPr>
          <p:cNvSpPr/>
          <p:nvPr/>
        </p:nvSpPr>
        <p:spPr>
          <a:xfrm>
            <a:off x="4996817" y="2110947"/>
            <a:ext cx="658813" cy="222466"/>
          </a:xfrm>
          <a:prstGeom prst="arc">
            <a:avLst>
              <a:gd name="adj1" fmla="val 11195691"/>
              <a:gd name="adj2" fmla="val 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二等辺三角形 19">
            <a:extLst>
              <a:ext uri="{FF2B5EF4-FFF2-40B4-BE49-F238E27FC236}">
                <a16:creationId xmlns:a16="http://schemas.microsoft.com/office/drawing/2014/main" id="{5ABC167A-9706-CEE6-1578-95410DEDDC29}"/>
              </a:ext>
            </a:extLst>
          </p:cNvPr>
          <p:cNvSpPr/>
          <p:nvPr/>
        </p:nvSpPr>
        <p:spPr>
          <a:xfrm rot="7938281">
            <a:off x="5569680" y="2135597"/>
            <a:ext cx="129536" cy="142240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204B7BF4-AB11-6572-0F8A-43B3779F51B5}"/>
                  </a:ext>
                </a:extLst>
              </p:cNvPr>
              <p:cNvSpPr txBox="1"/>
              <p:nvPr/>
            </p:nvSpPr>
            <p:spPr>
              <a:xfrm>
                <a:off x="7843597" y="2091882"/>
                <a:ext cx="1039708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ja-JP" altLang="en-US" sz="20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204B7BF4-AB11-6572-0F8A-43B3779F51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597" y="2091882"/>
                <a:ext cx="1039708" cy="615553"/>
              </a:xfrm>
              <a:prstGeom prst="rect">
                <a:avLst/>
              </a:prstGeom>
              <a:blipFill>
                <a:blip r:embed="rId8"/>
                <a:stretch>
                  <a:fillRect t="-990" r="-176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031059B-AB9A-02FF-B61F-3A3A49E8827B}"/>
              </a:ext>
            </a:extLst>
          </p:cNvPr>
          <p:cNvSpPr txBox="1"/>
          <p:nvPr/>
        </p:nvSpPr>
        <p:spPr>
          <a:xfrm>
            <a:off x="7747179" y="2793359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生成モデル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F19C08E-4825-A19A-4F69-F911D7B98BF1}"/>
              </a:ext>
            </a:extLst>
          </p:cNvPr>
          <p:cNvSpPr txBox="1"/>
          <p:nvPr/>
        </p:nvSpPr>
        <p:spPr>
          <a:xfrm flipH="1">
            <a:off x="4161313" y="1670443"/>
            <a:ext cx="3100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Reparameterization trick</a:t>
            </a:r>
            <a:endParaRPr kumimoji="1" lang="ja-JP" altLang="en-US" dirty="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532B5D7-D7A9-8748-824D-638031A08F76}"/>
              </a:ext>
            </a:extLst>
          </p:cNvPr>
          <p:cNvCxnSpPr>
            <a:cxnSpLocks/>
          </p:cNvCxnSpPr>
          <p:nvPr/>
        </p:nvCxnSpPr>
        <p:spPr>
          <a:xfrm>
            <a:off x="9028230" y="2320900"/>
            <a:ext cx="37362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図 24" descr="食品, 部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1FF911D-63EF-1301-7449-02C30D8D2AE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34112" t="1772" r="34231" b="52093"/>
          <a:stretch>
            <a:fillRect/>
          </a:stretch>
        </p:blipFill>
        <p:spPr>
          <a:xfrm>
            <a:off x="9530311" y="1638086"/>
            <a:ext cx="1220739" cy="11798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AFFEC174-0B41-2E12-823D-28216A51F9A8}"/>
                  </a:ext>
                </a:extLst>
              </p:cNvPr>
              <p:cNvSpPr txBox="1"/>
              <p:nvPr/>
            </p:nvSpPr>
            <p:spPr>
              <a:xfrm>
                <a:off x="9586682" y="2781302"/>
                <a:ext cx="1107996" cy="6689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b="1" dirty="0"/>
                  <a:t>生成画像</a:t>
                </a:r>
                <a:endParaRPr kumimoji="1" lang="en-US" altLang="ja-JP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ja-JP" alt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AFFEC174-0B41-2E12-823D-28216A51F9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6682" y="2781302"/>
                <a:ext cx="1107996" cy="668901"/>
              </a:xfrm>
              <a:prstGeom prst="rect">
                <a:avLst/>
              </a:prstGeom>
              <a:blipFill>
                <a:blip r:embed="rId10"/>
                <a:stretch>
                  <a:fillRect l="-4972" t="-4545" r="-497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AC46CDC1-4716-B305-3A44-E332E0DACC28}"/>
              </a:ext>
            </a:extLst>
          </p:cNvPr>
          <p:cNvCxnSpPr>
            <a:cxnSpLocks/>
          </p:cNvCxnSpPr>
          <p:nvPr/>
        </p:nvCxnSpPr>
        <p:spPr>
          <a:xfrm>
            <a:off x="1351280" y="4053840"/>
            <a:ext cx="882000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4BFCAFED-FB3F-D453-015B-DF9D14F25D68}"/>
              </a:ext>
            </a:extLst>
          </p:cNvPr>
          <p:cNvCxnSpPr/>
          <p:nvPr/>
        </p:nvCxnSpPr>
        <p:spPr>
          <a:xfrm flipV="1">
            <a:off x="1351280" y="3545840"/>
            <a:ext cx="0" cy="5080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0CBFF413-84E6-E2E4-0E74-8CFCF8F9BC2B}"/>
              </a:ext>
            </a:extLst>
          </p:cNvPr>
          <p:cNvCxnSpPr/>
          <p:nvPr/>
        </p:nvCxnSpPr>
        <p:spPr>
          <a:xfrm flipV="1">
            <a:off x="10180320" y="3545840"/>
            <a:ext cx="0" cy="5080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45813336-D1DC-1489-542D-59A85D89C5A9}"/>
                  </a:ext>
                </a:extLst>
              </p:cNvPr>
              <p:cNvSpPr txBox="1"/>
              <p:nvPr/>
            </p:nvSpPr>
            <p:spPr>
              <a:xfrm>
                <a:off x="2002923" y="4148285"/>
                <a:ext cx="7888819" cy="402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b="1" dirty="0"/>
                  <a:t>再構成誤差＝二乗誤差　</a:t>
                </a:r>
                <a:r>
                  <a:rPr kumimoji="1" lang="ja-JP" altLang="en-US" dirty="0"/>
                  <a:t>（</a:t>
                </a:r>
                <a:r>
                  <a:rPr lang="en-US" altLang="ja-JP" dirty="0"/>
                  <a:t> </a:t>
                </a:r>
                <a14:m>
                  <m:oMath xmlns:m="http://schemas.openxmlformats.org/officeDocument/2006/math">
                    <m:r>
                      <a:rPr lang="ja-JP" altLang="en-US" i="1" dirty="0" smtClean="0">
                        <a:latin typeface="Cambria Math" panose="02040503050406030204" pitchFamily="18" charset="0"/>
                      </a:rPr>
                      <m:t>潜在空間</m:t>
                    </m:r>
                    <m:r>
                      <a:rPr lang="ja-JP" altLang="en-US" i="1" dirty="0">
                        <a:latin typeface="Cambria Math" panose="02040503050406030204" pitchFamily="18" charset="0"/>
                      </a:rPr>
                      <m:t>の</m:t>
                    </m:r>
                    <m:r>
                      <a:rPr lang="en-US" altLang="ja-JP" b="0" i="1" dirty="0" smtClean="0">
                        <a:latin typeface="Cambria Math" panose="02040503050406030204" pitchFamily="18" charset="0"/>
                      </a:rPr>
                      <m:t>𝐾𝐿</m:t>
                    </m:r>
                    <m:r>
                      <a:rPr lang="ja-JP" altLang="en-US" i="1" dirty="0">
                        <a:latin typeface="Cambria Math" panose="02040503050406030204" pitchFamily="18" charset="0"/>
                      </a:rPr>
                      <m:t>最小化</m:t>
                    </m:r>
                    <m:r>
                      <a:rPr lang="ja-JP" altLang="en-US" i="1" dirty="0" smtClean="0">
                        <a:latin typeface="Cambria Math" panose="02040503050406030204" pitchFamily="18" charset="0"/>
                      </a:rPr>
                      <m:t>：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𝐾𝐿</m:t>
                    </m:r>
                    <m:r>
                      <a:rPr lang="en-US" altLang="ja-JP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ja-JP" altLang="en-US" i="1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d>
                      <m:dPr>
                        <m:ctrlPr>
                          <a:rPr lang="en-US" altLang="ja-JP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e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m:rPr>
                        <m:nor/>
                      </m:rPr>
                      <a:rPr lang="en-US" altLang="ja-JP" dirty="0"/>
                      <m:t> ||</m:t>
                    </m:r>
                    <m:r>
                      <a:rPr lang="en-US" altLang="ja-JP" b="0" i="1" dirty="0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altLang="ja-JP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ja-JP" altLang="en-US" dirty="0"/>
                  <a:t>）</a:t>
                </a:r>
              </a:p>
            </p:txBody>
          </p:sp>
        </mc:Choice>
        <mc:Fallback xmlns="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45813336-D1DC-1489-542D-59A85D89C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2923" y="4148285"/>
                <a:ext cx="7888819" cy="402611"/>
              </a:xfrm>
              <a:prstGeom prst="rect">
                <a:avLst/>
              </a:prstGeom>
              <a:blipFill>
                <a:blip r:embed="rId11"/>
                <a:stretch>
                  <a:fillRect l="-696" t="-4478" b="-1791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67017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DADC1-F6DB-E262-D28A-5BBC5550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ECEF4EED-1DEE-37BD-2F60-A635DC0891DD}"/>
              </a:ext>
            </a:extLst>
          </p:cNvPr>
          <p:cNvSpPr/>
          <p:nvPr/>
        </p:nvSpPr>
        <p:spPr>
          <a:xfrm>
            <a:off x="5429459" y="1249680"/>
            <a:ext cx="5044748" cy="217932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6FC4D6A1-1C69-2F75-5566-882E6830293F}"/>
              </a:ext>
            </a:extLst>
          </p:cNvPr>
          <p:cNvSpPr/>
          <p:nvPr/>
        </p:nvSpPr>
        <p:spPr>
          <a:xfrm>
            <a:off x="233680" y="1249680"/>
            <a:ext cx="5044748" cy="217932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台形 1">
            <a:extLst>
              <a:ext uri="{FF2B5EF4-FFF2-40B4-BE49-F238E27FC236}">
                <a16:creationId xmlns:a16="http://schemas.microsoft.com/office/drawing/2014/main" id="{459895C7-AF29-1E55-56B9-564AE98C6C9A}"/>
              </a:ext>
            </a:extLst>
          </p:cNvPr>
          <p:cNvSpPr/>
          <p:nvPr/>
        </p:nvSpPr>
        <p:spPr>
          <a:xfrm rot="16200000">
            <a:off x="7005723" y="1371529"/>
            <a:ext cx="904567" cy="1220737"/>
          </a:xfrm>
          <a:prstGeom prst="trapezoid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台形 2">
            <a:extLst>
              <a:ext uri="{FF2B5EF4-FFF2-40B4-BE49-F238E27FC236}">
                <a16:creationId xmlns:a16="http://schemas.microsoft.com/office/drawing/2014/main" id="{BFAD9A81-DCAC-ED47-5DB7-843B5333FBD2}"/>
              </a:ext>
            </a:extLst>
          </p:cNvPr>
          <p:cNvSpPr/>
          <p:nvPr/>
        </p:nvSpPr>
        <p:spPr>
          <a:xfrm rot="5400000">
            <a:off x="2524713" y="1491247"/>
            <a:ext cx="870138" cy="1170038"/>
          </a:xfrm>
          <a:prstGeom prst="trapezoid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ACD934A-A78D-F64C-9358-E156782AA34A}"/>
              </a:ext>
            </a:extLst>
          </p:cNvPr>
          <p:cNvSpPr/>
          <p:nvPr/>
        </p:nvSpPr>
        <p:spPr>
          <a:xfrm rot="10800000">
            <a:off x="5972380" y="1400264"/>
            <a:ext cx="186812" cy="117987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DB0E30CA-9D0D-AA33-D524-3DD7CD797008}"/>
              </a:ext>
            </a:extLst>
          </p:cNvPr>
          <p:cNvCxnSpPr>
            <a:cxnSpLocks/>
          </p:cNvCxnSpPr>
          <p:nvPr/>
        </p:nvCxnSpPr>
        <p:spPr>
          <a:xfrm>
            <a:off x="6391282" y="1981899"/>
            <a:ext cx="37362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47EE57DB-0697-D094-B005-5632B61A1006}"/>
                  </a:ext>
                </a:extLst>
              </p:cNvPr>
              <p:cNvSpPr txBox="1"/>
              <p:nvPr/>
            </p:nvSpPr>
            <p:spPr>
              <a:xfrm>
                <a:off x="5561142" y="2622689"/>
                <a:ext cx="100674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l-GR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Ν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47EE57DB-0697-D094-B005-5632B61A10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1142" y="2622689"/>
                <a:ext cx="1006749" cy="276999"/>
              </a:xfrm>
              <a:prstGeom prst="rect">
                <a:avLst/>
              </a:prstGeom>
              <a:blipFill>
                <a:blip r:embed="rId3"/>
                <a:stretch>
                  <a:fillRect l="-2424" t="-2174" r="-7273" b="-3260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71E8EF29-3843-6E8E-0CC7-E58C2216367C}"/>
                  </a:ext>
                </a:extLst>
              </p:cNvPr>
              <p:cNvSpPr txBox="1"/>
              <p:nvPr/>
            </p:nvSpPr>
            <p:spPr>
              <a:xfrm>
                <a:off x="7058998" y="1818628"/>
                <a:ext cx="803682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71E8EF29-3843-6E8E-0CC7-E58C22163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8998" y="1818628"/>
                <a:ext cx="803682" cy="615553"/>
              </a:xfrm>
              <a:prstGeom prst="rect">
                <a:avLst/>
              </a:prstGeom>
              <a:blipFill>
                <a:blip r:embed="rId4"/>
                <a:stretch>
                  <a:fillRect t="-9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792E4A4E-BBC8-D72C-EDC1-0662569F1B81}"/>
              </a:ext>
            </a:extLst>
          </p:cNvPr>
          <p:cNvCxnSpPr>
            <a:cxnSpLocks/>
          </p:cNvCxnSpPr>
          <p:nvPr/>
        </p:nvCxnSpPr>
        <p:spPr>
          <a:xfrm>
            <a:off x="8162318" y="1981897"/>
            <a:ext cx="4018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18C3412-4508-00B4-4B20-2D7C4330F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207" y="1439631"/>
            <a:ext cx="1220739" cy="1236038"/>
          </a:xfrm>
          <a:prstGeom prst="rect">
            <a:avLst/>
          </a:prstGeom>
        </p:spPr>
      </p:pic>
      <p:pic>
        <p:nvPicPr>
          <p:cNvPr id="11" name="図 10" descr="食品, 部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A9426E95-0ABE-6566-0759-A714E3D88AF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112" t="1772" r="34231" b="52093"/>
          <a:stretch>
            <a:fillRect/>
          </a:stretch>
        </p:blipFill>
        <p:spPr>
          <a:xfrm>
            <a:off x="8744078" y="1400264"/>
            <a:ext cx="1220739" cy="11798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DE44E3DF-2E8B-7810-6E20-CA648C3CC28F}"/>
                  </a:ext>
                </a:extLst>
              </p:cNvPr>
              <p:cNvSpPr txBox="1"/>
              <p:nvPr/>
            </p:nvSpPr>
            <p:spPr>
              <a:xfrm>
                <a:off x="8838021" y="2580135"/>
                <a:ext cx="1107996" cy="6689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b="1" dirty="0"/>
                  <a:t>生成画像</a:t>
                </a:r>
                <a:endParaRPr kumimoji="1" lang="en-US" altLang="ja-JP" b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ja-JP" alt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DE44E3DF-2E8B-7810-6E20-CA648C3CC2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8021" y="2580135"/>
                <a:ext cx="1107996" cy="668901"/>
              </a:xfrm>
              <a:prstGeom prst="rect">
                <a:avLst/>
              </a:prstGeom>
              <a:blipFill>
                <a:blip r:embed="rId7"/>
                <a:stretch>
                  <a:fillRect l="-4945" t="-4545" r="-43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97ED599-E1A7-E7CB-832F-DE60E287DCEF}"/>
              </a:ext>
            </a:extLst>
          </p:cNvPr>
          <p:cNvSpPr txBox="1"/>
          <p:nvPr/>
        </p:nvSpPr>
        <p:spPr>
          <a:xfrm>
            <a:off x="6847534" y="2514847"/>
            <a:ext cx="13147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Generator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09A9F0EC-853D-E3A3-6FB1-CF4144667160}"/>
                  </a:ext>
                </a:extLst>
              </p:cNvPr>
              <p:cNvSpPr txBox="1"/>
              <p:nvPr/>
            </p:nvSpPr>
            <p:spPr>
              <a:xfrm>
                <a:off x="724581" y="2671816"/>
                <a:ext cx="113178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b="1" dirty="0"/>
                  <a:t>正解画像</a:t>
                </a:r>
                <a:r>
                  <a:rPr kumimoji="1" lang="en-US" altLang="ja-JP" b="1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en-US" altLang="ja-JP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09A9F0EC-853D-E3A3-6FB1-CF4144667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581" y="2671816"/>
                <a:ext cx="1131782" cy="646331"/>
              </a:xfrm>
              <a:prstGeom prst="rect">
                <a:avLst/>
              </a:prstGeom>
              <a:blipFill>
                <a:blip r:embed="rId8"/>
                <a:stretch>
                  <a:fillRect l="-4839" t="-4717" r="-2151" b="-377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DF9FF49-B08B-9FBB-F4D8-E2644E50F78F}"/>
              </a:ext>
            </a:extLst>
          </p:cNvPr>
          <p:cNvSpPr txBox="1"/>
          <p:nvPr/>
        </p:nvSpPr>
        <p:spPr>
          <a:xfrm>
            <a:off x="2223732" y="2511335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Discriminator</a:t>
            </a:r>
            <a:endParaRPr kumimoji="1" lang="ja-JP" alt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E182646C-AD14-A8D1-E492-B10630B82A74}"/>
                  </a:ext>
                </a:extLst>
              </p:cNvPr>
              <p:cNvSpPr txBox="1"/>
              <p:nvPr/>
            </p:nvSpPr>
            <p:spPr>
              <a:xfrm>
                <a:off x="2553386" y="1895782"/>
                <a:ext cx="830740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ja-JP" sz="2000" dirty="0"/>
              </a:p>
              <a:p>
                <a:endParaRPr kumimoji="1" lang="ja-JP" altLang="en-US" sz="2000" dirty="0"/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E182646C-AD14-A8D1-E492-B10630B82A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3386" y="1895782"/>
                <a:ext cx="830740" cy="615553"/>
              </a:xfrm>
              <a:prstGeom prst="rect">
                <a:avLst/>
              </a:prstGeom>
              <a:blipFill>
                <a:blip r:embed="rId9"/>
                <a:stretch>
                  <a:fillRect t="-9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363FFB3E-A4AC-1D2D-46E6-DB3E9E081871}"/>
              </a:ext>
            </a:extLst>
          </p:cNvPr>
          <p:cNvSpPr txBox="1"/>
          <p:nvPr/>
        </p:nvSpPr>
        <p:spPr>
          <a:xfrm>
            <a:off x="5510518" y="290423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潜在変数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728ECCE-E456-373C-F0A3-262C466BC365}"/>
              </a:ext>
            </a:extLst>
          </p:cNvPr>
          <p:cNvCxnSpPr>
            <a:cxnSpLocks/>
          </p:cNvCxnSpPr>
          <p:nvPr/>
        </p:nvCxnSpPr>
        <p:spPr>
          <a:xfrm>
            <a:off x="3544801" y="2082409"/>
            <a:ext cx="4106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D5A832C3-560E-F18E-285F-36BB958605CE}"/>
                  </a:ext>
                </a:extLst>
              </p:cNvPr>
              <p:cNvSpPr txBox="1"/>
              <p:nvPr/>
            </p:nvSpPr>
            <p:spPr>
              <a:xfrm>
                <a:off x="4152439" y="1884831"/>
                <a:ext cx="6476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0~1</m:t>
                      </m:r>
                    </m:oMath>
                  </m:oMathPara>
                </a14:m>
                <a:endParaRPr kumimoji="1" lang="en-US" altLang="ja-JP" sz="2400" dirty="0"/>
              </a:p>
            </p:txBody>
          </p:sp>
        </mc:Choice>
        <mc:Fallback xmlns="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D5A832C3-560E-F18E-285F-36BB95860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439" y="1884831"/>
                <a:ext cx="647613" cy="369332"/>
              </a:xfrm>
              <a:prstGeom prst="rect">
                <a:avLst/>
              </a:prstGeom>
              <a:blipFill>
                <a:blip r:embed="rId10"/>
                <a:stretch>
                  <a:fillRect l="-8491" r="-10377" b="-491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1A84EFF0-D4E6-F80E-B3AE-ACB734F7D3F4}"/>
              </a:ext>
            </a:extLst>
          </p:cNvPr>
          <p:cNvSpPr txBox="1"/>
          <p:nvPr/>
        </p:nvSpPr>
        <p:spPr>
          <a:xfrm>
            <a:off x="4075870" y="2511335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Score</a:t>
            </a:r>
            <a:endParaRPr kumimoji="1" lang="ja-JP" altLang="en-US" b="1" dirty="0"/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30DE3A7A-AB50-C925-CE71-50A4E16DB615}"/>
              </a:ext>
            </a:extLst>
          </p:cNvPr>
          <p:cNvCxnSpPr>
            <a:cxnSpLocks/>
          </p:cNvCxnSpPr>
          <p:nvPr/>
        </p:nvCxnSpPr>
        <p:spPr>
          <a:xfrm>
            <a:off x="1964109" y="2082409"/>
            <a:ext cx="41065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77F3B6F0-AC9E-B60F-F015-BAB0F0D00C5B}"/>
              </a:ext>
            </a:extLst>
          </p:cNvPr>
          <p:cNvCxnSpPr>
            <a:cxnSpLocks/>
          </p:cNvCxnSpPr>
          <p:nvPr/>
        </p:nvCxnSpPr>
        <p:spPr>
          <a:xfrm>
            <a:off x="2959782" y="934720"/>
            <a:ext cx="639466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A2BD8F0B-DA44-AF4D-DEFA-D9E7E80D9BEA}"/>
              </a:ext>
            </a:extLst>
          </p:cNvPr>
          <p:cNvCxnSpPr/>
          <p:nvPr/>
        </p:nvCxnSpPr>
        <p:spPr>
          <a:xfrm>
            <a:off x="9354447" y="934720"/>
            <a:ext cx="0" cy="46554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3D875730-D73B-927C-D91D-55F98142541A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959782" y="934720"/>
            <a:ext cx="0" cy="8152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67641546-3758-0D20-4C45-9E0D304CC7A1}"/>
              </a:ext>
            </a:extLst>
          </p:cNvPr>
          <p:cNvCxnSpPr>
            <a:cxnSpLocks/>
          </p:cNvCxnSpPr>
          <p:nvPr/>
        </p:nvCxnSpPr>
        <p:spPr>
          <a:xfrm>
            <a:off x="1141031" y="3849098"/>
            <a:ext cx="819274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8B3E34E-3BDE-8AEA-A339-22BDF95DC068}"/>
              </a:ext>
            </a:extLst>
          </p:cNvPr>
          <p:cNvCxnSpPr/>
          <p:nvPr/>
        </p:nvCxnSpPr>
        <p:spPr>
          <a:xfrm flipV="1">
            <a:off x="1141031" y="3341098"/>
            <a:ext cx="0" cy="5080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1B92A893-D08A-806F-8689-030D70C2B4F1}"/>
              </a:ext>
            </a:extLst>
          </p:cNvPr>
          <p:cNvCxnSpPr/>
          <p:nvPr/>
        </p:nvCxnSpPr>
        <p:spPr>
          <a:xfrm flipV="1">
            <a:off x="9333779" y="3341098"/>
            <a:ext cx="0" cy="5080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テキスト ボックス 42">
                <a:extLst>
                  <a:ext uri="{FF2B5EF4-FFF2-40B4-BE49-F238E27FC236}">
                    <a16:creationId xmlns:a16="http://schemas.microsoft.com/office/drawing/2014/main" id="{325690DB-288E-0DF9-EF5D-B9A17C83EEDD}"/>
                  </a:ext>
                </a:extLst>
              </p:cNvPr>
              <p:cNvSpPr txBox="1"/>
              <p:nvPr/>
            </p:nvSpPr>
            <p:spPr>
              <a:xfrm>
                <a:off x="2038309" y="3861454"/>
                <a:ext cx="6138007" cy="4376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ja-JP" altLang="en-US" sz="2000" dirty="0" smtClean="0">
                          <a:latin typeface="Cambria Math" panose="02040503050406030204" pitchFamily="18" charset="0"/>
                        </a:rPr>
                        <m:t>目標</m:t>
                      </m:r>
                      <m:r>
                        <a:rPr lang="ja-JP" altLang="en-US" sz="2000" b="1" i="1" dirty="0" smtClean="0">
                          <a:latin typeface="Cambria Math" panose="02040503050406030204" pitchFamily="18" charset="0"/>
                        </a:rPr>
                        <m:t>　</m:t>
                      </m:r>
                      <m:r>
                        <m:rPr>
                          <m:sty m:val="p"/>
                        </m:rPr>
                        <a:rPr lang="en-US" altLang="ja-JP" sz="2000" i="1" dirty="0">
                          <a:latin typeface="Cambria Math" panose="02040503050406030204" pitchFamily="18" charset="0"/>
                        </a:rPr>
                        <m:t>JS</m:t>
                      </m:r>
                      <m:r>
                        <a:rPr lang="ja-JP" altLang="en-US" sz="2000" i="1" dirty="0" smtClean="0">
                          <a:latin typeface="Cambria Math" panose="02040503050406030204" pitchFamily="18" charset="0"/>
                        </a:rPr>
                        <m:t>ダイバージェンス</m:t>
                      </m:r>
                      <m:r>
                        <a:rPr lang="ja-JP" altLang="en-US" sz="2000" i="1" dirty="0">
                          <a:latin typeface="Cambria Math" panose="02040503050406030204" pitchFamily="18" charset="0"/>
                        </a:rPr>
                        <m:t>最小化</m:t>
                      </m:r>
                      <m:r>
                        <a:rPr lang="ja-JP" altLang="en-US" sz="2000" i="1" dirty="0" smtClean="0">
                          <a:latin typeface="Cambria Math" panose="02040503050406030204" pitchFamily="18" charset="0"/>
                        </a:rPr>
                        <m:t>：</m:t>
                      </m:r>
                      <m:r>
                        <m:rPr>
                          <m:sty m:val="p"/>
                        </m:rPr>
                        <a:rPr lang="en-US" altLang="ja-JP" sz="2000" i="1" dirty="0">
                          <a:latin typeface="Cambria Math" panose="02040503050406030204" pitchFamily="18" charset="0"/>
                        </a:rPr>
                        <m:t>JS</m:t>
                      </m:r>
                      <m:r>
                        <a:rPr lang="en-US" altLang="ja-JP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ja-JP" sz="20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ja-JP" sz="2000" b="0" i="1" dirty="0" smtClean="0">
                              <a:latin typeface="Cambria Math" panose="02040503050406030204" pitchFamily="18" charset="0"/>
                            </a:rPr>
                            <m:t>𝑑𝑎𝑡𝑎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ja-JP" sz="2000" dirty="0"/>
                        <m:t>||</m:t>
                      </m:r>
                      <m:sSub>
                        <m:sSubPr>
                          <m:ctrlPr>
                            <a:rPr lang="en-US" altLang="ja-JP" sz="20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ja-JP" altLang="en-US" sz="2000" i="1" dirty="0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ja-JP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 sz="2000" dirty="0"/>
              </a:p>
            </p:txBody>
          </p:sp>
        </mc:Choice>
        <mc:Fallback xmlns="">
          <p:sp>
            <p:nvSpPr>
              <p:cNvPr id="43" name="テキスト ボックス 42">
                <a:extLst>
                  <a:ext uri="{FF2B5EF4-FFF2-40B4-BE49-F238E27FC236}">
                    <a16:creationId xmlns:a16="http://schemas.microsoft.com/office/drawing/2014/main" id="{325690DB-288E-0DF9-EF5D-B9A17C83EE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8309" y="3861454"/>
                <a:ext cx="6138007" cy="437684"/>
              </a:xfrm>
              <a:prstGeom prst="rect">
                <a:avLst/>
              </a:prstGeom>
              <a:blipFill>
                <a:blip r:embed="rId11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75020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BC568878-E75F-BFAC-6247-F6E5EA984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0570933"/>
              </p:ext>
            </p:extLst>
          </p:nvPr>
        </p:nvGraphicFramePr>
        <p:xfrm>
          <a:off x="1554480" y="1451186"/>
          <a:ext cx="1800000" cy="18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3439559305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-2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-3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8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-1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9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2867837"/>
                  </a:ext>
                </a:extLst>
              </a:tr>
            </a:tbl>
          </a:graphicData>
        </a:graphic>
      </p:graphicFrame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A65D97A-59CF-50C3-ECDE-E0E523639506}"/>
              </a:ext>
            </a:extLst>
          </p:cNvPr>
          <p:cNvSpPr/>
          <p:nvPr/>
        </p:nvSpPr>
        <p:spPr>
          <a:xfrm>
            <a:off x="4267200" y="1451186"/>
            <a:ext cx="863600" cy="1800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81DAF93-A8B4-8DF6-3D45-AEB5AFAFCCD8}"/>
              </a:ext>
            </a:extLst>
          </p:cNvPr>
          <p:cNvSpPr txBox="1"/>
          <p:nvPr/>
        </p:nvSpPr>
        <p:spPr>
          <a:xfrm>
            <a:off x="4478427" y="1535578"/>
            <a:ext cx="44114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畳</a:t>
            </a:r>
            <a:endParaRPr lang="en-US" altLang="ja-JP" sz="2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み</a:t>
            </a:r>
            <a:endParaRPr lang="en-US" altLang="ja-JP" sz="2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込</a:t>
            </a:r>
            <a:endParaRPr lang="en-US" altLang="ja-JP" sz="2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み</a:t>
            </a:r>
            <a:endParaRPr lang="en-US" altLang="ja-JP" sz="2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2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層</a:t>
            </a:r>
            <a:endParaRPr kumimoji="1" lang="ja-JP" altLang="en-US" sz="2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A187173B-3F50-143B-DB6F-3C7EAF9AE298}"/>
              </a:ext>
            </a:extLst>
          </p:cNvPr>
          <p:cNvSpPr/>
          <p:nvPr/>
        </p:nvSpPr>
        <p:spPr>
          <a:xfrm>
            <a:off x="3612947" y="2282179"/>
            <a:ext cx="365760" cy="13801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FD21BEF2-0758-BDE4-4BEF-B4A8BE04E2B0}"/>
              </a:ext>
            </a:extLst>
          </p:cNvPr>
          <p:cNvSpPr/>
          <p:nvPr/>
        </p:nvSpPr>
        <p:spPr>
          <a:xfrm>
            <a:off x="5409134" y="2282179"/>
            <a:ext cx="365760" cy="13801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915B9CA-FE2D-56C7-CEE1-6280F36F876B}"/>
              </a:ext>
            </a:extLst>
          </p:cNvPr>
          <p:cNvSpPr/>
          <p:nvPr/>
        </p:nvSpPr>
        <p:spPr>
          <a:xfrm>
            <a:off x="5985308" y="1451186"/>
            <a:ext cx="863600" cy="1800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480287B-E3F4-C47C-C336-98DF6D4E7DF8}"/>
              </a:ext>
            </a:extLst>
          </p:cNvPr>
          <p:cNvSpPr txBox="1"/>
          <p:nvPr/>
        </p:nvSpPr>
        <p:spPr>
          <a:xfrm>
            <a:off x="6165758" y="1535578"/>
            <a:ext cx="492443" cy="163121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ja-JP" altLang="en-US" sz="2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プーリング層</a:t>
            </a:r>
            <a:endParaRPr kumimoji="1" lang="ja-JP" altLang="en-US" sz="2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73074BF2-C02B-21BF-35E8-2CA0254557F7}"/>
              </a:ext>
            </a:extLst>
          </p:cNvPr>
          <p:cNvSpPr/>
          <p:nvPr/>
        </p:nvSpPr>
        <p:spPr>
          <a:xfrm>
            <a:off x="7059322" y="2282179"/>
            <a:ext cx="365760" cy="13801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C40B1E6-F509-A3BA-14B6-E0026DFF3217}"/>
              </a:ext>
            </a:extLst>
          </p:cNvPr>
          <p:cNvSpPr/>
          <p:nvPr/>
        </p:nvSpPr>
        <p:spPr>
          <a:xfrm>
            <a:off x="7635496" y="1451186"/>
            <a:ext cx="863600" cy="18000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8B4379C-A5C3-CB06-6263-5E281D204010}"/>
              </a:ext>
            </a:extLst>
          </p:cNvPr>
          <p:cNvSpPr txBox="1"/>
          <p:nvPr/>
        </p:nvSpPr>
        <p:spPr>
          <a:xfrm>
            <a:off x="7836280" y="1723051"/>
            <a:ext cx="492443" cy="111825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ja-JP" altLang="en-US" sz="2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全結合層</a:t>
            </a:r>
            <a:endParaRPr kumimoji="1" lang="ja-JP" altLang="en-US" sz="2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BD60D20-FB19-4589-5EEF-0F9CD8B437BD}"/>
              </a:ext>
            </a:extLst>
          </p:cNvPr>
          <p:cNvSpPr txBox="1"/>
          <p:nvPr/>
        </p:nvSpPr>
        <p:spPr>
          <a:xfrm>
            <a:off x="1696720" y="334772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入力データ</a:t>
            </a:r>
          </a:p>
        </p:txBody>
      </p:sp>
    </p:spTree>
    <p:extLst>
      <p:ext uri="{BB962C8B-B14F-4D97-AF65-F5344CB8AC3E}">
        <p14:creationId xmlns:p14="http://schemas.microsoft.com/office/powerpoint/2010/main" val="759590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08380B10-DC9B-DB39-739A-F65A1DF913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1276340"/>
              </p:ext>
            </p:extLst>
          </p:nvPr>
        </p:nvGraphicFramePr>
        <p:xfrm>
          <a:off x="1452880" y="2351186"/>
          <a:ext cx="1800000" cy="18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3439559305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-2</a:t>
                      </a:r>
                      <a:endParaRPr kumimoji="1" lang="ja-JP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-3</a:t>
                      </a:r>
                      <a:endParaRPr kumimoji="1" lang="ja-JP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8</a:t>
                      </a:r>
                      <a:endParaRPr kumimoji="1" lang="ja-JP" altLang="en-US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-1</a:t>
                      </a:r>
                      <a:endParaRPr kumimoji="1" lang="ja-JP" altLang="en-US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9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2867837"/>
                  </a:ext>
                </a:extLst>
              </a:tr>
            </a:tbl>
          </a:graphicData>
        </a:graphic>
      </p:graphicFrame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9C7C955-4931-6725-3626-D07C1F526842}"/>
              </a:ext>
            </a:extLst>
          </p:cNvPr>
          <p:cNvSpPr/>
          <p:nvPr/>
        </p:nvSpPr>
        <p:spPr>
          <a:xfrm>
            <a:off x="1905001" y="2351186"/>
            <a:ext cx="904240" cy="897474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5AB519D-0108-3420-7CB6-F533BFC2A839}"/>
              </a:ext>
            </a:extLst>
          </p:cNvPr>
          <p:cNvSpPr txBox="1"/>
          <p:nvPr/>
        </p:nvSpPr>
        <p:spPr>
          <a:xfrm>
            <a:off x="1565623" y="424772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入力データ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982F8EC-C83C-9F38-7802-A5AC73CFF2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234092"/>
              </p:ext>
            </p:extLst>
          </p:nvPr>
        </p:nvGraphicFramePr>
        <p:xfrm>
          <a:off x="4344600" y="2576186"/>
          <a:ext cx="1350000" cy="135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</a:tbl>
          </a:graphicData>
        </a:graphic>
      </p:graphicFrame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6636046B-28DA-A266-D633-BE9DC6AC3CCB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946787" y="1258146"/>
            <a:ext cx="1497813" cy="1093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665FE2BE-EBB4-E661-CFE1-C609C9B196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504542"/>
              </p:ext>
            </p:extLst>
          </p:nvPr>
        </p:nvGraphicFramePr>
        <p:xfrm>
          <a:off x="3616600" y="1021506"/>
          <a:ext cx="900000" cy="9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１</a:t>
                      </a:r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</a:tbl>
          </a:graphicData>
        </a:graphic>
      </p:graphicFrame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E5F0F636-F2EF-D9F7-E4DB-8A00A3951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096116"/>
              </p:ext>
            </p:extLst>
          </p:nvPr>
        </p:nvGraphicFramePr>
        <p:xfrm>
          <a:off x="3513800" y="914826"/>
          <a:ext cx="900000" cy="9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１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</a:tbl>
          </a:graphicData>
        </a:graphic>
      </p:graphicFrame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430DFFAC-3703-52FD-01AF-EA460D117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664893"/>
              </p:ext>
            </p:extLst>
          </p:nvPr>
        </p:nvGraphicFramePr>
        <p:xfrm>
          <a:off x="3444600" y="808146"/>
          <a:ext cx="900000" cy="9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１</a:t>
                      </a:r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</a:tbl>
          </a:graphicData>
        </a:graphic>
      </p:graphicFrame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79A8DF1-F3D9-6229-5195-B8886627315F}"/>
              </a:ext>
            </a:extLst>
          </p:cNvPr>
          <p:cNvSpPr txBox="1"/>
          <p:nvPr/>
        </p:nvSpPr>
        <p:spPr>
          <a:xfrm>
            <a:off x="3397186" y="197348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カーネル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矢印: 右 14">
            <a:extLst>
              <a:ext uri="{FF2B5EF4-FFF2-40B4-BE49-F238E27FC236}">
                <a16:creationId xmlns:a16="http://schemas.microsoft.com/office/drawing/2014/main" id="{A4248EF8-9EDD-4F26-FF3A-6ECB3E3C273E}"/>
              </a:ext>
            </a:extLst>
          </p:cNvPr>
          <p:cNvSpPr/>
          <p:nvPr/>
        </p:nvSpPr>
        <p:spPr>
          <a:xfrm>
            <a:off x="2470783" y="2422184"/>
            <a:ext cx="1800001" cy="807386"/>
          </a:xfrm>
          <a:prstGeom prst="rightArrow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94D936B-0A7A-EBD8-F774-C6BF1D2CE7DC}"/>
              </a:ext>
            </a:extLst>
          </p:cNvPr>
          <p:cNvSpPr txBox="1"/>
          <p:nvPr/>
        </p:nvSpPr>
        <p:spPr>
          <a:xfrm>
            <a:off x="2699377" y="26452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計算結果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EAA6336-7FA8-ED9D-6113-995C77FCEA36}"/>
              </a:ext>
            </a:extLst>
          </p:cNvPr>
          <p:cNvSpPr txBox="1"/>
          <p:nvPr/>
        </p:nvSpPr>
        <p:spPr>
          <a:xfrm>
            <a:off x="4270784" y="406305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畳み込み演算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093B882F-EC9D-6CA3-9E2B-4D28DDB780AC}"/>
              </a:ext>
            </a:extLst>
          </p:cNvPr>
          <p:cNvSpPr/>
          <p:nvPr/>
        </p:nvSpPr>
        <p:spPr>
          <a:xfrm>
            <a:off x="1452881" y="2351186"/>
            <a:ext cx="904240" cy="89747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円弧 20">
            <a:extLst>
              <a:ext uri="{FF2B5EF4-FFF2-40B4-BE49-F238E27FC236}">
                <a16:creationId xmlns:a16="http://schemas.microsoft.com/office/drawing/2014/main" id="{F2E542CD-FF33-B795-9D95-119D652E4FD5}"/>
              </a:ext>
            </a:extLst>
          </p:cNvPr>
          <p:cNvSpPr/>
          <p:nvPr/>
        </p:nvSpPr>
        <p:spPr>
          <a:xfrm rot="10800000">
            <a:off x="1831185" y="3132475"/>
            <a:ext cx="660400" cy="251460"/>
          </a:xfrm>
          <a:prstGeom prst="arc">
            <a:avLst>
              <a:gd name="adj1" fmla="val 10734771"/>
              <a:gd name="adj2" fmla="val 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二等辺三角形 21">
            <a:extLst>
              <a:ext uri="{FF2B5EF4-FFF2-40B4-BE49-F238E27FC236}">
                <a16:creationId xmlns:a16="http://schemas.microsoft.com/office/drawing/2014/main" id="{F1AAFF61-6AE8-BD42-6459-F4224E12D2B3}"/>
              </a:ext>
            </a:extLst>
          </p:cNvPr>
          <p:cNvSpPr/>
          <p:nvPr/>
        </p:nvSpPr>
        <p:spPr>
          <a:xfrm rot="899907">
            <a:off x="2449045" y="3215241"/>
            <a:ext cx="82296" cy="75973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EC3F2EA-3556-5145-958D-CBCBA252D49C}"/>
              </a:ext>
            </a:extLst>
          </p:cNvPr>
          <p:cNvSpPr txBox="1"/>
          <p:nvPr/>
        </p:nvSpPr>
        <p:spPr>
          <a:xfrm>
            <a:off x="1565623" y="3428529"/>
            <a:ext cx="126746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ja-JP" dirty="0"/>
              <a:t>stride</a:t>
            </a:r>
            <a:r>
              <a:rPr kumimoji="1" lang="ja-JP" altLang="en-US" dirty="0"/>
              <a:t>＝１</a:t>
            </a:r>
          </a:p>
        </p:txBody>
      </p:sp>
      <p:graphicFrame>
        <p:nvGraphicFramePr>
          <p:cNvPr id="24" name="表 23">
            <a:extLst>
              <a:ext uri="{FF2B5EF4-FFF2-40B4-BE49-F238E27FC236}">
                <a16:creationId xmlns:a16="http://schemas.microsoft.com/office/drawing/2014/main" id="{14ACD747-E20B-C34D-756E-0451C95BD6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236854"/>
              </p:ext>
            </p:extLst>
          </p:nvPr>
        </p:nvGraphicFramePr>
        <p:xfrm>
          <a:off x="7206777" y="2342812"/>
          <a:ext cx="1800000" cy="18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3439559305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-2</a:t>
                      </a:r>
                      <a:endParaRPr kumimoji="1" lang="ja-JP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-3</a:t>
                      </a:r>
                      <a:endParaRPr kumimoji="1" lang="ja-JP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8</a:t>
                      </a:r>
                      <a:endParaRPr kumimoji="1" lang="ja-JP" altLang="en-US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-1</a:t>
                      </a:r>
                      <a:endParaRPr kumimoji="1" lang="ja-JP" altLang="en-US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9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2867837"/>
                  </a:ext>
                </a:extLst>
              </a:tr>
            </a:tbl>
          </a:graphicData>
        </a:graphic>
      </p:graphicFrame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312FACB-1B15-BC20-688B-9173E91980CF}"/>
              </a:ext>
            </a:extLst>
          </p:cNvPr>
          <p:cNvSpPr txBox="1"/>
          <p:nvPr/>
        </p:nvSpPr>
        <p:spPr>
          <a:xfrm>
            <a:off x="7091114" y="424772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畳み込み演算結果</a:t>
            </a:r>
          </a:p>
        </p:txBody>
      </p:sp>
      <p:graphicFrame>
        <p:nvGraphicFramePr>
          <p:cNvPr id="26" name="表 25">
            <a:extLst>
              <a:ext uri="{FF2B5EF4-FFF2-40B4-BE49-F238E27FC236}">
                <a16:creationId xmlns:a16="http://schemas.microsoft.com/office/drawing/2014/main" id="{03EF3FCE-4C3D-9395-9097-58F75EEFBE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357768"/>
              </p:ext>
            </p:extLst>
          </p:nvPr>
        </p:nvGraphicFramePr>
        <p:xfrm>
          <a:off x="9751384" y="2850569"/>
          <a:ext cx="900000" cy="9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45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8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9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</a:tbl>
          </a:graphicData>
        </a:graphic>
      </p:graphicFrame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1B30D2B6-CFC8-161A-6B0A-F097797FE14D}"/>
              </a:ext>
            </a:extLst>
          </p:cNvPr>
          <p:cNvCxnSpPr/>
          <p:nvPr/>
        </p:nvCxnSpPr>
        <p:spPr>
          <a:xfrm>
            <a:off x="9122439" y="3242812"/>
            <a:ext cx="47876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355C3D0-4365-24FF-88CC-361773F33227}"/>
              </a:ext>
            </a:extLst>
          </p:cNvPr>
          <p:cNvSpPr txBox="1"/>
          <p:nvPr/>
        </p:nvSpPr>
        <p:spPr>
          <a:xfrm>
            <a:off x="9122439" y="382593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マックスプーリング</a:t>
            </a:r>
          </a:p>
        </p:txBody>
      </p:sp>
    </p:spTree>
    <p:extLst>
      <p:ext uri="{BB962C8B-B14F-4D97-AF65-F5344CB8AC3E}">
        <p14:creationId xmlns:p14="http://schemas.microsoft.com/office/powerpoint/2010/main" val="29056354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6D3743DA-A62A-BA3D-2F76-C40F208B98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798414"/>
              </p:ext>
            </p:extLst>
          </p:nvPr>
        </p:nvGraphicFramePr>
        <p:xfrm>
          <a:off x="2228280" y="2618006"/>
          <a:ext cx="1080000" cy="10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</a:tbl>
          </a:graphicData>
        </a:graphic>
      </p:graphicFrame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F8C65ED0-2499-5BCA-718C-945D5E752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531973"/>
              </p:ext>
            </p:extLst>
          </p:nvPr>
        </p:nvGraphicFramePr>
        <p:xfrm>
          <a:off x="3940740" y="1898006"/>
          <a:ext cx="1800000" cy="18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464027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637123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368565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105742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</a:tbl>
          </a:graphicData>
        </a:graphic>
      </p:graphicFrame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987D247E-3EE7-84D2-3604-652A2407DA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109574"/>
              </p:ext>
            </p:extLst>
          </p:nvPr>
        </p:nvGraphicFramePr>
        <p:xfrm>
          <a:off x="6504780" y="1178006"/>
          <a:ext cx="2520000" cy="25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464027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2665185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637123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5701917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79801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368565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647767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105742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ED44E50-5A91-27A6-E856-E5A078E28014}"/>
              </a:ext>
            </a:extLst>
          </p:cNvPr>
          <p:cNvSpPr txBox="1"/>
          <p:nvPr/>
        </p:nvSpPr>
        <p:spPr>
          <a:xfrm>
            <a:off x="1984465" y="3863340"/>
            <a:ext cx="15872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s</a:t>
            </a:r>
            <a:r>
              <a:rPr kumimoji="1" lang="en-US" altLang="ja-JP" sz="2800" dirty="0"/>
              <a:t>tride=1</a:t>
            </a:r>
            <a:endParaRPr kumimoji="1" lang="ja-JP" altLang="en-US" sz="28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BF09111-3CA2-F594-D19E-4A872C7D5B5E}"/>
              </a:ext>
            </a:extLst>
          </p:cNvPr>
          <p:cNvSpPr txBox="1"/>
          <p:nvPr/>
        </p:nvSpPr>
        <p:spPr>
          <a:xfrm>
            <a:off x="3940740" y="3863340"/>
            <a:ext cx="15872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s</a:t>
            </a:r>
            <a:r>
              <a:rPr kumimoji="1" lang="en-US" altLang="ja-JP" sz="2800" dirty="0"/>
              <a:t>tride=2</a:t>
            </a:r>
            <a:endParaRPr kumimoji="1" lang="ja-JP" altLang="en-US" sz="28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EFAA3E-F05A-CB78-80A6-BE9A8EC0F843}"/>
              </a:ext>
            </a:extLst>
          </p:cNvPr>
          <p:cNvSpPr txBox="1"/>
          <p:nvPr/>
        </p:nvSpPr>
        <p:spPr>
          <a:xfrm>
            <a:off x="6971133" y="3863340"/>
            <a:ext cx="15872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s</a:t>
            </a:r>
            <a:r>
              <a:rPr kumimoji="1" lang="en-US" altLang="ja-JP" sz="2800" dirty="0"/>
              <a:t>tride=3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2087056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0FD75700-DF1B-E9F3-5AE0-60F250627E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796088"/>
              </p:ext>
            </p:extLst>
          </p:nvPr>
        </p:nvGraphicFramePr>
        <p:xfrm>
          <a:off x="2228280" y="2691208"/>
          <a:ext cx="1080000" cy="10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</a:tbl>
          </a:graphicData>
        </a:graphic>
      </p:graphicFrame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F23B0A4B-7C81-6841-CDAC-F6CF15F2EA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546539"/>
              </p:ext>
            </p:extLst>
          </p:nvPr>
        </p:nvGraphicFramePr>
        <p:xfrm>
          <a:off x="4179983" y="1971208"/>
          <a:ext cx="1800000" cy="18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1525570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8477594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20407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5163296"/>
                  </a:ext>
                </a:extLst>
              </a:tr>
            </a:tbl>
          </a:graphicData>
        </a:graphic>
      </p:graphicFrame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A559A88B-47A9-ABA3-CD5E-6E4B855F9F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688246"/>
              </p:ext>
            </p:extLst>
          </p:nvPr>
        </p:nvGraphicFramePr>
        <p:xfrm>
          <a:off x="6851686" y="1251208"/>
          <a:ext cx="2520000" cy="25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4270">
                  <a:extLst>
                    <a:ext uri="{9D8B030D-6E8A-4147-A177-3AD203B41FA5}">
                      <a16:colId xmlns:a16="http://schemas.microsoft.com/office/drawing/2014/main" val="2709855091"/>
                    </a:ext>
                  </a:extLst>
                </a:gridCol>
                <a:gridCol w="404270">
                  <a:extLst>
                    <a:ext uri="{9D8B030D-6E8A-4147-A177-3AD203B41FA5}">
                      <a16:colId xmlns:a16="http://schemas.microsoft.com/office/drawing/2014/main" val="4152557083"/>
                    </a:ext>
                  </a:extLst>
                </a:gridCol>
                <a:gridCol w="342292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342292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342292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  <a:gridCol w="342292">
                  <a:extLst>
                    <a:ext uri="{9D8B030D-6E8A-4147-A177-3AD203B41FA5}">
                      <a16:colId xmlns:a16="http://schemas.microsoft.com/office/drawing/2014/main" val="3184775949"/>
                    </a:ext>
                  </a:extLst>
                </a:gridCol>
                <a:gridCol w="342292">
                  <a:extLst>
                    <a:ext uri="{9D8B030D-6E8A-4147-A177-3AD203B41FA5}">
                      <a16:colId xmlns:a16="http://schemas.microsoft.com/office/drawing/2014/main" val="49534190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47371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20407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516329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0704714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A4C5516-F6DB-2A56-A17D-EE4C6F6FDC42}"/>
              </a:ext>
            </a:extLst>
          </p:cNvPr>
          <p:cNvSpPr txBox="1"/>
          <p:nvPr/>
        </p:nvSpPr>
        <p:spPr>
          <a:xfrm>
            <a:off x="1762235" y="3854782"/>
            <a:ext cx="201208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2800" dirty="0"/>
              <a:t>Kernel size</a:t>
            </a:r>
          </a:p>
          <a:p>
            <a:pPr algn="ctr"/>
            <a:r>
              <a:rPr kumimoji="1" lang="en-US" altLang="ja-JP" sz="2800" dirty="0"/>
              <a:t>1×</a:t>
            </a:r>
            <a:r>
              <a:rPr kumimoji="1" lang="ja-JP" altLang="en-US" sz="2800" dirty="0"/>
              <a:t>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D775246-3FE0-0149-DD09-73F2FED3B7EF}"/>
              </a:ext>
            </a:extLst>
          </p:cNvPr>
          <p:cNvSpPr txBox="1"/>
          <p:nvPr/>
        </p:nvSpPr>
        <p:spPr>
          <a:xfrm>
            <a:off x="4073938" y="3854782"/>
            <a:ext cx="201208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2800" dirty="0"/>
              <a:t>Kernel size</a:t>
            </a:r>
          </a:p>
          <a:p>
            <a:pPr algn="ctr"/>
            <a:r>
              <a:rPr lang="ja-JP" altLang="en-US" sz="2800" dirty="0"/>
              <a:t>２</a:t>
            </a:r>
            <a:r>
              <a:rPr kumimoji="1" lang="en-US" altLang="ja-JP" sz="2800" dirty="0"/>
              <a:t>×</a:t>
            </a:r>
            <a:r>
              <a:rPr lang="ja-JP" altLang="en-US" sz="2800" dirty="0"/>
              <a:t>２</a:t>
            </a:r>
            <a:endParaRPr kumimoji="1" lang="ja-JP" altLang="en-US" sz="28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D8A7E6A-43F5-9B2B-B62B-48F297376859}"/>
              </a:ext>
            </a:extLst>
          </p:cNvPr>
          <p:cNvSpPr txBox="1"/>
          <p:nvPr/>
        </p:nvSpPr>
        <p:spPr>
          <a:xfrm>
            <a:off x="7105641" y="3854781"/>
            <a:ext cx="201208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2800" dirty="0"/>
              <a:t>Kernel size</a:t>
            </a:r>
          </a:p>
          <a:p>
            <a:pPr algn="ctr"/>
            <a:r>
              <a:rPr kumimoji="1" lang="ja-JP" altLang="en-US" sz="2800" dirty="0"/>
              <a:t>３</a:t>
            </a:r>
            <a:r>
              <a:rPr kumimoji="1" lang="en-US" altLang="ja-JP" sz="2800" dirty="0"/>
              <a:t>×</a:t>
            </a:r>
            <a:r>
              <a:rPr kumimoji="1" lang="ja-JP" altLang="en-US" sz="2800" dirty="0"/>
              <a:t>３</a:t>
            </a:r>
          </a:p>
        </p:txBody>
      </p:sp>
    </p:spTree>
    <p:extLst>
      <p:ext uri="{BB962C8B-B14F-4D97-AF65-F5344CB8AC3E}">
        <p14:creationId xmlns:p14="http://schemas.microsoft.com/office/powerpoint/2010/main" val="1685662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6F-9DFB-2170-2F5F-7DA580EC9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C0826AC5-8879-8721-5342-168688518D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3349908"/>
              </p:ext>
            </p:extLst>
          </p:nvPr>
        </p:nvGraphicFramePr>
        <p:xfrm>
          <a:off x="7871697" y="2765485"/>
          <a:ext cx="1080000" cy="10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</a:tbl>
          </a:graphicData>
        </a:graphic>
      </p:graphicFrame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960E6F6-7BCD-DDDE-A43A-23498691EC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075811"/>
              </p:ext>
            </p:extLst>
          </p:nvPr>
        </p:nvGraphicFramePr>
        <p:xfrm>
          <a:off x="5086360" y="2054781"/>
          <a:ext cx="1800000" cy="18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1525570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8477594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20407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5163296"/>
                  </a:ext>
                </a:extLst>
              </a:tr>
            </a:tbl>
          </a:graphicData>
        </a:graphic>
      </p:graphicFrame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89FA7F5-4CD5-ADD1-7A77-78C96571D4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084047"/>
              </p:ext>
            </p:extLst>
          </p:nvPr>
        </p:nvGraphicFramePr>
        <p:xfrm>
          <a:off x="1508279" y="1321344"/>
          <a:ext cx="2520000" cy="25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4270">
                  <a:extLst>
                    <a:ext uri="{9D8B030D-6E8A-4147-A177-3AD203B41FA5}">
                      <a16:colId xmlns:a16="http://schemas.microsoft.com/office/drawing/2014/main" val="2709855091"/>
                    </a:ext>
                  </a:extLst>
                </a:gridCol>
                <a:gridCol w="404270">
                  <a:extLst>
                    <a:ext uri="{9D8B030D-6E8A-4147-A177-3AD203B41FA5}">
                      <a16:colId xmlns:a16="http://schemas.microsoft.com/office/drawing/2014/main" val="4152557083"/>
                    </a:ext>
                  </a:extLst>
                </a:gridCol>
                <a:gridCol w="342292">
                  <a:extLst>
                    <a:ext uri="{9D8B030D-6E8A-4147-A177-3AD203B41FA5}">
                      <a16:colId xmlns:a16="http://schemas.microsoft.com/office/drawing/2014/main" val="2961337963"/>
                    </a:ext>
                  </a:extLst>
                </a:gridCol>
                <a:gridCol w="342292">
                  <a:extLst>
                    <a:ext uri="{9D8B030D-6E8A-4147-A177-3AD203B41FA5}">
                      <a16:colId xmlns:a16="http://schemas.microsoft.com/office/drawing/2014/main" val="840896478"/>
                    </a:ext>
                  </a:extLst>
                </a:gridCol>
                <a:gridCol w="342292">
                  <a:extLst>
                    <a:ext uri="{9D8B030D-6E8A-4147-A177-3AD203B41FA5}">
                      <a16:colId xmlns:a16="http://schemas.microsoft.com/office/drawing/2014/main" val="1418165920"/>
                    </a:ext>
                  </a:extLst>
                </a:gridCol>
                <a:gridCol w="342292">
                  <a:extLst>
                    <a:ext uri="{9D8B030D-6E8A-4147-A177-3AD203B41FA5}">
                      <a16:colId xmlns:a16="http://schemas.microsoft.com/office/drawing/2014/main" val="3184775949"/>
                    </a:ext>
                  </a:extLst>
                </a:gridCol>
                <a:gridCol w="342292">
                  <a:extLst>
                    <a:ext uri="{9D8B030D-6E8A-4147-A177-3AD203B41FA5}">
                      <a16:colId xmlns:a16="http://schemas.microsoft.com/office/drawing/2014/main" val="49534190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47371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20407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63051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94805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kumimoji="1" lang="ja-JP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26518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516329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0704714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B2C3784-6557-491B-46CC-FEECF9373319}"/>
              </a:ext>
            </a:extLst>
          </p:cNvPr>
          <p:cNvSpPr txBox="1"/>
          <p:nvPr/>
        </p:nvSpPr>
        <p:spPr>
          <a:xfrm>
            <a:off x="701046" y="3911411"/>
            <a:ext cx="41344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800" dirty="0"/>
              <a:t>Padding</a:t>
            </a:r>
            <a:r>
              <a:rPr lang="ja-JP" altLang="en-US" sz="2800" dirty="0"/>
              <a:t>＝０</a:t>
            </a:r>
            <a:endParaRPr lang="en-US" altLang="ja-JP" sz="2800" dirty="0"/>
          </a:p>
          <a:p>
            <a:pPr algn="ctr"/>
            <a:r>
              <a:rPr kumimoji="1" lang="ja-JP" altLang="en-US" sz="2800" dirty="0"/>
              <a:t>（入力データそのまま）</a:t>
            </a:r>
            <a:endParaRPr kumimoji="1" lang="en-US" altLang="ja-JP" sz="28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95A0E8-26A7-BD25-2E08-7C360B003131}"/>
              </a:ext>
            </a:extLst>
          </p:cNvPr>
          <p:cNvSpPr txBox="1"/>
          <p:nvPr/>
        </p:nvSpPr>
        <p:spPr>
          <a:xfrm>
            <a:off x="4857685" y="3911411"/>
            <a:ext cx="22573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800" dirty="0"/>
              <a:t>Padding</a:t>
            </a:r>
            <a:r>
              <a:rPr lang="ja-JP" altLang="en-US" sz="2800" dirty="0"/>
              <a:t>＝１</a:t>
            </a:r>
            <a:endParaRPr lang="en-US" altLang="ja-JP" sz="28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83D4C74-A355-541B-EBFA-DBDBF78DDC1F}"/>
              </a:ext>
            </a:extLst>
          </p:cNvPr>
          <p:cNvSpPr txBox="1"/>
          <p:nvPr/>
        </p:nvSpPr>
        <p:spPr>
          <a:xfrm>
            <a:off x="7356491" y="3911411"/>
            <a:ext cx="22573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800" dirty="0"/>
              <a:t>Padding</a:t>
            </a:r>
            <a:r>
              <a:rPr lang="ja-JP" altLang="en-US" sz="2800" dirty="0"/>
              <a:t>＝２</a:t>
            </a:r>
            <a:endParaRPr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1793775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17FDDCF8-65CE-0610-BAD1-B6BFD297A8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5804172"/>
              </p:ext>
            </p:extLst>
          </p:nvPr>
        </p:nvGraphicFramePr>
        <p:xfrm>
          <a:off x="1755713" y="-246339"/>
          <a:ext cx="8128000" cy="7354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139760220"/>
                    </a:ext>
                  </a:extLst>
                </a:gridCol>
                <a:gridCol w="1799304">
                  <a:extLst>
                    <a:ext uri="{9D8B030D-6E8A-4147-A177-3AD203B41FA5}">
                      <a16:colId xmlns:a16="http://schemas.microsoft.com/office/drawing/2014/main" val="1907356628"/>
                    </a:ext>
                  </a:extLst>
                </a:gridCol>
                <a:gridCol w="1451896">
                  <a:extLst>
                    <a:ext uri="{9D8B030D-6E8A-4147-A177-3AD203B41FA5}">
                      <a16:colId xmlns:a16="http://schemas.microsoft.com/office/drawing/2014/main" val="98806904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1293378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936969695"/>
                    </a:ext>
                  </a:extLst>
                </a:gridCol>
              </a:tblGrid>
              <a:tr h="735462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7764779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Deconv1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1×</a:t>
                      </a:r>
                      <a:r>
                        <a:rPr kumimoji="1" lang="ja-JP" altLang="en-US" dirty="0"/>
                        <a:t>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074904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4×</a:t>
                      </a:r>
                      <a:r>
                        <a:rPr kumimoji="1" lang="ja-JP" altLang="en-US" dirty="0"/>
                        <a:t>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6198093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Deconv2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4747592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818027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Deconv3</a:t>
                      </a:r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558996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013931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Deconv4</a:t>
                      </a:r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713843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101809"/>
                  </a:ext>
                </a:extLst>
              </a:tr>
              <a:tr h="735462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1437726"/>
                  </a:ext>
                </a:extLst>
              </a:tr>
            </a:tbl>
          </a:graphicData>
        </a:graphic>
      </p:graphicFrame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51083B6-40A9-02A8-747A-00CDF9D85042}"/>
              </a:ext>
            </a:extLst>
          </p:cNvPr>
          <p:cNvSpPr/>
          <p:nvPr/>
        </p:nvSpPr>
        <p:spPr>
          <a:xfrm>
            <a:off x="3611552" y="656795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988235-2A7F-B65E-907B-9A63020E5CD7}"/>
              </a:ext>
            </a:extLst>
          </p:cNvPr>
          <p:cNvSpPr/>
          <p:nvPr/>
        </p:nvSpPr>
        <p:spPr>
          <a:xfrm>
            <a:off x="3913894" y="656795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E3C575B-4874-1881-B202-87633A16691E}"/>
              </a:ext>
            </a:extLst>
          </p:cNvPr>
          <p:cNvSpPr/>
          <p:nvPr/>
        </p:nvSpPr>
        <p:spPr>
          <a:xfrm>
            <a:off x="4728334" y="656795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C2DF2E0-5264-D69A-F99A-C50FAA53660C}"/>
              </a:ext>
            </a:extLst>
          </p:cNvPr>
          <p:cNvSpPr txBox="1"/>
          <p:nvPr/>
        </p:nvSpPr>
        <p:spPr>
          <a:xfrm>
            <a:off x="4196939" y="57880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719D63D2-FEA9-81CB-7D3C-6069D9907D32}"/>
              </a:ext>
            </a:extLst>
          </p:cNvPr>
          <p:cNvSpPr/>
          <p:nvPr/>
        </p:nvSpPr>
        <p:spPr>
          <a:xfrm>
            <a:off x="3774621" y="1561105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BD725A4-C83E-8F35-7991-A8B2E48D32AC}"/>
              </a:ext>
            </a:extLst>
          </p:cNvPr>
          <p:cNvSpPr/>
          <p:nvPr/>
        </p:nvSpPr>
        <p:spPr>
          <a:xfrm>
            <a:off x="4160537" y="1561104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6586E75-8481-846A-D05B-01440D0609DF}"/>
              </a:ext>
            </a:extLst>
          </p:cNvPr>
          <p:cNvSpPr/>
          <p:nvPr/>
        </p:nvSpPr>
        <p:spPr>
          <a:xfrm>
            <a:off x="4814384" y="1561104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A05312A-4E9C-7B2A-F2C2-12A015A7FAB5}"/>
              </a:ext>
            </a:extLst>
          </p:cNvPr>
          <p:cNvSpPr/>
          <p:nvPr/>
        </p:nvSpPr>
        <p:spPr>
          <a:xfrm>
            <a:off x="3774621" y="1848165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B5545F67-5F43-659E-BAD9-7CBE34564D32}"/>
              </a:ext>
            </a:extLst>
          </p:cNvPr>
          <p:cNvSpPr/>
          <p:nvPr/>
        </p:nvSpPr>
        <p:spPr>
          <a:xfrm>
            <a:off x="3774621" y="2412781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546C22A6-2611-B24A-DAD9-70AEA47D5C3B}"/>
              </a:ext>
            </a:extLst>
          </p:cNvPr>
          <p:cNvSpPr/>
          <p:nvPr/>
        </p:nvSpPr>
        <p:spPr>
          <a:xfrm>
            <a:off x="4814384" y="2412781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FD9217C-B7A6-6A31-6A96-AD86F7FD271B}"/>
              </a:ext>
            </a:extLst>
          </p:cNvPr>
          <p:cNvSpPr txBox="1"/>
          <p:nvPr/>
        </p:nvSpPr>
        <p:spPr>
          <a:xfrm>
            <a:off x="4369711" y="147825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3669CF6-1B87-2D2B-CD65-79790273BDC2}"/>
              </a:ext>
            </a:extLst>
          </p:cNvPr>
          <p:cNvSpPr txBox="1"/>
          <p:nvPr/>
        </p:nvSpPr>
        <p:spPr>
          <a:xfrm rot="5400000">
            <a:off x="3646038" y="204838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A8312B4-E679-07B4-2415-2C930764CF7F}"/>
              </a:ext>
            </a:extLst>
          </p:cNvPr>
          <p:cNvSpPr txBox="1"/>
          <p:nvPr/>
        </p:nvSpPr>
        <p:spPr>
          <a:xfrm>
            <a:off x="4183334" y="233242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B749364-CE52-CD4D-402C-BC027B6F7561}"/>
              </a:ext>
            </a:extLst>
          </p:cNvPr>
          <p:cNvSpPr txBox="1"/>
          <p:nvPr/>
        </p:nvSpPr>
        <p:spPr>
          <a:xfrm rot="2663713">
            <a:off x="4161963" y="189702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763E078-AFFD-31A7-C775-D5E775040447}"/>
              </a:ext>
            </a:extLst>
          </p:cNvPr>
          <p:cNvSpPr txBox="1"/>
          <p:nvPr/>
        </p:nvSpPr>
        <p:spPr>
          <a:xfrm rot="5400000">
            <a:off x="4677887" y="19016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2E163CD5-9697-8658-E730-1412D756F91D}"/>
              </a:ext>
            </a:extLst>
          </p:cNvPr>
          <p:cNvSpPr txBox="1"/>
          <p:nvPr/>
        </p:nvSpPr>
        <p:spPr>
          <a:xfrm>
            <a:off x="3971950" y="936973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sp>
        <p:nvSpPr>
          <p:cNvPr id="28" name="左中かっこ 27">
            <a:extLst>
              <a:ext uri="{FF2B5EF4-FFF2-40B4-BE49-F238E27FC236}">
                <a16:creationId xmlns:a16="http://schemas.microsoft.com/office/drawing/2014/main" id="{4B848D4B-9C3A-C4E4-82B2-CE74D59E5177}"/>
              </a:ext>
            </a:extLst>
          </p:cNvPr>
          <p:cNvSpPr/>
          <p:nvPr/>
        </p:nvSpPr>
        <p:spPr>
          <a:xfrm rot="16200000">
            <a:off x="4191192" y="370221"/>
            <a:ext cx="130905" cy="1115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46A64FE-565B-6A01-5531-1549B7DA7224}"/>
              </a:ext>
            </a:extLst>
          </p:cNvPr>
          <p:cNvSpPr txBox="1"/>
          <p:nvPr/>
        </p:nvSpPr>
        <p:spPr>
          <a:xfrm>
            <a:off x="4070430" y="123183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B6D87F4-EFD8-295D-D5B5-D557609B6E97}"/>
              </a:ext>
            </a:extLst>
          </p:cNvPr>
          <p:cNvSpPr txBox="1"/>
          <p:nvPr/>
        </p:nvSpPr>
        <p:spPr>
          <a:xfrm rot="16200000">
            <a:off x="3305262" y="183389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651AC6F9-99D8-FF99-376B-A20AD77A2052}"/>
              </a:ext>
            </a:extLst>
          </p:cNvPr>
          <p:cNvSpPr/>
          <p:nvPr/>
        </p:nvSpPr>
        <p:spPr>
          <a:xfrm>
            <a:off x="3774621" y="3054255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D7BAE34A-840D-987B-F4CD-08717D31E075}"/>
              </a:ext>
            </a:extLst>
          </p:cNvPr>
          <p:cNvSpPr/>
          <p:nvPr/>
        </p:nvSpPr>
        <p:spPr>
          <a:xfrm>
            <a:off x="4160537" y="3054254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5CEF9459-83F4-3A9D-1106-B13C6B17DF13}"/>
              </a:ext>
            </a:extLst>
          </p:cNvPr>
          <p:cNvSpPr/>
          <p:nvPr/>
        </p:nvSpPr>
        <p:spPr>
          <a:xfrm>
            <a:off x="4814384" y="3054254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D7F2DC37-8B03-BBDE-ADE3-11DC098115C9}"/>
              </a:ext>
            </a:extLst>
          </p:cNvPr>
          <p:cNvSpPr/>
          <p:nvPr/>
        </p:nvSpPr>
        <p:spPr>
          <a:xfrm>
            <a:off x="3774621" y="3341315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3C2825E9-D29E-D1DE-D5F0-D318A7A17D09}"/>
              </a:ext>
            </a:extLst>
          </p:cNvPr>
          <p:cNvSpPr/>
          <p:nvPr/>
        </p:nvSpPr>
        <p:spPr>
          <a:xfrm>
            <a:off x="3774621" y="3905931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73387C32-01DB-3424-EE9F-775EE617976F}"/>
              </a:ext>
            </a:extLst>
          </p:cNvPr>
          <p:cNvSpPr/>
          <p:nvPr/>
        </p:nvSpPr>
        <p:spPr>
          <a:xfrm>
            <a:off x="4814384" y="3905931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F620FB06-6C73-2A78-15F0-4D5A695CA0F8}"/>
              </a:ext>
            </a:extLst>
          </p:cNvPr>
          <p:cNvSpPr txBox="1"/>
          <p:nvPr/>
        </p:nvSpPr>
        <p:spPr>
          <a:xfrm>
            <a:off x="4369711" y="297140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77B7436-E158-4689-B6FD-DBCE5593342C}"/>
              </a:ext>
            </a:extLst>
          </p:cNvPr>
          <p:cNvSpPr txBox="1"/>
          <p:nvPr/>
        </p:nvSpPr>
        <p:spPr>
          <a:xfrm rot="5400000">
            <a:off x="3646038" y="354153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53134BE2-A7A9-1876-6B1F-663EBD9B8996}"/>
              </a:ext>
            </a:extLst>
          </p:cNvPr>
          <p:cNvSpPr txBox="1"/>
          <p:nvPr/>
        </p:nvSpPr>
        <p:spPr>
          <a:xfrm>
            <a:off x="4183334" y="382557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48EC1768-CA34-CD6D-9F2C-43F5DAA964A3}"/>
              </a:ext>
            </a:extLst>
          </p:cNvPr>
          <p:cNvSpPr txBox="1"/>
          <p:nvPr/>
        </p:nvSpPr>
        <p:spPr>
          <a:xfrm rot="2663713">
            <a:off x="4161963" y="339017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2CC6723F-372A-093B-4480-A14206464F37}"/>
              </a:ext>
            </a:extLst>
          </p:cNvPr>
          <p:cNvSpPr txBox="1"/>
          <p:nvPr/>
        </p:nvSpPr>
        <p:spPr>
          <a:xfrm rot="5400000">
            <a:off x="4677887" y="339478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F3597D59-FB60-BBEB-78AD-A0D458811A94}"/>
              </a:ext>
            </a:extLst>
          </p:cNvPr>
          <p:cNvSpPr txBox="1"/>
          <p:nvPr/>
        </p:nvSpPr>
        <p:spPr>
          <a:xfrm>
            <a:off x="4070430" y="272498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256</a:t>
            </a:r>
            <a:endParaRPr kumimoji="1" lang="ja-JP" altLang="en-US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E5C8D4B4-E810-43FE-31E9-C599FD538C7B}"/>
              </a:ext>
            </a:extLst>
          </p:cNvPr>
          <p:cNvSpPr txBox="1"/>
          <p:nvPr/>
        </p:nvSpPr>
        <p:spPr>
          <a:xfrm rot="16200000">
            <a:off x="3305262" y="332704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A004D126-9626-CAEF-DC9D-CEA9D833D5F4}"/>
              </a:ext>
            </a:extLst>
          </p:cNvPr>
          <p:cNvSpPr/>
          <p:nvPr/>
        </p:nvSpPr>
        <p:spPr>
          <a:xfrm>
            <a:off x="3774621" y="4515995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B8D0EEB-C26F-BE64-97E2-323AD0C93F3F}"/>
              </a:ext>
            </a:extLst>
          </p:cNvPr>
          <p:cNvSpPr/>
          <p:nvPr/>
        </p:nvSpPr>
        <p:spPr>
          <a:xfrm>
            <a:off x="4160537" y="4515994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CB14CC3A-A532-C883-1691-A7D2A149301C}"/>
              </a:ext>
            </a:extLst>
          </p:cNvPr>
          <p:cNvSpPr/>
          <p:nvPr/>
        </p:nvSpPr>
        <p:spPr>
          <a:xfrm>
            <a:off x="4814384" y="4515994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834F705F-1106-10F4-82E2-9CE8690866FB}"/>
              </a:ext>
            </a:extLst>
          </p:cNvPr>
          <p:cNvSpPr/>
          <p:nvPr/>
        </p:nvSpPr>
        <p:spPr>
          <a:xfrm>
            <a:off x="3774621" y="4803055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E477CC4F-2202-4B6A-2351-FCBD7849BB74}"/>
              </a:ext>
            </a:extLst>
          </p:cNvPr>
          <p:cNvSpPr/>
          <p:nvPr/>
        </p:nvSpPr>
        <p:spPr>
          <a:xfrm>
            <a:off x="3774621" y="5367671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96BB8472-C225-D2EF-3996-E3AC4A0111A3}"/>
              </a:ext>
            </a:extLst>
          </p:cNvPr>
          <p:cNvSpPr/>
          <p:nvPr/>
        </p:nvSpPr>
        <p:spPr>
          <a:xfrm>
            <a:off x="4814384" y="5367671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33B2ACDC-6DAE-5E71-A25A-A76C53BCCC8F}"/>
              </a:ext>
            </a:extLst>
          </p:cNvPr>
          <p:cNvSpPr txBox="1"/>
          <p:nvPr/>
        </p:nvSpPr>
        <p:spPr>
          <a:xfrm>
            <a:off x="4369711" y="443314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AF79C8B2-2BA2-7BBA-E8F9-301BCBD868C8}"/>
              </a:ext>
            </a:extLst>
          </p:cNvPr>
          <p:cNvSpPr txBox="1"/>
          <p:nvPr/>
        </p:nvSpPr>
        <p:spPr>
          <a:xfrm rot="5400000">
            <a:off x="3646038" y="500327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71B9380-61B2-036F-9487-3604476C1EF8}"/>
              </a:ext>
            </a:extLst>
          </p:cNvPr>
          <p:cNvSpPr txBox="1"/>
          <p:nvPr/>
        </p:nvSpPr>
        <p:spPr>
          <a:xfrm>
            <a:off x="4183334" y="528731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3B662C21-0FEF-8A84-B2A7-6702318E2D8E}"/>
              </a:ext>
            </a:extLst>
          </p:cNvPr>
          <p:cNvSpPr txBox="1"/>
          <p:nvPr/>
        </p:nvSpPr>
        <p:spPr>
          <a:xfrm rot="2663713">
            <a:off x="4161963" y="485191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9060724D-A566-30B0-D04D-6E24F4499F0B}"/>
              </a:ext>
            </a:extLst>
          </p:cNvPr>
          <p:cNvSpPr txBox="1"/>
          <p:nvPr/>
        </p:nvSpPr>
        <p:spPr>
          <a:xfrm rot="5400000">
            <a:off x="4677887" y="485652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09CB9150-D516-174F-8A79-012CA45BCB70}"/>
              </a:ext>
            </a:extLst>
          </p:cNvPr>
          <p:cNvSpPr txBox="1"/>
          <p:nvPr/>
        </p:nvSpPr>
        <p:spPr>
          <a:xfrm>
            <a:off x="4070430" y="418672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128</a:t>
            </a:r>
            <a:endParaRPr kumimoji="1" lang="ja-JP" altLang="en-US" dirty="0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A090AECD-5001-B2A0-B84A-73006D517A57}"/>
              </a:ext>
            </a:extLst>
          </p:cNvPr>
          <p:cNvSpPr txBox="1"/>
          <p:nvPr/>
        </p:nvSpPr>
        <p:spPr>
          <a:xfrm rot="16200000">
            <a:off x="3305262" y="478878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256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077842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93B4C-B9F0-8AFD-5352-29D48151F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8DE2C9B2-2A50-746A-C914-547A5FD92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0314924"/>
              </p:ext>
            </p:extLst>
          </p:nvPr>
        </p:nvGraphicFramePr>
        <p:xfrm>
          <a:off x="1552512" y="119421"/>
          <a:ext cx="7337487" cy="6619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372">
                  <a:extLst>
                    <a:ext uri="{9D8B030D-6E8A-4147-A177-3AD203B41FA5}">
                      <a16:colId xmlns:a16="http://schemas.microsoft.com/office/drawing/2014/main" val="2139760220"/>
                    </a:ext>
                  </a:extLst>
                </a:gridCol>
                <a:gridCol w="2030384">
                  <a:extLst>
                    <a:ext uri="{9D8B030D-6E8A-4147-A177-3AD203B41FA5}">
                      <a16:colId xmlns:a16="http://schemas.microsoft.com/office/drawing/2014/main" val="1907356628"/>
                    </a:ext>
                  </a:extLst>
                </a:gridCol>
                <a:gridCol w="1638359">
                  <a:extLst>
                    <a:ext uri="{9D8B030D-6E8A-4147-A177-3AD203B41FA5}">
                      <a16:colId xmlns:a16="http://schemas.microsoft.com/office/drawing/2014/main" val="988069048"/>
                    </a:ext>
                  </a:extLst>
                </a:gridCol>
                <a:gridCol w="1834372">
                  <a:extLst>
                    <a:ext uri="{9D8B030D-6E8A-4147-A177-3AD203B41FA5}">
                      <a16:colId xmlns:a16="http://schemas.microsoft.com/office/drawing/2014/main" val="2112933789"/>
                    </a:ext>
                  </a:extLst>
                </a:gridCol>
              </a:tblGrid>
              <a:tr h="73546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各層の入出力関係</a:t>
                      </a:r>
                      <a:endParaRPr kumimoji="1" lang="en-US" altLang="ja-JP" dirty="0"/>
                    </a:p>
                    <a:p>
                      <a:pPr algn="ctr"/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特徴マップの数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特徴マップ</a:t>
                      </a:r>
                      <a:endParaRPr kumimoji="1" lang="en-US" altLang="ja-JP" dirty="0"/>
                    </a:p>
                    <a:p>
                      <a:pPr algn="ctr"/>
                      <a:r>
                        <a:rPr kumimoji="1" lang="ja-JP" altLang="en-US" dirty="0"/>
                        <a:t>サイズ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パラメータ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4779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1×</a:t>
                      </a:r>
                      <a:r>
                        <a:rPr kumimoji="1" lang="ja-JP" altLang="en-US" dirty="0"/>
                        <a:t>１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stride=0</a:t>
                      </a:r>
                    </a:p>
                    <a:p>
                      <a:r>
                        <a:rPr kumimoji="1" lang="en-US" altLang="ja-JP" dirty="0"/>
                        <a:t>padding=1</a:t>
                      </a:r>
                    </a:p>
                    <a:p>
                      <a:endParaRPr kumimoji="1" lang="en-US" altLang="ja-JP" sz="500" dirty="0"/>
                    </a:p>
                    <a:p>
                      <a:r>
                        <a:rPr kumimoji="1" lang="en-US" altLang="ja-JP" dirty="0"/>
                        <a:t>kernel</a:t>
                      </a:r>
                      <a:r>
                        <a:rPr kumimoji="1" lang="ja-JP" altLang="en-US" dirty="0"/>
                        <a:t>数</a:t>
                      </a:r>
                      <a:endParaRPr kumimoji="1" lang="en-US" altLang="ja-JP" dirty="0"/>
                    </a:p>
                    <a:p>
                      <a:r>
                        <a:rPr kumimoji="1" lang="en-US" altLang="ja-JP" dirty="0"/>
                        <a:t>100×512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074904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kumimoji="1" lang="en-US" altLang="ja-JP" dirty="0"/>
                    </a:p>
                    <a:p>
                      <a:pPr algn="ctr"/>
                      <a:r>
                        <a:rPr kumimoji="1" lang="en-US" altLang="ja-JP" dirty="0"/>
                        <a:t>4×</a:t>
                      </a:r>
                      <a:r>
                        <a:rPr kumimoji="1" lang="ja-JP" altLang="en-US" dirty="0"/>
                        <a:t>４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6198093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Deconv2</a:t>
                      </a:r>
                      <a:endParaRPr kumimoji="1" lang="ja-JP" altLang="en-US" dirty="0"/>
                    </a:p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stride=2</a:t>
                      </a:r>
                    </a:p>
                    <a:p>
                      <a:r>
                        <a:rPr kumimoji="1" lang="en-US" altLang="ja-JP" dirty="0"/>
                        <a:t>padding=1</a:t>
                      </a:r>
                    </a:p>
                    <a:p>
                      <a:endParaRPr kumimoji="1" lang="en-US" altLang="ja-JP" sz="500" dirty="0"/>
                    </a:p>
                    <a:p>
                      <a:r>
                        <a:rPr kumimoji="1" lang="en-US" altLang="ja-JP" dirty="0"/>
                        <a:t>kernel</a:t>
                      </a:r>
                      <a:r>
                        <a:rPr kumimoji="1" lang="ja-JP" altLang="en-US" dirty="0"/>
                        <a:t>数</a:t>
                      </a:r>
                      <a:endParaRPr kumimoji="1" lang="en-US" altLang="ja-JP" dirty="0"/>
                    </a:p>
                    <a:p>
                      <a:r>
                        <a:rPr kumimoji="1" lang="en-US" altLang="ja-JP" dirty="0"/>
                        <a:t>512×256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4747592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kumimoji="1" lang="en-US" altLang="ja-JP" dirty="0"/>
                    </a:p>
                    <a:p>
                      <a:pPr algn="ctr"/>
                      <a:r>
                        <a:rPr kumimoji="1" lang="en-US" altLang="ja-JP" dirty="0"/>
                        <a:t>8×</a:t>
                      </a:r>
                      <a:r>
                        <a:rPr kumimoji="1" lang="ja-JP" altLang="en-US" dirty="0"/>
                        <a:t>８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818027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Deconv3</a:t>
                      </a:r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stride=2</a:t>
                      </a:r>
                    </a:p>
                    <a:p>
                      <a:r>
                        <a:rPr kumimoji="1" lang="en-US" altLang="ja-JP" dirty="0"/>
                        <a:t>padding=1</a:t>
                      </a:r>
                    </a:p>
                    <a:p>
                      <a:endParaRPr kumimoji="1" lang="en-US" altLang="ja-JP" sz="500" dirty="0"/>
                    </a:p>
                    <a:p>
                      <a:r>
                        <a:rPr kumimoji="1" lang="en-US" altLang="ja-JP" dirty="0"/>
                        <a:t>kernel</a:t>
                      </a:r>
                      <a:r>
                        <a:rPr kumimoji="1" lang="ja-JP" altLang="en-US" dirty="0"/>
                        <a:t>数</a:t>
                      </a:r>
                      <a:endParaRPr kumimoji="1" lang="en-US" altLang="ja-JP" dirty="0"/>
                    </a:p>
                    <a:p>
                      <a:r>
                        <a:rPr kumimoji="1" lang="en-US" altLang="ja-JP" dirty="0"/>
                        <a:t>256×128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558996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16×16</a:t>
                      </a:r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013931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Deconv4</a:t>
                      </a:r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stride=2</a:t>
                      </a:r>
                    </a:p>
                    <a:p>
                      <a:r>
                        <a:rPr kumimoji="1" lang="en-US" altLang="ja-JP" dirty="0"/>
                        <a:t>padding=1</a:t>
                      </a:r>
                    </a:p>
                    <a:p>
                      <a:endParaRPr kumimoji="1" lang="en-US" altLang="ja-JP" sz="500" dirty="0"/>
                    </a:p>
                    <a:p>
                      <a:r>
                        <a:rPr kumimoji="1" lang="en-US" altLang="ja-JP" dirty="0"/>
                        <a:t>kernel</a:t>
                      </a:r>
                      <a:r>
                        <a:rPr kumimoji="1" lang="ja-JP" altLang="en-US" dirty="0"/>
                        <a:t>数</a:t>
                      </a:r>
                      <a:endParaRPr kumimoji="1" lang="en-US" altLang="ja-JP" dirty="0"/>
                    </a:p>
                    <a:p>
                      <a:r>
                        <a:rPr kumimoji="1" lang="en-US" altLang="ja-JP" dirty="0"/>
                        <a:t>128×1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713843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32×32</a:t>
                      </a:r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101809"/>
                  </a:ext>
                </a:extLst>
              </a:tr>
            </a:tbl>
          </a:graphicData>
        </a:graphic>
      </p:graphicFrame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1CCAA74-9C38-ACF7-0538-C2650CEE1985}"/>
              </a:ext>
            </a:extLst>
          </p:cNvPr>
          <p:cNvSpPr/>
          <p:nvPr/>
        </p:nvSpPr>
        <p:spPr>
          <a:xfrm>
            <a:off x="3763952" y="1014366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71065C2-4568-FDCE-E39B-9E1556EAE15B}"/>
              </a:ext>
            </a:extLst>
          </p:cNvPr>
          <p:cNvSpPr/>
          <p:nvPr/>
        </p:nvSpPr>
        <p:spPr>
          <a:xfrm>
            <a:off x="4066294" y="1014366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6FC6EAF-540A-3FA2-C341-BB5D9016402C}"/>
              </a:ext>
            </a:extLst>
          </p:cNvPr>
          <p:cNvSpPr/>
          <p:nvPr/>
        </p:nvSpPr>
        <p:spPr>
          <a:xfrm>
            <a:off x="4880734" y="1014366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308775A-9683-9568-7BDF-75410BF3B6C6}"/>
              </a:ext>
            </a:extLst>
          </p:cNvPr>
          <p:cNvSpPr txBox="1"/>
          <p:nvPr/>
        </p:nvSpPr>
        <p:spPr>
          <a:xfrm>
            <a:off x="4349339" y="93638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AF23ED3A-21EA-AE80-AD65-EA8E98976363}"/>
              </a:ext>
            </a:extLst>
          </p:cNvPr>
          <p:cNvSpPr/>
          <p:nvPr/>
        </p:nvSpPr>
        <p:spPr>
          <a:xfrm>
            <a:off x="3671950" y="1961026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CA516994-C9C5-7265-7354-596F2F27F97D}"/>
              </a:ext>
            </a:extLst>
          </p:cNvPr>
          <p:cNvSpPr/>
          <p:nvPr/>
        </p:nvSpPr>
        <p:spPr>
          <a:xfrm>
            <a:off x="4160626" y="1959625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1F3AB25-48E8-2111-5BAC-B5A2366DD051}"/>
              </a:ext>
            </a:extLst>
          </p:cNvPr>
          <p:cNvSpPr/>
          <p:nvPr/>
        </p:nvSpPr>
        <p:spPr>
          <a:xfrm>
            <a:off x="4912784" y="1966632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43896FC-0152-55E3-6871-43696C863C7F}"/>
              </a:ext>
            </a:extLst>
          </p:cNvPr>
          <p:cNvSpPr txBox="1"/>
          <p:nvPr/>
        </p:nvSpPr>
        <p:spPr>
          <a:xfrm>
            <a:off x="4481302" y="189709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0DC9557-4A68-1F99-444A-2B54262AA23F}"/>
              </a:ext>
            </a:extLst>
          </p:cNvPr>
          <p:cNvSpPr txBox="1"/>
          <p:nvPr/>
        </p:nvSpPr>
        <p:spPr>
          <a:xfrm>
            <a:off x="4124350" y="129454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sp>
        <p:nvSpPr>
          <p:cNvPr id="28" name="左中かっこ 27">
            <a:extLst>
              <a:ext uri="{FF2B5EF4-FFF2-40B4-BE49-F238E27FC236}">
                <a16:creationId xmlns:a16="http://schemas.microsoft.com/office/drawing/2014/main" id="{94169C67-B38D-F588-A18F-AB2F81D86D37}"/>
              </a:ext>
            </a:extLst>
          </p:cNvPr>
          <p:cNvSpPr/>
          <p:nvPr/>
        </p:nvSpPr>
        <p:spPr>
          <a:xfrm rot="16200000">
            <a:off x="4343592" y="727792"/>
            <a:ext cx="130905" cy="1115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EBBEA60-D8EA-E659-CF4C-877286AE59A7}"/>
              </a:ext>
            </a:extLst>
          </p:cNvPr>
          <p:cNvSpPr txBox="1"/>
          <p:nvPr/>
        </p:nvSpPr>
        <p:spPr>
          <a:xfrm>
            <a:off x="4126124" y="250592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5" name="左中かっこ 4">
            <a:extLst>
              <a:ext uri="{FF2B5EF4-FFF2-40B4-BE49-F238E27FC236}">
                <a16:creationId xmlns:a16="http://schemas.microsoft.com/office/drawing/2014/main" id="{0940CE7D-7046-22F0-533D-ABB6A364C950}"/>
              </a:ext>
            </a:extLst>
          </p:cNvPr>
          <p:cNvSpPr/>
          <p:nvPr/>
        </p:nvSpPr>
        <p:spPr>
          <a:xfrm rot="16200000">
            <a:off x="4304469" y="1805099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8CF3684-BE36-FA25-3961-CE2C38C6800F}"/>
              </a:ext>
            </a:extLst>
          </p:cNvPr>
          <p:cNvSpPr/>
          <p:nvPr/>
        </p:nvSpPr>
        <p:spPr>
          <a:xfrm>
            <a:off x="3615441" y="3483280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6DDB855-25E8-7BF3-5A27-4C24E45774BF}"/>
              </a:ext>
            </a:extLst>
          </p:cNvPr>
          <p:cNvSpPr/>
          <p:nvPr/>
        </p:nvSpPr>
        <p:spPr>
          <a:xfrm>
            <a:off x="4149868" y="3483280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349F796-CBD0-E48E-0992-3105E898AD42}"/>
              </a:ext>
            </a:extLst>
          </p:cNvPr>
          <p:cNvSpPr/>
          <p:nvPr/>
        </p:nvSpPr>
        <p:spPr>
          <a:xfrm>
            <a:off x="4903658" y="3483280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B44091-1E9E-DE82-0190-EA7A402EDC5F}"/>
              </a:ext>
            </a:extLst>
          </p:cNvPr>
          <p:cNvSpPr txBox="1"/>
          <p:nvPr/>
        </p:nvSpPr>
        <p:spPr>
          <a:xfrm>
            <a:off x="4481302" y="346652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6420D07-CD42-1DAB-AAD8-496EC5141267}"/>
              </a:ext>
            </a:extLst>
          </p:cNvPr>
          <p:cNvSpPr txBox="1"/>
          <p:nvPr/>
        </p:nvSpPr>
        <p:spPr>
          <a:xfrm>
            <a:off x="4126124" y="407535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256</a:t>
            </a:r>
            <a:endParaRPr kumimoji="1" lang="ja-JP" altLang="en-US" dirty="0"/>
          </a:p>
        </p:txBody>
      </p:sp>
      <p:sp>
        <p:nvSpPr>
          <p:cNvPr id="12" name="左中かっこ 11">
            <a:extLst>
              <a:ext uri="{FF2B5EF4-FFF2-40B4-BE49-F238E27FC236}">
                <a16:creationId xmlns:a16="http://schemas.microsoft.com/office/drawing/2014/main" id="{04CED40B-592A-7DDC-2D5A-5EAE904FEB83}"/>
              </a:ext>
            </a:extLst>
          </p:cNvPr>
          <p:cNvSpPr/>
          <p:nvPr/>
        </p:nvSpPr>
        <p:spPr>
          <a:xfrm rot="16200000">
            <a:off x="4304469" y="3374530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B8EB978-2713-FEE7-9594-D6173FFE6045}"/>
              </a:ext>
            </a:extLst>
          </p:cNvPr>
          <p:cNvSpPr/>
          <p:nvPr/>
        </p:nvSpPr>
        <p:spPr>
          <a:xfrm>
            <a:off x="3623739" y="4860415"/>
            <a:ext cx="396000" cy="39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7668C22F-C6EF-7AFC-4F6C-2A462ED7A027}"/>
              </a:ext>
            </a:extLst>
          </p:cNvPr>
          <p:cNvSpPr/>
          <p:nvPr/>
        </p:nvSpPr>
        <p:spPr>
          <a:xfrm>
            <a:off x="4808353" y="4860415"/>
            <a:ext cx="396000" cy="39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BE36399-9F7E-3C8A-1992-9217D2BF3163}"/>
              </a:ext>
            </a:extLst>
          </p:cNvPr>
          <p:cNvSpPr txBox="1"/>
          <p:nvPr/>
        </p:nvSpPr>
        <p:spPr>
          <a:xfrm>
            <a:off x="4233443" y="486041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C3B56CD-EF85-94F5-F0EE-A5B7C45FB3DA}"/>
              </a:ext>
            </a:extLst>
          </p:cNvPr>
          <p:cNvSpPr txBox="1"/>
          <p:nvPr/>
        </p:nvSpPr>
        <p:spPr>
          <a:xfrm>
            <a:off x="4135250" y="550254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128</a:t>
            </a:r>
            <a:endParaRPr kumimoji="1" lang="ja-JP" altLang="en-US" dirty="0"/>
          </a:p>
        </p:txBody>
      </p:sp>
      <p:sp>
        <p:nvSpPr>
          <p:cNvPr id="34" name="左中かっこ 33">
            <a:extLst>
              <a:ext uri="{FF2B5EF4-FFF2-40B4-BE49-F238E27FC236}">
                <a16:creationId xmlns:a16="http://schemas.microsoft.com/office/drawing/2014/main" id="{B2D1321B-36F8-2F6E-66F3-C16BDB13B208}"/>
              </a:ext>
            </a:extLst>
          </p:cNvPr>
          <p:cNvSpPr/>
          <p:nvPr/>
        </p:nvSpPr>
        <p:spPr>
          <a:xfrm rot="16200000">
            <a:off x="4313595" y="4801715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954E6458-6C55-9815-642F-2FE14FC39044}"/>
              </a:ext>
            </a:extLst>
          </p:cNvPr>
          <p:cNvSpPr/>
          <p:nvPr/>
        </p:nvSpPr>
        <p:spPr>
          <a:xfrm>
            <a:off x="4170920" y="6143029"/>
            <a:ext cx="468000" cy="4680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63" name="表 62">
            <a:extLst>
              <a:ext uri="{FF2B5EF4-FFF2-40B4-BE49-F238E27FC236}">
                <a16:creationId xmlns:a16="http://schemas.microsoft.com/office/drawing/2014/main" id="{4A910F12-C759-8B44-86A7-CD7B212B76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455089"/>
              </p:ext>
            </p:extLst>
          </p:nvPr>
        </p:nvGraphicFramePr>
        <p:xfrm>
          <a:off x="5936045" y="2269715"/>
          <a:ext cx="504000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9092351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19814318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51232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1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1082949"/>
                  </a:ext>
                </a:extLst>
              </a:tr>
            </a:tbl>
          </a:graphicData>
        </a:graphic>
      </p:graphicFrame>
      <p:graphicFrame>
        <p:nvGraphicFramePr>
          <p:cNvPr id="65" name="表 64">
            <a:extLst>
              <a:ext uri="{FF2B5EF4-FFF2-40B4-BE49-F238E27FC236}">
                <a16:creationId xmlns:a16="http://schemas.microsoft.com/office/drawing/2014/main" id="{857BF0AE-9131-2550-747D-D7C5C4278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747980"/>
              </p:ext>
            </p:extLst>
          </p:nvPr>
        </p:nvGraphicFramePr>
        <p:xfrm>
          <a:off x="5828254" y="3661068"/>
          <a:ext cx="756000" cy="75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8000">
                  <a:extLst>
                    <a:ext uri="{9D8B030D-6E8A-4147-A177-3AD203B41FA5}">
                      <a16:colId xmlns:a16="http://schemas.microsoft.com/office/drawing/2014/main" val="3909235189"/>
                    </a:ext>
                  </a:extLst>
                </a:gridCol>
                <a:gridCol w="378000">
                  <a:extLst>
                    <a:ext uri="{9D8B030D-6E8A-4147-A177-3AD203B41FA5}">
                      <a16:colId xmlns:a16="http://schemas.microsoft.com/office/drawing/2014/main" val="319814318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1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51232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1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1082949"/>
                  </a:ext>
                </a:extLst>
              </a:tr>
            </a:tbl>
          </a:graphicData>
        </a:graphic>
      </p:graphicFrame>
      <p:cxnSp>
        <p:nvCxnSpPr>
          <p:cNvPr id="67" name="直線コネクタ 66">
            <a:extLst>
              <a:ext uri="{FF2B5EF4-FFF2-40B4-BE49-F238E27FC236}">
                <a16:creationId xmlns:a16="http://schemas.microsoft.com/office/drawing/2014/main" id="{E3A4B9AD-AC5C-08E8-82D4-CE4565849371}"/>
              </a:ext>
            </a:extLst>
          </p:cNvPr>
          <p:cNvCxnSpPr>
            <a:cxnSpLocks/>
          </p:cNvCxnSpPr>
          <p:nvPr/>
        </p:nvCxnSpPr>
        <p:spPr>
          <a:xfrm>
            <a:off x="6012148" y="3661068"/>
            <a:ext cx="0" cy="756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直線コネクタ 69">
            <a:extLst>
              <a:ext uri="{FF2B5EF4-FFF2-40B4-BE49-F238E27FC236}">
                <a16:creationId xmlns:a16="http://schemas.microsoft.com/office/drawing/2014/main" id="{5455BDDF-57E9-E2D9-DF29-0FB2D0CD2AF5}"/>
              </a:ext>
            </a:extLst>
          </p:cNvPr>
          <p:cNvCxnSpPr>
            <a:cxnSpLocks/>
          </p:cNvCxnSpPr>
          <p:nvPr/>
        </p:nvCxnSpPr>
        <p:spPr>
          <a:xfrm>
            <a:off x="6382353" y="3661068"/>
            <a:ext cx="0" cy="756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線コネクタ 70">
            <a:extLst>
              <a:ext uri="{FF2B5EF4-FFF2-40B4-BE49-F238E27FC236}">
                <a16:creationId xmlns:a16="http://schemas.microsoft.com/office/drawing/2014/main" id="{65EB0B1B-9239-E24B-4D8B-B276D941CC86}"/>
              </a:ext>
            </a:extLst>
          </p:cNvPr>
          <p:cNvCxnSpPr>
            <a:cxnSpLocks/>
          </p:cNvCxnSpPr>
          <p:nvPr/>
        </p:nvCxnSpPr>
        <p:spPr>
          <a:xfrm>
            <a:off x="5828254" y="3848614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C3FC8F6A-D702-124E-06AB-06C1EE5F9DE9}"/>
              </a:ext>
            </a:extLst>
          </p:cNvPr>
          <p:cNvCxnSpPr>
            <a:cxnSpLocks/>
          </p:cNvCxnSpPr>
          <p:nvPr/>
        </p:nvCxnSpPr>
        <p:spPr>
          <a:xfrm>
            <a:off x="5828254" y="4214016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線コネクタ 74">
            <a:extLst>
              <a:ext uri="{FF2B5EF4-FFF2-40B4-BE49-F238E27FC236}">
                <a16:creationId xmlns:a16="http://schemas.microsoft.com/office/drawing/2014/main" id="{DB9855A5-37A0-E58B-6016-FB8492D795C3}"/>
              </a:ext>
            </a:extLst>
          </p:cNvPr>
          <p:cNvCxnSpPr>
            <a:cxnSpLocks/>
          </p:cNvCxnSpPr>
          <p:nvPr/>
        </p:nvCxnSpPr>
        <p:spPr>
          <a:xfrm>
            <a:off x="5828254" y="3746656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コネクタ 75">
            <a:extLst>
              <a:ext uri="{FF2B5EF4-FFF2-40B4-BE49-F238E27FC236}">
                <a16:creationId xmlns:a16="http://schemas.microsoft.com/office/drawing/2014/main" id="{58F942EB-EED7-37A3-2BB7-ACFCA81DFE0E}"/>
              </a:ext>
            </a:extLst>
          </p:cNvPr>
          <p:cNvCxnSpPr>
            <a:cxnSpLocks/>
          </p:cNvCxnSpPr>
          <p:nvPr/>
        </p:nvCxnSpPr>
        <p:spPr>
          <a:xfrm>
            <a:off x="5834633" y="3941601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393E39FF-F223-B46E-317C-BDA4007A732E}"/>
              </a:ext>
            </a:extLst>
          </p:cNvPr>
          <p:cNvCxnSpPr>
            <a:cxnSpLocks/>
          </p:cNvCxnSpPr>
          <p:nvPr/>
        </p:nvCxnSpPr>
        <p:spPr>
          <a:xfrm>
            <a:off x="5834633" y="4128291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線コネクタ 77">
            <a:extLst>
              <a:ext uri="{FF2B5EF4-FFF2-40B4-BE49-F238E27FC236}">
                <a16:creationId xmlns:a16="http://schemas.microsoft.com/office/drawing/2014/main" id="{12308BE5-C9AC-4DEB-6EDF-89D2461CF0EB}"/>
              </a:ext>
            </a:extLst>
          </p:cNvPr>
          <p:cNvCxnSpPr>
            <a:cxnSpLocks/>
          </p:cNvCxnSpPr>
          <p:nvPr/>
        </p:nvCxnSpPr>
        <p:spPr>
          <a:xfrm>
            <a:off x="5834633" y="4311171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コネクタ 78">
            <a:extLst>
              <a:ext uri="{FF2B5EF4-FFF2-40B4-BE49-F238E27FC236}">
                <a16:creationId xmlns:a16="http://schemas.microsoft.com/office/drawing/2014/main" id="{8E978690-6B0E-D192-3A5F-53B0D59598BC}"/>
              </a:ext>
            </a:extLst>
          </p:cNvPr>
          <p:cNvCxnSpPr>
            <a:cxnSpLocks/>
          </p:cNvCxnSpPr>
          <p:nvPr/>
        </p:nvCxnSpPr>
        <p:spPr>
          <a:xfrm flipV="1">
            <a:off x="5913470" y="3652718"/>
            <a:ext cx="0" cy="764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直線コネクタ 80">
            <a:extLst>
              <a:ext uri="{FF2B5EF4-FFF2-40B4-BE49-F238E27FC236}">
                <a16:creationId xmlns:a16="http://schemas.microsoft.com/office/drawing/2014/main" id="{6A5B88E2-F33E-323B-0B8C-FBC054DA7A37}"/>
              </a:ext>
            </a:extLst>
          </p:cNvPr>
          <p:cNvCxnSpPr>
            <a:cxnSpLocks/>
          </p:cNvCxnSpPr>
          <p:nvPr/>
        </p:nvCxnSpPr>
        <p:spPr>
          <a:xfrm flipV="1">
            <a:off x="6109685" y="3652718"/>
            <a:ext cx="0" cy="764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76521D80-0924-4DEC-66C8-4936756A1707}"/>
              </a:ext>
            </a:extLst>
          </p:cNvPr>
          <p:cNvCxnSpPr>
            <a:cxnSpLocks/>
          </p:cNvCxnSpPr>
          <p:nvPr/>
        </p:nvCxnSpPr>
        <p:spPr>
          <a:xfrm flipV="1">
            <a:off x="6288755" y="3652718"/>
            <a:ext cx="0" cy="764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直線コネクタ 82">
            <a:extLst>
              <a:ext uri="{FF2B5EF4-FFF2-40B4-BE49-F238E27FC236}">
                <a16:creationId xmlns:a16="http://schemas.microsoft.com/office/drawing/2014/main" id="{AB4127DD-4417-3415-20AB-282C7C5993DB}"/>
              </a:ext>
            </a:extLst>
          </p:cNvPr>
          <p:cNvCxnSpPr>
            <a:cxnSpLocks/>
          </p:cNvCxnSpPr>
          <p:nvPr/>
        </p:nvCxnSpPr>
        <p:spPr>
          <a:xfrm flipV="1">
            <a:off x="6475445" y="3652718"/>
            <a:ext cx="0" cy="764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直線コネクタ 83">
            <a:extLst>
              <a:ext uri="{FF2B5EF4-FFF2-40B4-BE49-F238E27FC236}">
                <a16:creationId xmlns:a16="http://schemas.microsoft.com/office/drawing/2014/main" id="{85DCEC7C-2D80-FD7D-F16C-3313EFEDD6CB}"/>
              </a:ext>
            </a:extLst>
          </p:cNvPr>
          <p:cNvCxnSpPr>
            <a:cxnSpLocks/>
          </p:cNvCxnSpPr>
          <p:nvPr/>
        </p:nvCxnSpPr>
        <p:spPr>
          <a:xfrm flipV="1">
            <a:off x="6305900" y="2269715"/>
            <a:ext cx="0" cy="518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線コネクタ 85">
            <a:extLst>
              <a:ext uri="{FF2B5EF4-FFF2-40B4-BE49-F238E27FC236}">
                <a16:creationId xmlns:a16="http://schemas.microsoft.com/office/drawing/2014/main" id="{C379BCF3-4D8E-5523-9814-9053C3861367}"/>
              </a:ext>
            </a:extLst>
          </p:cNvPr>
          <p:cNvCxnSpPr>
            <a:cxnSpLocks/>
          </p:cNvCxnSpPr>
          <p:nvPr/>
        </p:nvCxnSpPr>
        <p:spPr>
          <a:xfrm flipV="1">
            <a:off x="6063965" y="2269715"/>
            <a:ext cx="0" cy="518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直線コネクタ 86">
            <a:extLst>
              <a:ext uri="{FF2B5EF4-FFF2-40B4-BE49-F238E27FC236}">
                <a16:creationId xmlns:a16="http://schemas.microsoft.com/office/drawing/2014/main" id="{31051880-4200-1BB4-CB82-3973834B5716}"/>
              </a:ext>
            </a:extLst>
          </p:cNvPr>
          <p:cNvCxnSpPr>
            <a:cxnSpLocks/>
          </p:cNvCxnSpPr>
          <p:nvPr/>
        </p:nvCxnSpPr>
        <p:spPr>
          <a:xfrm flipH="1">
            <a:off x="5943364" y="2656430"/>
            <a:ext cx="49668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直線コネクタ 89">
            <a:extLst>
              <a:ext uri="{FF2B5EF4-FFF2-40B4-BE49-F238E27FC236}">
                <a16:creationId xmlns:a16="http://schemas.microsoft.com/office/drawing/2014/main" id="{728B84AB-E019-1436-ED36-6FDE3BEF8E7A}"/>
              </a:ext>
            </a:extLst>
          </p:cNvPr>
          <p:cNvCxnSpPr>
            <a:cxnSpLocks/>
          </p:cNvCxnSpPr>
          <p:nvPr/>
        </p:nvCxnSpPr>
        <p:spPr>
          <a:xfrm flipH="1">
            <a:off x="5936045" y="2406875"/>
            <a:ext cx="49668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1" name="表 90">
            <a:extLst>
              <a:ext uri="{FF2B5EF4-FFF2-40B4-BE49-F238E27FC236}">
                <a16:creationId xmlns:a16="http://schemas.microsoft.com/office/drawing/2014/main" id="{F7DD671E-F9E2-7DAF-A644-671CADCCAB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6434801"/>
              </p:ext>
            </p:extLst>
          </p:nvPr>
        </p:nvGraphicFramePr>
        <p:xfrm>
          <a:off x="5731692" y="4911177"/>
          <a:ext cx="1008000" cy="100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3909235189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198143181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1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51232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1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1082949"/>
                  </a:ext>
                </a:extLst>
              </a:tr>
            </a:tbl>
          </a:graphicData>
        </a:graphic>
      </p:graphicFrame>
      <p:cxnSp>
        <p:nvCxnSpPr>
          <p:cNvPr id="93" name="直線コネクタ 92">
            <a:extLst>
              <a:ext uri="{FF2B5EF4-FFF2-40B4-BE49-F238E27FC236}">
                <a16:creationId xmlns:a16="http://schemas.microsoft.com/office/drawing/2014/main" id="{EB15F8E5-4540-DA8F-E405-FC5325BA8377}"/>
              </a:ext>
            </a:extLst>
          </p:cNvPr>
          <p:cNvCxnSpPr>
            <a:cxnSpLocks/>
          </p:cNvCxnSpPr>
          <p:nvPr/>
        </p:nvCxnSpPr>
        <p:spPr>
          <a:xfrm flipV="1">
            <a:off x="6482143" y="4911177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直線コネクタ 95">
            <a:extLst>
              <a:ext uri="{FF2B5EF4-FFF2-40B4-BE49-F238E27FC236}">
                <a16:creationId xmlns:a16="http://schemas.microsoft.com/office/drawing/2014/main" id="{F32A8FCB-7323-A94D-C1A4-1B5EA1411D6A}"/>
              </a:ext>
            </a:extLst>
          </p:cNvPr>
          <p:cNvCxnSpPr>
            <a:cxnSpLocks/>
          </p:cNvCxnSpPr>
          <p:nvPr/>
        </p:nvCxnSpPr>
        <p:spPr>
          <a:xfrm flipV="1">
            <a:off x="5977318" y="4916263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線コネクタ 96">
            <a:extLst>
              <a:ext uri="{FF2B5EF4-FFF2-40B4-BE49-F238E27FC236}">
                <a16:creationId xmlns:a16="http://schemas.microsoft.com/office/drawing/2014/main" id="{70D8FC55-DDFB-588B-8E4E-DAE7FB5AF121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6709" y="4666998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直線コネクタ 97">
            <a:extLst>
              <a:ext uri="{FF2B5EF4-FFF2-40B4-BE49-F238E27FC236}">
                <a16:creationId xmlns:a16="http://schemas.microsoft.com/office/drawing/2014/main" id="{5FE16901-4CF0-7BDF-90E2-9BDC7D957536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5692" y="5163306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直線コネクタ 98">
            <a:extLst>
              <a:ext uri="{FF2B5EF4-FFF2-40B4-BE49-F238E27FC236}">
                <a16:creationId xmlns:a16="http://schemas.microsoft.com/office/drawing/2014/main" id="{C4206273-0C4F-55EA-0EA9-40ABA15293A3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5692" y="5289461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直線コネクタ 99">
            <a:extLst>
              <a:ext uri="{FF2B5EF4-FFF2-40B4-BE49-F238E27FC236}">
                <a16:creationId xmlns:a16="http://schemas.microsoft.com/office/drawing/2014/main" id="{594BD09A-1F4E-CE9E-9CD6-9DA3AC5078D2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9409" y="5033986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直線コネクタ 100">
            <a:extLst>
              <a:ext uri="{FF2B5EF4-FFF2-40B4-BE49-F238E27FC236}">
                <a16:creationId xmlns:a16="http://schemas.microsoft.com/office/drawing/2014/main" id="{0C54FCBB-FE2C-9FFB-AC61-9287BA1B19A3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9409" y="4786701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直線コネクタ 101">
            <a:extLst>
              <a:ext uri="{FF2B5EF4-FFF2-40B4-BE49-F238E27FC236}">
                <a16:creationId xmlns:a16="http://schemas.microsoft.com/office/drawing/2014/main" id="{D92C8BD9-91BA-1F39-B5F9-DC6F36E3A424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9409" y="4539262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線コネクタ 102">
            <a:extLst>
              <a:ext uri="{FF2B5EF4-FFF2-40B4-BE49-F238E27FC236}">
                <a16:creationId xmlns:a16="http://schemas.microsoft.com/office/drawing/2014/main" id="{7496272F-8FB1-F967-8499-035DA518907C}"/>
              </a:ext>
            </a:extLst>
          </p:cNvPr>
          <p:cNvCxnSpPr>
            <a:cxnSpLocks/>
          </p:cNvCxnSpPr>
          <p:nvPr/>
        </p:nvCxnSpPr>
        <p:spPr>
          <a:xfrm flipV="1">
            <a:off x="5851588" y="4911177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直線コネクタ 103">
            <a:extLst>
              <a:ext uri="{FF2B5EF4-FFF2-40B4-BE49-F238E27FC236}">
                <a16:creationId xmlns:a16="http://schemas.microsoft.com/office/drawing/2014/main" id="{59AB438A-73A6-9D96-07B9-5885BB556ED8}"/>
              </a:ext>
            </a:extLst>
          </p:cNvPr>
          <p:cNvCxnSpPr>
            <a:cxnSpLocks/>
          </p:cNvCxnSpPr>
          <p:nvPr/>
        </p:nvCxnSpPr>
        <p:spPr>
          <a:xfrm flipV="1">
            <a:off x="6107875" y="4911177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コネクタ 104">
            <a:extLst>
              <a:ext uri="{FF2B5EF4-FFF2-40B4-BE49-F238E27FC236}">
                <a16:creationId xmlns:a16="http://schemas.microsoft.com/office/drawing/2014/main" id="{BE1A28CD-6FCE-4C0B-8635-74855D7C6C80}"/>
              </a:ext>
            </a:extLst>
          </p:cNvPr>
          <p:cNvCxnSpPr>
            <a:cxnSpLocks/>
          </p:cNvCxnSpPr>
          <p:nvPr/>
        </p:nvCxnSpPr>
        <p:spPr>
          <a:xfrm flipV="1">
            <a:off x="6358318" y="4911177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線コネクタ 105">
            <a:extLst>
              <a:ext uri="{FF2B5EF4-FFF2-40B4-BE49-F238E27FC236}">
                <a16:creationId xmlns:a16="http://schemas.microsoft.com/office/drawing/2014/main" id="{56A3B3A8-2EF1-3919-4AF6-AAF499E48453}"/>
              </a:ext>
            </a:extLst>
          </p:cNvPr>
          <p:cNvCxnSpPr>
            <a:cxnSpLocks/>
          </p:cNvCxnSpPr>
          <p:nvPr/>
        </p:nvCxnSpPr>
        <p:spPr>
          <a:xfrm flipV="1">
            <a:off x="6605968" y="4911177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直線コネクタ 106">
            <a:extLst>
              <a:ext uri="{FF2B5EF4-FFF2-40B4-BE49-F238E27FC236}">
                <a16:creationId xmlns:a16="http://schemas.microsoft.com/office/drawing/2014/main" id="{6A96F91C-FE6E-89AA-3ABD-9DEFE526E3D7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9409" y="4470971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直線コネクタ 107">
            <a:extLst>
              <a:ext uri="{FF2B5EF4-FFF2-40B4-BE49-F238E27FC236}">
                <a16:creationId xmlns:a16="http://schemas.microsoft.com/office/drawing/2014/main" id="{6FEF01E4-840D-0B8F-977A-7BAD641CEAC0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9409" y="4603920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直線コネクタ 108">
            <a:extLst>
              <a:ext uri="{FF2B5EF4-FFF2-40B4-BE49-F238E27FC236}">
                <a16:creationId xmlns:a16="http://schemas.microsoft.com/office/drawing/2014/main" id="{82EA3FD9-6DCA-4E6F-0887-DF99354B969E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6709" y="4726848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直線コネクタ 109">
            <a:extLst>
              <a:ext uri="{FF2B5EF4-FFF2-40B4-BE49-F238E27FC236}">
                <a16:creationId xmlns:a16="http://schemas.microsoft.com/office/drawing/2014/main" id="{9188BDBD-C78D-88D9-6DEF-1E904D83CE7D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6709" y="4853002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直線コネクタ 110">
            <a:extLst>
              <a:ext uri="{FF2B5EF4-FFF2-40B4-BE49-F238E27FC236}">
                <a16:creationId xmlns:a16="http://schemas.microsoft.com/office/drawing/2014/main" id="{FC8D36DB-98DE-E84D-6B50-54853E86A619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5692" y="4971692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直線コネクタ 111">
            <a:extLst>
              <a:ext uri="{FF2B5EF4-FFF2-40B4-BE49-F238E27FC236}">
                <a16:creationId xmlns:a16="http://schemas.microsoft.com/office/drawing/2014/main" id="{BA2956C7-6A96-75C7-B343-FD909F4DC1E4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6709" y="5099012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直線コネクタ 112">
            <a:extLst>
              <a:ext uri="{FF2B5EF4-FFF2-40B4-BE49-F238E27FC236}">
                <a16:creationId xmlns:a16="http://schemas.microsoft.com/office/drawing/2014/main" id="{E1B5B7DE-634E-EF2C-A84A-D59E769F3AAD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35692" y="5229087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直線コネクタ 113">
            <a:extLst>
              <a:ext uri="{FF2B5EF4-FFF2-40B4-BE49-F238E27FC236}">
                <a16:creationId xmlns:a16="http://schemas.microsoft.com/office/drawing/2014/main" id="{F7A303DB-C177-796C-028F-99542054F9F7}"/>
              </a:ext>
            </a:extLst>
          </p:cNvPr>
          <p:cNvCxnSpPr>
            <a:cxnSpLocks/>
          </p:cNvCxnSpPr>
          <p:nvPr/>
        </p:nvCxnSpPr>
        <p:spPr>
          <a:xfrm rot="16200000" flipV="1">
            <a:off x="6229859" y="5346719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直線コネクタ 114">
            <a:extLst>
              <a:ext uri="{FF2B5EF4-FFF2-40B4-BE49-F238E27FC236}">
                <a16:creationId xmlns:a16="http://schemas.microsoft.com/office/drawing/2014/main" id="{4468A7ED-B9E1-C0A0-E16C-2F2F30F4CDE8}"/>
              </a:ext>
            </a:extLst>
          </p:cNvPr>
          <p:cNvCxnSpPr>
            <a:cxnSpLocks/>
          </p:cNvCxnSpPr>
          <p:nvPr/>
        </p:nvCxnSpPr>
        <p:spPr>
          <a:xfrm flipV="1">
            <a:off x="5788723" y="4911177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直線コネクタ 115">
            <a:extLst>
              <a:ext uri="{FF2B5EF4-FFF2-40B4-BE49-F238E27FC236}">
                <a16:creationId xmlns:a16="http://schemas.microsoft.com/office/drawing/2014/main" id="{1EA29E2C-0635-C1F2-725E-18E89A3957F9}"/>
              </a:ext>
            </a:extLst>
          </p:cNvPr>
          <p:cNvCxnSpPr>
            <a:cxnSpLocks/>
          </p:cNvCxnSpPr>
          <p:nvPr/>
        </p:nvCxnSpPr>
        <p:spPr>
          <a:xfrm flipV="1">
            <a:off x="5913470" y="4911177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直線コネクタ 116">
            <a:extLst>
              <a:ext uri="{FF2B5EF4-FFF2-40B4-BE49-F238E27FC236}">
                <a16:creationId xmlns:a16="http://schemas.microsoft.com/office/drawing/2014/main" id="{32DD9924-937B-0CDC-D5A0-5AA07A979DEC}"/>
              </a:ext>
            </a:extLst>
          </p:cNvPr>
          <p:cNvCxnSpPr>
            <a:cxnSpLocks/>
          </p:cNvCxnSpPr>
          <p:nvPr/>
        </p:nvCxnSpPr>
        <p:spPr>
          <a:xfrm flipV="1">
            <a:off x="6039200" y="4906766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コネクタ 117">
            <a:extLst>
              <a:ext uri="{FF2B5EF4-FFF2-40B4-BE49-F238E27FC236}">
                <a16:creationId xmlns:a16="http://schemas.microsoft.com/office/drawing/2014/main" id="{A0114CC1-F338-9902-F021-A0815A3CBD20}"/>
              </a:ext>
            </a:extLst>
          </p:cNvPr>
          <p:cNvCxnSpPr>
            <a:cxnSpLocks/>
          </p:cNvCxnSpPr>
          <p:nvPr/>
        </p:nvCxnSpPr>
        <p:spPr>
          <a:xfrm flipV="1">
            <a:off x="6168740" y="4916263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直線コネクタ 118">
            <a:extLst>
              <a:ext uri="{FF2B5EF4-FFF2-40B4-BE49-F238E27FC236}">
                <a16:creationId xmlns:a16="http://schemas.microsoft.com/office/drawing/2014/main" id="{64CA99B9-2419-5C69-A8CA-AC0EE6D72F8A}"/>
              </a:ext>
            </a:extLst>
          </p:cNvPr>
          <p:cNvCxnSpPr>
            <a:cxnSpLocks/>
          </p:cNvCxnSpPr>
          <p:nvPr/>
        </p:nvCxnSpPr>
        <p:spPr>
          <a:xfrm flipV="1">
            <a:off x="6299297" y="4906766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直線コネクタ 119">
            <a:extLst>
              <a:ext uri="{FF2B5EF4-FFF2-40B4-BE49-F238E27FC236}">
                <a16:creationId xmlns:a16="http://schemas.microsoft.com/office/drawing/2014/main" id="{D2E762E3-291E-E635-43AF-1B6451CE748C}"/>
              </a:ext>
            </a:extLst>
          </p:cNvPr>
          <p:cNvCxnSpPr>
            <a:cxnSpLocks/>
          </p:cNvCxnSpPr>
          <p:nvPr/>
        </p:nvCxnSpPr>
        <p:spPr>
          <a:xfrm flipV="1">
            <a:off x="6415502" y="4906766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コネクタ 120">
            <a:extLst>
              <a:ext uri="{FF2B5EF4-FFF2-40B4-BE49-F238E27FC236}">
                <a16:creationId xmlns:a16="http://schemas.microsoft.com/office/drawing/2014/main" id="{7B46C46F-A65F-0BC5-8B5D-E9C2CE6EEC3D}"/>
              </a:ext>
            </a:extLst>
          </p:cNvPr>
          <p:cNvCxnSpPr>
            <a:cxnSpLocks/>
          </p:cNvCxnSpPr>
          <p:nvPr/>
        </p:nvCxnSpPr>
        <p:spPr>
          <a:xfrm flipV="1">
            <a:off x="6546947" y="4916263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直線コネクタ 121">
            <a:extLst>
              <a:ext uri="{FF2B5EF4-FFF2-40B4-BE49-F238E27FC236}">
                <a16:creationId xmlns:a16="http://schemas.microsoft.com/office/drawing/2014/main" id="{52AF2640-5562-CCEB-2F94-08E31024AFAB}"/>
              </a:ext>
            </a:extLst>
          </p:cNvPr>
          <p:cNvCxnSpPr>
            <a:cxnSpLocks/>
          </p:cNvCxnSpPr>
          <p:nvPr/>
        </p:nvCxnSpPr>
        <p:spPr>
          <a:xfrm flipV="1">
            <a:off x="6672677" y="4915633"/>
            <a:ext cx="0" cy="100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E9653A7F-C192-1746-02B6-2A7308F71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677005"/>
              </p:ext>
            </p:extLst>
          </p:nvPr>
        </p:nvGraphicFramePr>
        <p:xfrm>
          <a:off x="9443453" y="3853514"/>
          <a:ext cx="756000" cy="75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78000">
                  <a:extLst>
                    <a:ext uri="{9D8B030D-6E8A-4147-A177-3AD203B41FA5}">
                      <a16:colId xmlns:a16="http://schemas.microsoft.com/office/drawing/2014/main" val="3909235189"/>
                    </a:ext>
                  </a:extLst>
                </a:gridCol>
                <a:gridCol w="378000">
                  <a:extLst>
                    <a:ext uri="{9D8B030D-6E8A-4147-A177-3AD203B41FA5}">
                      <a16:colId xmlns:a16="http://schemas.microsoft.com/office/drawing/2014/main" val="3198143181"/>
                    </a:ext>
                  </a:extLst>
                </a:gridCol>
              </a:tblGrid>
              <a:tr h="378000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1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51232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1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1082949"/>
                  </a:ext>
                </a:extLst>
              </a:tr>
            </a:tbl>
          </a:graphicData>
        </a:graphic>
      </p:graphicFrame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B870EEE3-91B4-36DD-49F5-03624664B8F1}"/>
              </a:ext>
            </a:extLst>
          </p:cNvPr>
          <p:cNvCxnSpPr>
            <a:cxnSpLocks/>
          </p:cNvCxnSpPr>
          <p:nvPr/>
        </p:nvCxnSpPr>
        <p:spPr>
          <a:xfrm>
            <a:off x="9627347" y="3853514"/>
            <a:ext cx="0" cy="756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206ABBF6-D76F-02BE-B2F2-9F3033C50B28}"/>
              </a:ext>
            </a:extLst>
          </p:cNvPr>
          <p:cNvCxnSpPr>
            <a:cxnSpLocks/>
          </p:cNvCxnSpPr>
          <p:nvPr/>
        </p:nvCxnSpPr>
        <p:spPr>
          <a:xfrm>
            <a:off x="9997552" y="3853514"/>
            <a:ext cx="0" cy="756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14B825A9-901D-F6D9-E601-D0487A22966E}"/>
              </a:ext>
            </a:extLst>
          </p:cNvPr>
          <p:cNvCxnSpPr>
            <a:cxnSpLocks/>
          </p:cNvCxnSpPr>
          <p:nvPr/>
        </p:nvCxnSpPr>
        <p:spPr>
          <a:xfrm>
            <a:off x="9443453" y="4041060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35F4C3F-349C-6D30-9BC9-67CA02ADA528}"/>
              </a:ext>
            </a:extLst>
          </p:cNvPr>
          <p:cNvCxnSpPr>
            <a:cxnSpLocks/>
          </p:cNvCxnSpPr>
          <p:nvPr/>
        </p:nvCxnSpPr>
        <p:spPr>
          <a:xfrm>
            <a:off x="9443453" y="4406462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2CD67BBB-A917-0767-EA06-FDD7FF1A2E7B}"/>
              </a:ext>
            </a:extLst>
          </p:cNvPr>
          <p:cNvCxnSpPr>
            <a:cxnSpLocks/>
          </p:cNvCxnSpPr>
          <p:nvPr/>
        </p:nvCxnSpPr>
        <p:spPr>
          <a:xfrm>
            <a:off x="9443453" y="3939102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018481C1-AC87-EF7D-0AA4-23A3ACD0189A}"/>
              </a:ext>
            </a:extLst>
          </p:cNvPr>
          <p:cNvCxnSpPr>
            <a:cxnSpLocks/>
          </p:cNvCxnSpPr>
          <p:nvPr/>
        </p:nvCxnSpPr>
        <p:spPr>
          <a:xfrm>
            <a:off x="9449832" y="4134047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C0FADA7E-5568-ACCB-2740-F990C6E66692}"/>
              </a:ext>
            </a:extLst>
          </p:cNvPr>
          <p:cNvCxnSpPr>
            <a:cxnSpLocks/>
          </p:cNvCxnSpPr>
          <p:nvPr/>
        </p:nvCxnSpPr>
        <p:spPr>
          <a:xfrm>
            <a:off x="9449832" y="4320737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A0EF1D67-CBED-9B12-4B26-594BCD3CDCEC}"/>
              </a:ext>
            </a:extLst>
          </p:cNvPr>
          <p:cNvCxnSpPr>
            <a:cxnSpLocks/>
          </p:cNvCxnSpPr>
          <p:nvPr/>
        </p:nvCxnSpPr>
        <p:spPr>
          <a:xfrm>
            <a:off x="9449832" y="4503617"/>
            <a:ext cx="756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06E7A4D7-A607-FC09-794F-2E7FB89F4755}"/>
              </a:ext>
            </a:extLst>
          </p:cNvPr>
          <p:cNvCxnSpPr>
            <a:cxnSpLocks/>
          </p:cNvCxnSpPr>
          <p:nvPr/>
        </p:nvCxnSpPr>
        <p:spPr>
          <a:xfrm flipV="1">
            <a:off x="9528669" y="3845164"/>
            <a:ext cx="0" cy="764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83F6AC1A-68DF-EA0D-35A8-9ACBBC5F34A8}"/>
              </a:ext>
            </a:extLst>
          </p:cNvPr>
          <p:cNvCxnSpPr>
            <a:cxnSpLocks/>
          </p:cNvCxnSpPr>
          <p:nvPr/>
        </p:nvCxnSpPr>
        <p:spPr>
          <a:xfrm flipV="1">
            <a:off x="9724884" y="3845164"/>
            <a:ext cx="0" cy="764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B84D0DA0-7A38-2561-2252-581C7143873C}"/>
              </a:ext>
            </a:extLst>
          </p:cNvPr>
          <p:cNvCxnSpPr>
            <a:cxnSpLocks/>
          </p:cNvCxnSpPr>
          <p:nvPr/>
        </p:nvCxnSpPr>
        <p:spPr>
          <a:xfrm flipV="1">
            <a:off x="9903954" y="3845164"/>
            <a:ext cx="0" cy="764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456843AD-C16C-7629-9121-63A98C686BBF}"/>
              </a:ext>
            </a:extLst>
          </p:cNvPr>
          <p:cNvCxnSpPr>
            <a:cxnSpLocks/>
          </p:cNvCxnSpPr>
          <p:nvPr/>
        </p:nvCxnSpPr>
        <p:spPr>
          <a:xfrm flipV="1">
            <a:off x="10090644" y="3845164"/>
            <a:ext cx="0" cy="7643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30915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470B6E2D-F36C-01B3-D8D1-21F13A769E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7821549"/>
              </p:ext>
            </p:extLst>
          </p:nvPr>
        </p:nvGraphicFramePr>
        <p:xfrm>
          <a:off x="741042" y="2105616"/>
          <a:ext cx="864000" cy="864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3927233397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1119761604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369975327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6319796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64793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5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96009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7650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5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12292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83D77AA-98EE-C1C7-42C2-022CA7532F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1622209"/>
              </p:ext>
            </p:extLst>
          </p:nvPr>
        </p:nvGraphicFramePr>
        <p:xfrm>
          <a:off x="2752344" y="1737698"/>
          <a:ext cx="1512000" cy="151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3927233397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651165586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1119761604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588280428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369975327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01890552"/>
                    </a:ext>
                  </a:extLst>
                </a:gridCol>
                <a:gridCol w="223720">
                  <a:extLst>
                    <a:ext uri="{9D8B030D-6E8A-4147-A177-3AD203B41FA5}">
                      <a16:colId xmlns:a16="http://schemas.microsoft.com/office/drawing/2014/main" val="206319796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64793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67230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5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96009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171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7650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200082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5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12292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0A4AD7E0-4100-35C5-5C43-D347DD9E3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117528"/>
              </p:ext>
            </p:extLst>
          </p:nvPr>
        </p:nvGraphicFramePr>
        <p:xfrm>
          <a:off x="6187652" y="1326074"/>
          <a:ext cx="2376000" cy="237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1272293717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318510754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3927233397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651165586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1119761604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588280428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369975327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20189055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63197968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33849257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83207305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117189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90574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64793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67230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5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96009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171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7650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200082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5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1229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93506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6110465"/>
                  </a:ext>
                </a:extLst>
              </a:tr>
            </a:tbl>
          </a:graphicData>
        </a:graphic>
      </p:graphicFrame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4DA78FD6-B4B6-6B97-0FC9-87006FF33F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39517"/>
              </p:ext>
            </p:extLst>
          </p:nvPr>
        </p:nvGraphicFramePr>
        <p:xfrm>
          <a:off x="9722958" y="1614491"/>
          <a:ext cx="1728000" cy="172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3927233397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651165586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111976160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588280428"/>
                    </a:ext>
                  </a:extLst>
                </a:gridCol>
                <a:gridCol w="223720">
                  <a:extLst>
                    <a:ext uri="{9D8B030D-6E8A-4147-A177-3AD203B41FA5}">
                      <a16:colId xmlns:a16="http://schemas.microsoft.com/office/drawing/2014/main" val="369975327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20189055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63197968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3203767908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5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5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64793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6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6</a:t>
                      </a: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67230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5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6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96009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171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6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2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7650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6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6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200082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5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0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1229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7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4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3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/>
                        <a:t>1</a:t>
                      </a:r>
                      <a:endParaRPr kumimoji="1" lang="ja-JP" altLang="en-US" sz="7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7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kumimoji="1" lang="ja-JP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593588"/>
                  </a:ext>
                </a:extLst>
              </a:tr>
            </a:tbl>
          </a:graphicData>
        </a:graphic>
      </p:graphicFrame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4F543885-FCBB-AA79-E83B-99C7F5507320}"/>
              </a:ext>
            </a:extLst>
          </p:cNvPr>
          <p:cNvCxnSpPr>
            <a:cxnSpLocks/>
          </p:cNvCxnSpPr>
          <p:nvPr/>
        </p:nvCxnSpPr>
        <p:spPr>
          <a:xfrm>
            <a:off x="1822293" y="2554814"/>
            <a:ext cx="730407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4514FF3-071B-838A-0FB4-D5D91CCA0FE6}"/>
              </a:ext>
            </a:extLst>
          </p:cNvPr>
          <p:cNvSpPr txBox="1"/>
          <p:nvPr/>
        </p:nvSpPr>
        <p:spPr>
          <a:xfrm>
            <a:off x="1605042" y="1891285"/>
            <a:ext cx="1111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b="1" dirty="0"/>
              <a:t>STEP1</a:t>
            </a:r>
          </a:p>
          <a:p>
            <a:r>
              <a:rPr kumimoji="1" lang="en-US" altLang="ja-JP" dirty="0"/>
              <a:t>Stride=2</a:t>
            </a:r>
            <a:endParaRPr kumimoji="1" lang="ja-JP" altLang="en-US" dirty="0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64FA09C7-4721-A1D1-D03C-79E0D7818AB5}"/>
              </a:ext>
            </a:extLst>
          </p:cNvPr>
          <p:cNvCxnSpPr>
            <a:cxnSpLocks/>
          </p:cNvCxnSpPr>
          <p:nvPr/>
        </p:nvCxnSpPr>
        <p:spPr>
          <a:xfrm>
            <a:off x="4364166" y="2514074"/>
            <a:ext cx="1731834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FE4586C-3DD0-E112-FD7C-FF3CEF2C6F42}"/>
              </a:ext>
            </a:extLst>
          </p:cNvPr>
          <p:cNvSpPr txBox="1"/>
          <p:nvPr/>
        </p:nvSpPr>
        <p:spPr>
          <a:xfrm>
            <a:off x="4337138" y="1429619"/>
            <a:ext cx="16578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b="1" dirty="0"/>
              <a:t>STEP2</a:t>
            </a:r>
          </a:p>
          <a:p>
            <a:r>
              <a:rPr lang="en-US" altLang="ja-JP" dirty="0"/>
              <a:t>kernel size-1</a:t>
            </a:r>
          </a:p>
          <a:p>
            <a:r>
              <a:rPr kumimoji="1" lang="en-US" altLang="ja-JP" dirty="0"/>
              <a:t>=3</a:t>
            </a:r>
            <a:r>
              <a:rPr kumimoji="1" lang="ja-JP" altLang="en-US" dirty="0"/>
              <a:t>の余白追加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0BFE1BE-5FC8-A867-3C65-E3D9B8FCD0CE}"/>
              </a:ext>
            </a:extLst>
          </p:cNvPr>
          <p:cNvSpPr txBox="1"/>
          <p:nvPr/>
        </p:nvSpPr>
        <p:spPr>
          <a:xfrm>
            <a:off x="4470767" y="2614239"/>
            <a:ext cx="13740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b="1" dirty="0"/>
              <a:t>STEP3</a:t>
            </a:r>
          </a:p>
          <a:p>
            <a:r>
              <a:rPr lang="en-US" altLang="ja-JP" dirty="0"/>
              <a:t>padding=1</a:t>
            </a:r>
          </a:p>
          <a:p>
            <a:r>
              <a:rPr kumimoji="1" lang="ja-JP" altLang="en-US" dirty="0"/>
              <a:t>の余白</a:t>
            </a:r>
            <a:r>
              <a:rPr lang="ja-JP" altLang="en-US" dirty="0"/>
              <a:t>削除</a:t>
            </a:r>
            <a:endParaRPr kumimoji="1" lang="ja-JP" altLang="en-US" dirty="0"/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3C6DD923-D71D-51CC-E53F-8870AE875ECC}"/>
              </a:ext>
            </a:extLst>
          </p:cNvPr>
          <p:cNvCxnSpPr>
            <a:cxnSpLocks/>
          </p:cNvCxnSpPr>
          <p:nvPr/>
        </p:nvCxnSpPr>
        <p:spPr>
          <a:xfrm>
            <a:off x="8765096" y="2429723"/>
            <a:ext cx="730407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FE48DF4-A0D3-0CD5-5D85-ACD1AC312CB8}"/>
              </a:ext>
            </a:extLst>
          </p:cNvPr>
          <p:cNvSpPr/>
          <p:nvPr/>
        </p:nvSpPr>
        <p:spPr>
          <a:xfrm>
            <a:off x="6187652" y="1326073"/>
            <a:ext cx="858308" cy="858327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8ECFFD7-902C-1F41-50DE-940EF8BD2D0B}"/>
              </a:ext>
            </a:extLst>
          </p:cNvPr>
          <p:cNvSpPr/>
          <p:nvPr/>
        </p:nvSpPr>
        <p:spPr>
          <a:xfrm>
            <a:off x="6407997" y="1326072"/>
            <a:ext cx="867270" cy="858327"/>
          </a:xfrm>
          <a:prstGeom prst="rect">
            <a:avLst/>
          </a:prstGeom>
          <a:noFill/>
          <a:ln w="571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E4AA3A2D-37C2-F70D-EDF9-7324CFB011C6}"/>
              </a:ext>
            </a:extLst>
          </p:cNvPr>
          <p:cNvSpPr/>
          <p:nvPr/>
        </p:nvSpPr>
        <p:spPr>
          <a:xfrm>
            <a:off x="9722958" y="1614490"/>
            <a:ext cx="210257" cy="216121"/>
          </a:xfrm>
          <a:prstGeom prst="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956B14C0-24F4-6392-34F5-30446B62192A}"/>
              </a:ext>
            </a:extLst>
          </p:cNvPr>
          <p:cNvSpPr/>
          <p:nvPr/>
        </p:nvSpPr>
        <p:spPr>
          <a:xfrm>
            <a:off x="9952265" y="1614489"/>
            <a:ext cx="210257" cy="216121"/>
          </a:xfrm>
          <a:prstGeom prst="rect">
            <a:avLst/>
          </a:prstGeom>
          <a:noFill/>
          <a:ln w="571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CD7512C5-B476-15B1-9E3C-B1AF62720F58}"/>
              </a:ext>
            </a:extLst>
          </p:cNvPr>
          <p:cNvSpPr txBox="1"/>
          <p:nvPr/>
        </p:nvSpPr>
        <p:spPr>
          <a:xfrm>
            <a:off x="8585354" y="1706618"/>
            <a:ext cx="11416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b="1" dirty="0"/>
              <a:t>STEP4</a:t>
            </a:r>
          </a:p>
          <a:p>
            <a:r>
              <a:rPr lang="ja-JP" altLang="en-US" dirty="0"/>
              <a:t>畳み込み</a:t>
            </a:r>
            <a:endParaRPr lang="en-US" altLang="ja-JP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2031BBE-E889-84D8-5831-ECA0A2393E76}"/>
              </a:ext>
            </a:extLst>
          </p:cNvPr>
          <p:cNvSpPr txBox="1"/>
          <p:nvPr/>
        </p:nvSpPr>
        <p:spPr>
          <a:xfrm>
            <a:off x="793096" y="1637278"/>
            <a:ext cx="8354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4×4</a:t>
            </a:r>
            <a:endParaRPr kumimoji="1" lang="ja-JP" altLang="en-US" sz="24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16E348E-AB88-409D-A6AC-D416D2CF5534}"/>
              </a:ext>
            </a:extLst>
          </p:cNvPr>
          <p:cNvSpPr txBox="1"/>
          <p:nvPr/>
        </p:nvSpPr>
        <p:spPr>
          <a:xfrm>
            <a:off x="3114218" y="1276033"/>
            <a:ext cx="8354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7</a:t>
            </a:r>
            <a:r>
              <a:rPr kumimoji="1" lang="en-US" altLang="ja-JP" sz="2400" dirty="0"/>
              <a:t>×7</a:t>
            </a:r>
            <a:endParaRPr kumimoji="1" lang="ja-JP" altLang="en-US" sz="2400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487F8F9-E530-B1F9-124B-33A6ED50D25F}"/>
              </a:ext>
            </a:extLst>
          </p:cNvPr>
          <p:cNvSpPr txBox="1"/>
          <p:nvPr/>
        </p:nvSpPr>
        <p:spPr>
          <a:xfrm>
            <a:off x="6841632" y="864406"/>
            <a:ext cx="11785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11×11</a:t>
            </a:r>
            <a:endParaRPr kumimoji="1" lang="ja-JP" altLang="en-US" sz="2400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0173FA6-0B89-7B46-BF54-17AC2D6A08EA}"/>
              </a:ext>
            </a:extLst>
          </p:cNvPr>
          <p:cNvSpPr txBox="1"/>
          <p:nvPr/>
        </p:nvSpPr>
        <p:spPr>
          <a:xfrm>
            <a:off x="10235334" y="1209586"/>
            <a:ext cx="8354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8</a:t>
            </a:r>
            <a:r>
              <a:rPr kumimoji="1" lang="en-US" altLang="ja-JP" sz="2400" dirty="0"/>
              <a:t>×8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197832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5E73-BE83-46D4-E674-5D4A57619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67229EE9-B719-4CF4-8AAE-F883E8603DF1}"/>
              </a:ext>
            </a:extLst>
          </p:cNvPr>
          <p:cNvSpPr/>
          <p:nvPr/>
        </p:nvSpPr>
        <p:spPr>
          <a:xfrm>
            <a:off x="1303746" y="1472065"/>
            <a:ext cx="2215744" cy="10249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81863112-FC9F-302A-BDFC-2F3A40FCA990}"/>
                  </a:ext>
                </a:extLst>
              </p:cNvPr>
              <p:cNvSpPr txBox="1"/>
              <p:nvPr/>
            </p:nvSpPr>
            <p:spPr>
              <a:xfrm>
                <a:off x="1382459" y="1690687"/>
                <a:ext cx="212987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𝒛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ja-JP" b="0" dirty="0"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en-US" altLang="ja-JP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l-GR" altLang="ja-JP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Ν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altLang="ja-JP" dirty="0"/>
              </a:p>
            </p:txBody>
          </p:sp>
        </mc:Choice>
        <mc:Fallback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81863112-FC9F-302A-BDFC-2F3A40FCA9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2459" y="1690687"/>
                <a:ext cx="2129878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楕円 22">
            <a:extLst>
              <a:ext uri="{FF2B5EF4-FFF2-40B4-BE49-F238E27FC236}">
                <a16:creationId xmlns:a16="http://schemas.microsoft.com/office/drawing/2014/main" id="{537953C3-0964-5B90-3B6C-D2EDD2BB5F03}"/>
              </a:ext>
            </a:extLst>
          </p:cNvPr>
          <p:cNvSpPr/>
          <p:nvPr/>
        </p:nvSpPr>
        <p:spPr>
          <a:xfrm>
            <a:off x="7272834" y="1816678"/>
            <a:ext cx="2200111" cy="1199536"/>
          </a:xfrm>
          <a:prstGeom prst="ellipse">
            <a:avLst/>
          </a:prstGeom>
          <a:gradFill flip="none" rotWithShape="1">
            <a:gsLst>
              <a:gs pos="6000">
                <a:schemeClr val="accent2"/>
              </a:gs>
              <a:gs pos="50000">
                <a:schemeClr val="accent6">
                  <a:lumMod val="20000"/>
                  <a:lumOff val="80000"/>
                  <a:shade val="67500"/>
                  <a:satMod val="115000"/>
                </a:schemeClr>
              </a:gs>
              <a:gs pos="32000">
                <a:schemeClr val="accent5">
                  <a:lumMod val="20000"/>
                  <a:lumOff val="80000"/>
                </a:schemeClr>
              </a:gs>
              <a:gs pos="100000">
                <a:srgbClr val="FFFF00"/>
              </a:gs>
              <a:gs pos="77000">
                <a:schemeClr val="tx2">
                  <a:lumMod val="10000"/>
                  <a:lumOff val="90000"/>
                </a:schemeClr>
              </a:gs>
            </a:gsLst>
            <a:lin ang="27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楕円 25">
            <a:extLst>
              <a:ext uri="{FF2B5EF4-FFF2-40B4-BE49-F238E27FC236}">
                <a16:creationId xmlns:a16="http://schemas.microsoft.com/office/drawing/2014/main" id="{34138CB9-5714-8AEC-A4A8-DFFAAE558BF2}"/>
              </a:ext>
            </a:extLst>
          </p:cNvPr>
          <p:cNvSpPr/>
          <p:nvPr/>
        </p:nvSpPr>
        <p:spPr>
          <a:xfrm>
            <a:off x="967770" y="1899529"/>
            <a:ext cx="2215744" cy="1024932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08D6AE68-0410-55A4-375F-D4B4C7F92AA4}"/>
                  </a:ext>
                </a:extLst>
              </p:cNvPr>
              <p:cNvSpPr txBox="1"/>
              <p:nvPr/>
            </p:nvSpPr>
            <p:spPr>
              <a:xfrm>
                <a:off x="1365157" y="2192656"/>
                <a:ext cx="14812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𝒛</m:t>
                      </m:r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altLang="ja-JP" dirty="0"/>
              </a:p>
            </p:txBody>
          </p:sp>
        </mc:Choice>
        <mc:Fallback xmlns="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3E32DBF2-9350-8C78-5E47-A59163ED3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157" y="2192656"/>
                <a:ext cx="148128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矢印: 右 8">
            <a:extLst>
              <a:ext uri="{FF2B5EF4-FFF2-40B4-BE49-F238E27FC236}">
                <a16:creationId xmlns:a16="http://schemas.microsoft.com/office/drawing/2014/main" id="{3B1F72E2-6633-7683-9EAA-DBB07EABA844}"/>
              </a:ext>
            </a:extLst>
          </p:cNvPr>
          <p:cNvSpPr/>
          <p:nvPr/>
        </p:nvSpPr>
        <p:spPr>
          <a:xfrm>
            <a:off x="3263766" y="2284205"/>
            <a:ext cx="932077" cy="184666"/>
          </a:xfrm>
          <a:prstGeom prst="rightArrow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47E2F02-52F8-B418-BD6E-BF51E316A189}"/>
              </a:ext>
            </a:extLst>
          </p:cNvPr>
          <p:cNvSpPr/>
          <p:nvPr/>
        </p:nvSpPr>
        <p:spPr>
          <a:xfrm>
            <a:off x="4494843" y="1927004"/>
            <a:ext cx="1466662" cy="8471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Generator</a:t>
            </a:r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DFF1A85A-1B67-1819-1D29-CA8179A05C15}"/>
              </a:ext>
            </a:extLst>
          </p:cNvPr>
          <p:cNvSpPr/>
          <p:nvPr/>
        </p:nvSpPr>
        <p:spPr>
          <a:xfrm rot="20234367">
            <a:off x="6169817" y="1921519"/>
            <a:ext cx="1067130" cy="184666"/>
          </a:xfrm>
          <a:prstGeom prst="rightArrow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74D983E5-8584-3ECE-F0E0-7686021611C1}"/>
              </a:ext>
            </a:extLst>
          </p:cNvPr>
          <p:cNvSpPr/>
          <p:nvPr/>
        </p:nvSpPr>
        <p:spPr>
          <a:xfrm>
            <a:off x="1591308" y="2452605"/>
            <a:ext cx="2215744" cy="102493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1698AA5E-0E95-2A40-F1BB-C1A359278B72}"/>
                  </a:ext>
                </a:extLst>
              </p:cNvPr>
              <p:cNvSpPr txBox="1"/>
              <p:nvPr/>
            </p:nvSpPr>
            <p:spPr>
              <a:xfrm>
                <a:off x="1988695" y="2745732"/>
                <a:ext cx="14812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𝒛</m:t>
                      </m:r>
                      <m:r>
                        <a:rPr lang="en-US" altLang="ja-JP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altLang="ja-JP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altLang="ja-JP" dirty="0"/>
              </a:p>
            </p:txBody>
          </p:sp>
        </mc:Choice>
        <mc:Fallback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1698AA5E-0E95-2A40-F1BB-C1A359278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695" y="2745732"/>
                <a:ext cx="148128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0C5203F-5F3E-6CF8-C4C0-1C9E55386744}"/>
              </a:ext>
            </a:extLst>
          </p:cNvPr>
          <p:cNvSpPr txBox="1"/>
          <p:nvPr/>
        </p:nvSpPr>
        <p:spPr>
          <a:xfrm>
            <a:off x="7406478" y="2258524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混ざった画像空間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09D6F606-1317-251E-43FF-476890AA7B13}"/>
              </a:ext>
            </a:extLst>
          </p:cNvPr>
          <p:cNvSpPr txBox="1"/>
          <p:nvPr/>
        </p:nvSpPr>
        <p:spPr>
          <a:xfrm>
            <a:off x="914076" y="3587746"/>
            <a:ext cx="3570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ランダムノイズ</a:t>
            </a:r>
            <a:r>
              <a:rPr kumimoji="1" lang="ja-JP" altLang="en-US" dirty="0"/>
              <a:t>空間（</a:t>
            </a:r>
            <a:r>
              <a:rPr kumimoji="1" lang="en-US" altLang="ja-JP" dirty="0"/>
              <a:t>100</a:t>
            </a:r>
            <a:r>
              <a:rPr kumimoji="1" lang="ja-JP" altLang="en-US" dirty="0"/>
              <a:t>次元）</a:t>
            </a:r>
          </a:p>
        </p:txBody>
      </p:sp>
      <p:sp>
        <p:nvSpPr>
          <p:cNvPr id="35" name="矢印: 右 34">
            <a:extLst>
              <a:ext uri="{FF2B5EF4-FFF2-40B4-BE49-F238E27FC236}">
                <a16:creationId xmlns:a16="http://schemas.microsoft.com/office/drawing/2014/main" id="{15F1DBEE-4C7F-EF10-6AFB-8F8E89FE28A5}"/>
              </a:ext>
            </a:extLst>
          </p:cNvPr>
          <p:cNvSpPr/>
          <p:nvPr/>
        </p:nvSpPr>
        <p:spPr>
          <a:xfrm rot="1195983">
            <a:off x="3356425" y="1958410"/>
            <a:ext cx="1137100" cy="16558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矢印: 右 35">
            <a:extLst>
              <a:ext uri="{FF2B5EF4-FFF2-40B4-BE49-F238E27FC236}">
                <a16:creationId xmlns:a16="http://schemas.microsoft.com/office/drawing/2014/main" id="{5A08AF43-7A13-7E9D-D119-6DA02CC90E10}"/>
              </a:ext>
            </a:extLst>
          </p:cNvPr>
          <p:cNvSpPr/>
          <p:nvPr/>
        </p:nvSpPr>
        <p:spPr>
          <a:xfrm rot="20013872">
            <a:off x="6048620" y="1564386"/>
            <a:ext cx="1137100" cy="165589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矢印: 右 36">
            <a:extLst>
              <a:ext uri="{FF2B5EF4-FFF2-40B4-BE49-F238E27FC236}">
                <a16:creationId xmlns:a16="http://schemas.microsoft.com/office/drawing/2014/main" id="{678764D2-AA93-187F-EA2B-7546C865108F}"/>
              </a:ext>
            </a:extLst>
          </p:cNvPr>
          <p:cNvSpPr/>
          <p:nvPr/>
        </p:nvSpPr>
        <p:spPr>
          <a:xfrm rot="20116904">
            <a:off x="3262893" y="2657223"/>
            <a:ext cx="1152569" cy="200572"/>
          </a:xfrm>
          <a:prstGeom prst="rightArrow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0EAC9935-78EA-4554-AB63-C24C0413B05D}"/>
              </a:ext>
            </a:extLst>
          </p:cNvPr>
          <p:cNvSpPr/>
          <p:nvPr/>
        </p:nvSpPr>
        <p:spPr>
          <a:xfrm rot="1429802">
            <a:off x="6019171" y="2932058"/>
            <a:ext cx="1152569" cy="200572"/>
          </a:xfrm>
          <a:prstGeom prst="rightArrow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矢印: 右 1">
            <a:extLst>
              <a:ext uri="{FF2B5EF4-FFF2-40B4-BE49-F238E27FC236}">
                <a16:creationId xmlns:a16="http://schemas.microsoft.com/office/drawing/2014/main" id="{E22B0CEF-305D-0B29-4A47-3481891FCFA0}"/>
              </a:ext>
            </a:extLst>
          </p:cNvPr>
          <p:cNvSpPr/>
          <p:nvPr/>
        </p:nvSpPr>
        <p:spPr>
          <a:xfrm>
            <a:off x="6160352" y="2349252"/>
            <a:ext cx="1067130" cy="184666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441F70-1CF2-3215-B407-7CA229B24BE9}"/>
              </a:ext>
            </a:extLst>
          </p:cNvPr>
          <p:cNvSpPr txBox="1"/>
          <p:nvPr/>
        </p:nvSpPr>
        <p:spPr>
          <a:xfrm>
            <a:off x="7160258" y="105944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/>
              <a:t>×</a:t>
            </a:r>
            <a:endParaRPr kumimoji="1" lang="ja-JP" altLang="en-US" sz="2400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0E55C2F-B852-5DD8-3017-A3D6EA805E89}"/>
              </a:ext>
            </a:extLst>
          </p:cNvPr>
          <p:cNvSpPr txBox="1"/>
          <p:nvPr/>
        </p:nvSpPr>
        <p:spPr>
          <a:xfrm>
            <a:off x="7160259" y="1557666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/>
              <a:t>×</a:t>
            </a:r>
            <a:endParaRPr kumimoji="1" lang="ja-JP" altLang="en-US" sz="2400" b="1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754B9B6-B055-6F9F-CA57-F5AA8421D028}"/>
              </a:ext>
            </a:extLst>
          </p:cNvPr>
          <p:cNvSpPr txBox="1"/>
          <p:nvPr/>
        </p:nvSpPr>
        <p:spPr>
          <a:xfrm>
            <a:off x="7160257" y="3126081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/>
              <a:t>×</a:t>
            </a:r>
            <a:endParaRPr kumimoji="1" lang="ja-JP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765388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83845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0EAF52F2-5C4C-35C4-90A9-B879622D63BC}"/>
              </a:ext>
            </a:extLst>
          </p:cNvPr>
          <p:cNvSpPr/>
          <p:nvPr/>
        </p:nvSpPr>
        <p:spPr>
          <a:xfrm>
            <a:off x="4051297" y="712840"/>
            <a:ext cx="3539255" cy="275462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68C9D0B3-B0BF-F50D-4EDE-3B33D751A2F5}"/>
              </a:ext>
            </a:extLst>
          </p:cNvPr>
          <p:cNvSpPr/>
          <p:nvPr/>
        </p:nvSpPr>
        <p:spPr>
          <a:xfrm>
            <a:off x="586839" y="1198414"/>
            <a:ext cx="2423058" cy="221534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D0A5664-2D40-20AC-2213-D6830FA87B93}"/>
              </a:ext>
            </a:extLst>
          </p:cNvPr>
          <p:cNvSpPr/>
          <p:nvPr/>
        </p:nvSpPr>
        <p:spPr>
          <a:xfrm>
            <a:off x="796545" y="2334957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6927D46-420C-C513-EC8C-C48A20048A3D}"/>
              </a:ext>
            </a:extLst>
          </p:cNvPr>
          <p:cNvSpPr/>
          <p:nvPr/>
        </p:nvSpPr>
        <p:spPr>
          <a:xfrm>
            <a:off x="1086105" y="2334957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E3C1EF8-00A4-7287-BF3D-2046861ED825}"/>
              </a:ext>
            </a:extLst>
          </p:cNvPr>
          <p:cNvSpPr/>
          <p:nvPr/>
        </p:nvSpPr>
        <p:spPr>
          <a:xfrm>
            <a:off x="1375665" y="2334957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3A72F3C-B739-A24E-1DB6-5F6872B9C5E6}"/>
              </a:ext>
            </a:extLst>
          </p:cNvPr>
          <p:cNvSpPr/>
          <p:nvPr/>
        </p:nvSpPr>
        <p:spPr>
          <a:xfrm>
            <a:off x="2498345" y="2334957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089AADA-ED5E-71D9-A7E6-490B05402C00}"/>
              </a:ext>
            </a:extLst>
          </p:cNvPr>
          <p:cNvSpPr txBox="1"/>
          <p:nvPr/>
        </p:nvSpPr>
        <p:spPr>
          <a:xfrm>
            <a:off x="1873506" y="2240291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7" name="左中かっこ 6">
            <a:extLst>
              <a:ext uri="{FF2B5EF4-FFF2-40B4-BE49-F238E27FC236}">
                <a16:creationId xmlns:a16="http://schemas.microsoft.com/office/drawing/2014/main" id="{FC8BCE70-7CA9-285E-F5DE-03288A5CA774}"/>
              </a:ext>
            </a:extLst>
          </p:cNvPr>
          <p:cNvSpPr/>
          <p:nvPr/>
        </p:nvSpPr>
        <p:spPr>
          <a:xfrm rot="16200000" flipH="1">
            <a:off x="1599649" y="1301978"/>
            <a:ext cx="265436" cy="180052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8D4AA08-77E5-ECE5-F4CE-C1DE11718187}"/>
              </a:ext>
            </a:extLst>
          </p:cNvPr>
          <p:cNvSpPr txBox="1"/>
          <p:nvPr/>
        </p:nvSpPr>
        <p:spPr>
          <a:xfrm>
            <a:off x="1463121" y="172081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100</a:t>
            </a:r>
            <a:endParaRPr kumimoji="1" lang="ja-JP" altLang="en-US" dirty="0"/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A163696B-DDED-003C-F58F-49FE2E4B19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6235452"/>
              </p:ext>
            </p:extLst>
          </p:nvPr>
        </p:nvGraphicFramePr>
        <p:xfrm>
          <a:off x="4723726" y="1232387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6797C98C-41A6-5A61-99A6-A104E2FFA0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5009589"/>
              </p:ext>
            </p:extLst>
          </p:nvPr>
        </p:nvGraphicFramePr>
        <p:xfrm>
          <a:off x="5391546" y="1232387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3" name="表 12">
            <a:extLst>
              <a:ext uri="{FF2B5EF4-FFF2-40B4-BE49-F238E27FC236}">
                <a16:creationId xmlns:a16="http://schemas.microsoft.com/office/drawing/2014/main" id="{FE045C47-CFF1-DF0B-CA94-F95FA19351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333035"/>
              </p:ext>
            </p:extLst>
          </p:nvPr>
        </p:nvGraphicFramePr>
        <p:xfrm>
          <a:off x="6893294" y="1232387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37BB7BD0-B6F7-6447-A64D-2D73561321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790728"/>
              </p:ext>
            </p:extLst>
          </p:nvPr>
        </p:nvGraphicFramePr>
        <p:xfrm>
          <a:off x="4723726" y="1852186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CBB60344-45BF-AAC9-AAE2-8480DBC9C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8680122"/>
              </p:ext>
            </p:extLst>
          </p:nvPr>
        </p:nvGraphicFramePr>
        <p:xfrm>
          <a:off x="4723726" y="2829201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E65BFB79-6F44-C176-4335-9F4DAF3249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8636124"/>
              </p:ext>
            </p:extLst>
          </p:nvPr>
        </p:nvGraphicFramePr>
        <p:xfrm>
          <a:off x="6893294" y="2829201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E24C21B-BA8B-4835-6093-CD1B31BBAE51}"/>
              </a:ext>
            </a:extLst>
          </p:cNvPr>
          <p:cNvSpPr txBox="1"/>
          <p:nvPr/>
        </p:nvSpPr>
        <p:spPr>
          <a:xfrm>
            <a:off x="6075010" y="1232387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50FA623-AEAE-908D-2727-F527EFF84D20}"/>
              </a:ext>
            </a:extLst>
          </p:cNvPr>
          <p:cNvSpPr txBox="1"/>
          <p:nvPr/>
        </p:nvSpPr>
        <p:spPr>
          <a:xfrm>
            <a:off x="5724490" y="2850406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1672526-3BBB-42AF-8207-43CCD0EE1E20}"/>
              </a:ext>
            </a:extLst>
          </p:cNvPr>
          <p:cNvSpPr txBox="1"/>
          <p:nvPr/>
        </p:nvSpPr>
        <p:spPr>
          <a:xfrm rot="16200000">
            <a:off x="4720054" y="2341884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AB64794-41A3-3287-E714-8BC282D97EFD}"/>
              </a:ext>
            </a:extLst>
          </p:cNvPr>
          <p:cNvSpPr txBox="1"/>
          <p:nvPr/>
        </p:nvSpPr>
        <p:spPr>
          <a:xfrm rot="16200000">
            <a:off x="6881727" y="2015961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B724C05-92B0-CF60-2A7D-E62B1E6D1407}"/>
              </a:ext>
            </a:extLst>
          </p:cNvPr>
          <p:cNvSpPr txBox="1"/>
          <p:nvPr/>
        </p:nvSpPr>
        <p:spPr>
          <a:xfrm rot="2302672">
            <a:off x="5715863" y="2041396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22" name="左中かっこ 21">
            <a:extLst>
              <a:ext uri="{FF2B5EF4-FFF2-40B4-BE49-F238E27FC236}">
                <a16:creationId xmlns:a16="http://schemas.microsoft.com/office/drawing/2014/main" id="{459684E2-25C3-BC9C-FE98-D0F729032B6A}"/>
              </a:ext>
            </a:extLst>
          </p:cNvPr>
          <p:cNvSpPr/>
          <p:nvPr/>
        </p:nvSpPr>
        <p:spPr>
          <a:xfrm rot="16200000" flipH="1">
            <a:off x="5971689" y="-167349"/>
            <a:ext cx="113538" cy="259367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左中かっこ 22">
            <a:extLst>
              <a:ext uri="{FF2B5EF4-FFF2-40B4-BE49-F238E27FC236}">
                <a16:creationId xmlns:a16="http://schemas.microsoft.com/office/drawing/2014/main" id="{054117A1-F456-9304-4AC7-677B03BA860E}"/>
              </a:ext>
            </a:extLst>
          </p:cNvPr>
          <p:cNvSpPr/>
          <p:nvPr/>
        </p:nvSpPr>
        <p:spPr>
          <a:xfrm rot="10800000" flipH="1">
            <a:off x="4439963" y="1257855"/>
            <a:ext cx="173748" cy="2003346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40BCC9A-FC58-A6D3-872F-D2D79A269A4C}"/>
              </a:ext>
            </a:extLst>
          </p:cNvPr>
          <p:cNvSpPr txBox="1"/>
          <p:nvPr/>
        </p:nvSpPr>
        <p:spPr>
          <a:xfrm>
            <a:off x="5748022" y="72486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8E37D94-DE2B-E7B1-26A1-D1247755C6D5}"/>
              </a:ext>
            </a:extLst>
          </p:cNvPr>
          <p:cNvSpPr txBox="1"/>
          <p:nvPr/>
        </p:nvSpPr>
        <p:spPr>
          <a:xfrm rot="16200000">
            <a:off x="4007393" y="207486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graphicFrame>
        <p:nvGraphicFramePr>
          <p:cNvPr id="26" name="表 25">
            <a:extLst>
              <a:ext uri="{FF2B5EF4-FFF2-40B4-BE49-F238E27FC236}">
                <a16:creationId xmlns:a16="http://schemas.microsoft.com/office/drawing/2014/main" id="{B51F2B04-6819-E338-11B4-8FAE3BE3B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04065"/>
              </p:ext>
            </p:extLst>
          </p:nvPr>
        </p:nvGraphicFramePr>
        <p:xfrm>
          <a:off x="8971182" y="4431525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27" name="表 26">
            <a:extLst>
              <a:ext uri="{FF2B5EF4-FFF2-40B4-BE49-F238E27FC236}">
                <a16:creationId xmlns:a16="http://schemas.microsoft.com/office/drawing/2014/main" id="{F0423B9A-0E36-60E8-81EA-B2728CEFF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2266785"/>
              </p:ext>
            </p:extLst>
          </p:nvPr>
        </p:nvGraphicFramePr>
        <p:xfrm>
          <a:off x="9639002" y="4431525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28" name="表 27">
            <a:extLst>
              <a:ext uri="{FF2B5EF4-FFF2-40B4-BE49-F238E27FC236}">
                <a16:creationId xmlns:a16="http://schemas.microsoft.com/office/drawing/2014/main" id="{41C581F6-904A-09AF-FD21-39D44A17F0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808398"/>
              </p:ext>
            </p:extLst>
          </p:nvPr>
        </p:nvGraphicFramePr>
        <p:xfrm>
          <a:off x="11140750" y="4431525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29" name="表 28">
            <a:extLst>
              <a:ext uri="{FF2B5EF4-FFF2-40B4-BE49-F238E27FC236}">
                <a16:creationId xmlns:a16="http://schemas.microsoft.com/office/drawing/2014/main" id="{DD44B258-A9BE-6972-90A0-5289C28A5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1358197"/>
              </p:ext>
            </p:extLst>
          </p:nvPr>
        </p:nvGraphicFramePr>
        <p:xfrm>
          <a:off x="8971182" y="5051324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6D65E0B2-AC88-095B-79A9-B835F24B39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316445"/>
              </p:ext>
            </p:extLst>
          </p:nvPr>
        </p:nvGraphicFramePr>
        <p:xfrm>
          <a:off x="8971182" y="6028339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31" name="表 30">
            <a:extLst>
              <a:ext uri="{FF2B5EF4-FFF2-40B4-BE49-F238E27FC236}">
                <a16:creationId xmlns:a16="http://schemas.microsoft.com/office/drawing/2014/main" id="{DC30A1D7-56BB-ECDE-2F21-695B166923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660416"/>
              </p:ext>
            </p:extLst>
          </p:nvPr>
        </p:nvGraphicFramePr>
        <p:xfrm>
          <a:off x="11140750" y="6028339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B5EB08A-2C0C-7E57-4C70-18BA850B7B9D}"/>
              </a:ext>
            </a:extLst>
          </p:cNvPr>
          <p:cNvSpPr txBox="1"/>
          <p:nvPr/>
        </p:nvSpPr>
        <p:spPr>
          <a:xfrm>
            <a:off x="10322466" y="4431525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02F4BE7-962F-6D29-31EC-BEC400C98A5B}"/>
              </a:ext>
            </a:extLst>
          </p:cNvPr>
          <p:cNvSpPr txBox="1"/>
          <p:nvPr/>
        </p:nvSpPr>
        <p:spPr>
          <a:xfrm>
            <a:off x="9971946" y="6049544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1352D873-982F-30A7-4206-91CCB1CF21FD}"/>
              </a:ext>
            </a:extLst>
          </p:cNvPr>
          <p:cNvSpPr txBox="1"/>
          <p:nvPr/>
        </p:nvSpPr>
        <p:spPr>
          <a:xfrm rot="16200000">
            <a:off x="8967510" y="5541022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9A7F2935-B9CA-EE99-D45F-AA258756A2A1}"/>
              </a:ext>
            </a:extLst>
          </p:cNvPr>
          <p:cNvSpPr txBox="1"/>
          <p:nvPr/>
        </p:nvSpPr>
        <p:spPr>
          <a:xfrm rot="16200000">
            <a:off x="11129183" y="5215099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07DDCF5B-F4F1-6041-D4E1-CE89CE139091}"/>
              </a:ext>
            </a:extLst>
          </p:cNvPr>
          <p:cNvSpPr txBox="1"/>
          <p:nvPr/>
        </p:nvSpPr>
        <p:spPr>
          <a:xfrm rot="2302672">
            <a:off x="9963319" y="5240534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37" name="左中かっこ 36">
            <a:extLst>
              <a:ext uri="{FF2B5EF4-FFF2-40B4-BE49-F238E27FC236}">
                <a16:creationId xmlns:a16="http://schemas.microsoft.com/office/drawing/2014/main" id="{58876934-2934-0840-DA57-7CC152489A8B}"/>
              </a:ext>
            </a:extLst>
          </p:cNvPr>
          <p:cNvSpPr/>
          <p:nvPr/>
        </p:nvSpPr>
        <p:spPr>
          <a:xfrm rot="16200000" flipH="1">
            <a:off x="10211250" y="2604098"/>
            <a:ext cx="113538" cy="259367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左中かっこ 37">
            <a:extLst>
              <a:ext uri="{FF2B5EF4-FFF2-40B4-BE49-F238E27FC236}">
                <a16:creationId xmlns:a16="http://schemas.microsoft.com/office/drawing/2014/main" id="{55E3157E-2718-8A18-F63F-7F81D91B1746}"/>
              </a:ext>
            </a:extLst>
          </p:cNvPr>
          <p:cNvSpPr/>
          <p:nvPr/>
        </p:nvSpPr>
        <p:spPr>
          <a:xfrm rot="10800000" flipH="1">
            <a:off x="8393755" y="4547459"/>
            <a:ext cx="173748" cy="2003346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9A15833-68B4-55CF-7C16-5B3E9D237948}"/>
              </a:ext>
            </a:extLst>
          </p:cNvPr>
          <p:cNvSpPr txBox="1"/>
          <p:nvPr/>
        </p:nvSpPr>
        <p:spPr>
          <a:xfrm>
            <a:off x="9995478" y="392399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47B64012-DE2D-3E51-85FC-0EA274B2EC1F}"/>
              </a:ext>
            </a:extLst>
          </p:cNvPr>
          <p:cNvSpPr txBox="1"/>
          <p:nvPr/>
        </p:nvSpPr>
        <p:spPr>
          <a:xfrm rot="16200000">
            <a:off x="8254849" y="527399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97600035-8C85-D6FD-0E6B-0BFCC0F30A2F}"/>
                  </a:ext>
                </a:extLst>
              </p:cNvPr>
              <p:cNvSpPr txBox="1"/>
              <p:nvPr/>
            </p:nvSpPr>
            <p:spPr>
              <a:xfrm>
                <a:off x="4292086" y="3549781"/>
                <a:ext cx="329846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𝑘𝑒𝑟𝑛𝑒𝑙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 (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=100, 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=512)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97600035-8C85-D6FD-0E6B-0BFCC0F30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2086" y="3549781"/>
                <a:ext cx="3298467" cy="276999"/>
              </a:xfrm>
              <a:prstGeom prst="rect">
                <a:avLst/>
              </a:prstGeom>
              <a:blipFill>
                <a:blip r:embed="rId2"/>
                <a:stretch>
                  <a:fillRect l="-1109" t="-2174" r="-2033" b="-3260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テキスト ボックス 47">
                <a:extLst>
                  <a:ext uri="{FF2B5EF4-FFF2-40B4-BE49-F238E27FC236}">
                    <a16:creationId xmlns:a16="http://schemas.microsoft.com/office/drawing/2014/main" id="{5A2AFC84-0609-32C3-75CF-BA6FDD7DBE83}"/>
                  </a:ext>
                </a:extLst>
              </p:cNvPr>
              <p:cNvSpPr txBox="1"/>
              <p:nvPr/>
            </p:nvSpPr>
            <p:spPr>
              <a:xfrm>
                <a:off x="671093" y="3504425"/>
                <a:ext cx="24505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1 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  ( 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=100)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48" name="テキスト ボックス 47">
                <a:extLst>
                  <a:ext uri="{FF2B5EF4-FFF2-40B4-BE49-F238E27FC236}">
                    <a16:creationId xmlns:a16="http://schemas.microsoft.com/office/drawing/2014/main" id="{5A2AFC84-0609-32C3-75CF-BA6FDD7DB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093" y="3504425"/>
                <a:ext cx="2450543" cy="276999"/>
              </a:xfrm>
              <a:prstGeom prst="rect">
                <a:avLst/>
              </a:prstGeom>
              <a:blipFill>
                <a:blip r:embed="rId3"/>
                <a:stretch>
                  <a:fillRect l="-2736" t="-2222" r="-2985" b="-3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965FBA11-B907-9B18-F818-A187CFAFB286}"/>
              </a:ext>
            </a:extLst>
          </p:cNvPr>
          <p:cNvSpPr txBox="1"/>
          <p:nvPr/>
        </p:nvSpPr>
        <p:spPr>
          <a:xfrm>
            <a:off x="2790205" y="2039025"/>
            <a:ext cx="13388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400" dirty="0"/>
              <a:t>×</a:t>
            </a:r>
          </a:p>
          <a:p>
            <a:pPr algn="ctr"/>
            <a:r>
              <a:rPr kumimoji="1" lang="ja-JP" altLang="en-US" dirty="0"/>
              <a:t>（行列積）</a:t>
            </a:r>
          </a:p>
        </p:txBody>
      </p:sp>
    </p:spTree>
    <p:extLst>
      <p:ext uri="{BB962C8B-B14F-4D97-AF65-F5344CB8AC3E}">
        <p14:creationId xmlns:p14="http://schemas.microsoft.com/office/powerpoint/2010/main" val="8521619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B117A-EB45-7D94-878D-AD95FE54B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980FF293-AB17-63FD-D037-2497CE6FCE8C}"/>
              </a:ext>
            </a:extLst>
          </p:cNvPr>
          <p:cNvSpPr/>
          <p:nvPr/>
        </p:nvSpPr>
        <p:spPr>
          <a:xfrm>
            <a:off x="4416125" y="496732"/>
            <a:ext cx="3680463" cy="28578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F8CDE0AA-905A-2506-D6B0-C5B8457EF372}"/>
              </a:ext>
            </a:extLst>
          </p:cNvPr>
          <p:cNvSpPr/>
          <p:nvPr/>
        </p:nvSpPr>
        <p:spPr>
          <a:xfrm>
            <a:off x="4959011" y="959850"/>
            <a:ext cx="689017" cy="234104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8AF523E3-DA63-A874-4464-05B4B1C900DE}"/>
              </a:ext>
            </a:extLst>
          </p:cNvPr>
          <p:cNvSpPr/>
          <p:nvPr/>
        </p:nvSpPr>
        <p:spPr>
          <a:xfrm>
            <a:off x="951667" y="1085546"/>
            <a:ext cx="2423058" cy="221534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C0FB319-DD3C-2C3B-1170-3C0315AD7780}"/>
              </a:ext>
            </a:extLst>
          </p:cNvPr>
          <p:cNvSpPr/>
          <p:nvPr/>
        </p:nvSpPr>
        <p:spPr>
          <a:xfrm>
            <a:off x="1161373" y="2222089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62BED52-FEAA-EBC6-6F99-E301F00D2401}"/>
              </a:ext>
            </a:extLst>
          </p:cNvPr>
          <p:cNvSpPr/>
          <p:nvPr/>
        </p:nvSpPr>
        <p:spPr>
          <a:xfrm>
            <a:off x="1450933" y="2222089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BC5ED03-EECA-C325-10E7-B3D532CB8420}"/>
              </a:ext>
            </a:extLst>
          </p:cNvPr>
          <p:cNvSpPr/>
          <p:nvPr/>
        </p:nvSpPr>
        <p:spPr>
          <a:xfrm>
            <a:off x="1740493" y="2222089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4BF55DE-13B8-856B-BA82-AC33D2BFE6DA}"/>
              </a:ext>
            </a:extLst>
          </p:cNvPr>
          <p:cNvSpPr/>
          <p:nvPr/>
        </p:nvSpPr>
        <p:spPr>
          <a:xfrm>
            <a:off x="2863173" y="2222089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E7EBD22-5E45-3A68-3E4B-35AF0FBFD381}"/>
              </a:ext>
            </a:extLst>
          </p:cNvPr>
          <p:cNvSpPr txBox="1"/>
          <p:nvPr/>
        </p:nvSpPr>
        <p:spPr>
          <a:xfrm>
            <a:off x="2238334" y="212742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7" name="左中かっこ 6">
            <a:extLst>
              <a:ext uri="{FF2B5EF4-FFF2-40B4-BE49-F238E27FC236}">
                <a16:creationId xmlns:a16="http://schemas.microsoft.com/office/drawing/2014/main" id="{CB552B4B-BD56-5470-AE8F-73807D35AC47}"/>
              </a:ext>
            </a:extLst>
          </p:cNvPr>
          <p:cNvSpPr/>
          <p:nvPr/>
        </p:nvSpPr>
        <p:spPr>
          <a:xfrm rot="16200000" flipH="1">
            <a:off x="1964477" y="1189110"/>
            <a:ext cx="265436" cy="180052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2ACD5C0-4E5B-E0D0-9CCC-FBA19E459A62}"/>
              </a:ext>
            </a:extLst>
          </p:cNvPr>
          <p:cNvSpPr txBox="1"/>
          <p:nvPr/>
        </p:nvSpPr>
        <p:spPr>
          <a:xfrm>
            <a:off x="1768460" y="1567780"/>
            <a:ext cx="699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100</a:t>
            </a:r>
            <a:endParaRPr kumimoji="1" lang="ja-JP" altLang="en-US" sz="2400" dirty="0"/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11B6C0EB-FC98-7FB4-4619-E6BD148863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1962505"/>
              </p:ext>
            </p:extLst>
          </p:nvPr>
        </p:nvGraphicFramePr>
        <p:xfrm>
          <a:off x="5088554" y="1119519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423C2CCA-85F8-2807-2857-2CF6CEF435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6194915"/>
              </p:ext>
            </p:extLst>
          </p:nvPr>
        </p:nvGraphicFramePr>
        <p:xfrm>
          <a:off x="5756374" y="1119519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3" name="表 12">
            <a:extLst>
              <a:ext uri="{FF2B5EF4-FFF2-40B4-BE49-F238E27FC236}">
                <a16:creationId xmlns:a16="http://schemas.microsoft.com/office/drawing/2014/main" id="{93A0CAF8-9509-5466-6987-AB4CB9E5F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159307"/>
              </p:ext>
            </p:extLst>
          </p:nvPr>
        </p:nvGraphicFramePr>
        <p:xfrm>
          <a:off x="7258122" y="1119519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63B4B0F9-EFEC-167E-9298-57173F545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4659729"/>
              </p:ext>
            </p:extLst>
          </p:nvPr>
        </p:nvGraphicFramePr>
        <p:xfrm>
          <a:off x="5088554" y="1739318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5EA06850-A052-C03F-BEB8-5A6ADA2F88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718324"/>
              </p:ext>
            </p:extLst>
          </p:nvPr>
        </p:nvGraphicFramePr>
        <p:xfrm>
          <a:off x="5088554" y="2716333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4BD61538-AC30-D7A8-1F76-7D1E22E0C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858174"/>
              </p:ext>
            </p:extLst>
          </p:nvPr>
        </p:nvGraphicFramePr>
        <p:xfrm>
          <a:off x="7258122" y="2716333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51926FA-D288-C16F-E3BD-FB0BD5894BA1}"/>
              </a:ext>
            </a:extLst>
          </p:cNvPr>
          <p:cNvSpPr txBox="1"/>
          <p:nvPr/>
        </p:nvSpPr>
        <p:spPr>
          <a:xfrm>
            <a:off x="6439838" y="1119519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ADABE6B-EEC5-B957-9106-AAB951B48E42}"/>
              </a:ext>
            </a:extLst>
          </p:cNvPr>
          <p:cNvSpPr txBox="1"/>
          <p:nvPr/>
        </p:nvSpPr>
        <p:spPr>
          <a:xfrm>
            <a:off x="6089318" y="2737538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CBE4B22-0160-1076-B58C-51D9B31DEA37}"/>
              </a:ext>
            </a:extLst>
          </p:cNvPr>
          <p:cNvSpPr txBox="1"/>
          <p:nvPr/>
        </p:nvSpPr>
        <p:spPr>
          <a:xfrm rot="16200000">
            <a:off x="5084882" y="2229016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7D22CA0-E73C-4E1E-9D28-DE17D9C11309}"/>
              </a:ext>
            </a:extLst>
          </p:cNvPr>
          <p:cNvSpPr txBox="1"/>
          <p:nvPr/>
        </p:nvSpPr>
        <p:spPr>
          <a:xfrm rot="16200000">
            <a:off x="7246555" y="1903093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4F5B113-DAF9-2BA5-A5DB-39CDF7830079}"/>
              </a:ext>
            </a:extLst>
          </p:cNvPr>
          <p:cNvSpPr txBox="1"/>
          <p:nvPr/>
        </p:nvSpPr>
        <p:spPr>
          <a:xfrm rot="2302672">
            <a:off x="6080691" y="1928528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23" name="左中かっこ 22">
            <a:extLst>
              <a:ext uri="{FF2B5EF4-FFF2-40B4-BE49-F238E27FC236}">
                <a16:creationId xmlns:a16="http://schemas.microsoft.com/office/drawing/2014/main" id="{AB75DF72-35A1-0CE6-37B8-4ED610ADE381}"/>
              </a:ext>
            </a:extLst>
          </p:cNvPr>
          <p:cNvSpPr/>
          <p:nvPr/>
        </p:nvSpPr>
        <p:spPr>
          <a:xfrm rot="10800000" flipH="1">
            <a:off x="4804791" y="1144987"/>
            <a:ext cx="173748" cy="2003346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B417296-71F9-E84E-C16A-10A11180A615}"/>
              </a:ext>
            </a:extLst>
          </p:cNvPr>
          <p:cNvSpPr txBox="1"/>
          <p:nvPr/>
        </p:nvSpPr>
        <p:spPr>
          <a:xfrm>
            <a:off x="4935979" y="517234"/>
            <a:ext cx="6639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/>
              <a:t>1</a:t>
            </a:r>
            <a:r>
              <a:rPr kumimoji="1" lang="ja-JP" altLang="en-US" sz="2400" b="1" dirty="0"/>
              <a:t>列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57896D5-0B17-AB8F-FD99-11C71A578321}"/>
              </a:ext>
            </a:extLst>
          </p:cNvPr>
          <p:cNvSpPr txBox="1"/>
          <p:nvPr/>
        </p:nvSpPr>
        <p:spPr>
          <a:xfrm rot="16200000">
            <a:off x="4274686" y="1877086"/>
            <a:ext cx="699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100</a:t>
            </a:r>
            <a:endParaRPr kumimoji="1" lang="ja-JP" altLang="en-US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33156ACE-49A4-BDB0-7A8C-93DCE0BE8393}"/>
                  </a:ext>
                </a:extLst>
              </p:cNvPr>
              <p:cNvSpPr txBox="1"/>
              <p:nvPr/>
            </p:nvSpPr>
            <p:spPr>
              <a:xfrm>
                <a:off x="4656914" y="3436913"/>
                <a:ext cx="366452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𝑘𝑒𝑟𝑛𝑒𝑙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  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=100, 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=512)</m:t>
                      </m:r>
                    </m:oMath>
                  </m:oMathPara>
                </a14:m>
                <a:endParaRPr kumimoji="1" lang="ja-JP" altLang="en-US" sz="2000" dirty="0"/>
              </a:p>
            </p:txBody>
          </p:sp>
        </mc:Choice>
        <mc:Fallback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33156ACE-49A4-BDB0-7A8C-93DCE0BE83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6914" y="3436913"/>
                <a:ext cx="3664529" cy="307777"/>
              </a:xfrm>
              <a:prstGeom prst="rect">
                <a:avLst/>
              </a:prstGeom>
              <a:blipFill>
                <a:blip r:embed="rId2"/>
                <a:stretch>
                  <a:fillRect l="-998" t="-2000" r="-1830" b="-36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テキスト ボックス 47">
                <a:extLst>
                  <a:ext uri="{FF2B5EF4-FFF2-40B4-BE49-F238E27FC236}">
                    <a16:creationId xmlns:a16="http://schemas.microsoft.com/office/drawing/2014/main" id="{E73DD740-CB5A-6290-B673-36E04007A3AD}"/>
                  </a:ext>
                </a:extLst>
              </p:cNvPr>
              <p:cNvSpPr txBox="1"/>
              <p:nvPr/>
            </p:nvSpPr>
            <p:spPr>
              <a:xfrm>
                <a:off x="1035921" y="3391557"/>
                <a:ext cx="271715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1 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  ( 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=100)</m:t>
                      </m:r>
                    </m:oMath>
                  </m:oMathPara>
                </a14:m>
                <a:endParaRPr kumimoji="1" lang="ja-JP" altLang="en-US" sz="2000" dirty="0"/>
              </a:p>
            </p:txBody>
          </p:sp>
        </mc:Choice>
        <mc:Fallback>
          <p:sp>
            <p:nvSpPr>
              <p:cNvPr id="48" name="テキスト ボックス 47">
                <a:extLst>
                  <a:ext uri="{FF2B5EF4-FFF2-40B4-BE49-F238E27FC236}">
                    <a16:creationId xmlns:a16="http://schemas.microsoft.com/office/drawing/2014/main" id="{E73DD740-CB5A-6290-B673-36E04007A3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921" y="3391557"/>
                <a:ext cx="2717154" cy="307777"/>
              </a:xfrm>
              <a:prstGeom prst="rect">
                <a:avLst/>
              </a:prstGeom>
              <a:blipFill>
                <a:blip r:embed="rId3"/>
                <a:stretch>
                  <a:fillRect l="-2466" t="-1961" r="-2466" b="-3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92E408F-8EAA-AE8A-D993-7D347A51D47D}"/>
              </a:ext>
            </a:extLst>
          </p:cNvPr>
          <p:cNvSpPr txBox="1"/>
          <p:nvPr/>
        </p:nvSpPr>
        <p:spPr>
          <a:xfrm>
            <a:off x="3187272" y="1945956"/>
            <a:ext cx="13388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400" dirty="0"/>
              <a:t>×</a:t>
            </a:r>
          </a:p>
          <a:p>
            <a:pPr algn="ctr"/>
            <a:r>
              <a:rPr kumimoji="1" lang="ja-JP" altLang="en-US" dirty="0"/>
              <a:t>（行列積）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2FBF66F-9499-6328-F0AF-CAE4B9832A6E}"/>
              </a:ext>
            </a:extLst>
          </p:cNvPr>
          <p:cNvSpPr txBox="1"/>
          <p:nvPr/>
        </p:nvSpPr>
        <p:spPr>
          <a:xfrm>
            <a:off x="5671060" y="496732"/>
            <a:ext cx="6687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2</a:t>
            </a:r>
            <a:r>
              <a:rPr kumimoji="1" lang="ja-JP" altLang="en-US" sz="2400" dirty="0"/>
              <a:t>列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CE0F2E3-E180-1660-FB16-A0EBAA8A3C14}"/>
              </a:ext>
            </a:extLst>
          </p:cNvPr>
          <p:cNvSpPr txBox="1"/>
          <p:nvPr/>
        </p:nvSpPr>
        <p:spPr>
          <a:xfrm>
            <a:off x="6985450" y="516308"/>
            <a:ext cx="10070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512</a:t>
            </a:r>
            <a:r>
              <a:rPr kumimoji="1" lang="ja-JP" altLang="en-US" sz="2400" dirty="0"/>
              <a:t>列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39177BA-495E-DCD1-851C-F23936314461}"/>
              </a:ext>
            </a:extLst>
          </p:cNvPr>
          <p:cNvSpPr/>
          <p:nvPr/>
        </p:nvSpPr>
        <p:spPr>
          <a:xfrm>
            <a:off x="2871021" y="4624735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44" name="表 43">
            <a:extLst>
              <a:ext uri="{FF2B5EF4-FFF2-40B4-BE49-F238E27FC236}">
                <a16:creationId xmlns:a16="http://schemas.microsoft.com/office/drawing/2014/main" id="{462C10D0-B82D-0993-103E-2307F84631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593473"/>
              </p:ext>
            </p:extLst>
          </p:nvPr>
        </p:nvGraphicFramePr>
        <p:xfrm>
          <a:off x="3167564" y="4513567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2F83DBDA-3008-70D2-67FB-8E1D36B7BA8C}"/>
              </a:ext>
            </a:extLst>
          </p:cNvPr>
          <p:cNvSpPr txBox="1"/>
          <p:nvPr/>
        </p:nvSpPr>
        <p:spPr>
          <a:xfrm>
            <a:off x="2904808" y="455973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　　＋</a:t>
            </a:r>
            <a:endParaRPr kumimoji="1" lang="en-US" altLang="ja-JP" dirty="0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7868BC21-5FCD-BC7E-6F78-8848797D76A6}"/>
              </a:ext>
            </a:extLst>
          </p:cNvPr>
          <p:cNvSpPr/>
          <p:nvPr/>
        </p:nvSpPr>
        <p:spPr>
          <a:xfrm>
            <a:off x="3960989" y="4641236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47" name="表 46">
            <a:extLst>
              <a:ext uri="{FF2B5EF4-FFF2-40B4-BE49-F238E27FC236}">
                <a16:creationId xmlns:a16="http://schemas.microsoft.com/office/drawing/2014/main" id="{D7EB7149-C349-F1AA-6592-90527DEF7B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9372073"/>
              </p:ext>
            </p:extLst>
          </p:nvPr>
        </p:nvGraphicFramePr>
        <p:xfrm>
          <a:off x="4257532" y="4530068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26816C13-D812-F927-1581-E572BA70AA0D}"/>
              </a:ext>
            </a:extLst>
          </p:cNvPr>
          <p:cNvSpPr txBox="1"/>
          <p:nvPr/>
        </p:nvSpPr>
        <p:spPr>
          <a:xfrm>
            <a:off x="3994776" y="457623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　　＋</a:t>
            </a:r>
            <a:r>
              <a:rPr lang="en-US" altLang="ja-JP" dirty="0"/>
              <a:t>…</a:t>
            </a:r>
            <a:r>
              <a:rPr lang="ja-JP" altLang="en-US" dirty="0"/>
              <a:t>＋</a:t>
            </a:r>
            <a:endParaRPr kumimoji="1" lang="en-US" altLang="ja-JP" dirty="0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A79A47CA-5BF0-38DD-26D4-FF89F1066B47}"/>
              </a:ext>
            </a:extLst>
          </p:cNvPr>
          <p:cNvSpPr/>
          <p:nvPr/>
        </p:nvSpPr>
        <p:spPr>
          <a:xfrm>
            <a:off x="5547616" y="4654400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54" name="表 53">
            <a:extLst>
              <a:ext uri="{FF2B5EF4-FFF2-40B4-BE49-F238E27FC236}">
                <a16:creationId xmlns:a16="http://schemas.microsoft.com/office/drawing/2014/main" id="{466EF20D-3E62-6320-13E3-84AD7F6D7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0501197"/>
              </p:ext>
            </p:extLst>
          </p:nvPr>
        </p:nvGraphicFramePr>
        <p:xfrm>
          <a:off x="5844159" y="4543232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5E2A3124-7BDC-6EFA-5E81-3AB720E3C2A7}"/>
              </a:ext>
            </a:extLst>
          </p:cNvPr>
          <p:cNvSpPr txBox="1"/>
          <p:nvPr/>
        </p:nvSpPr>
        <p:spPr>
          <a:xfrm>
            <a:off x="5576822" y="458962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　　＝</a:t>
            </a:r>
            <a:endParaRPr kumimoji="1" lang="en-US" altLang="ja-JP" dirty="0"/>
          </a:p>
        </p:txBody>
      </p:sp>
      <p:graphicFrame>
        <p:nvGraphicFramePr>
          <p:cNvPr id="56" name="表 55">
            <a:extLst>
              <a:ext uri="{FF2B5EF4-FFF2-40B4-BE49-F238E27FC236}">
                <a16:creationId xmlns:a16="http://schemas.microsoft.com/office/drawing/2014/main" id="{66AED852-EE23-D400-9B25-2543469A48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957893"/>
              </p:ext>
            </p:extLst>
          </p:nvPr>
        </p:nvGraphicFramePr>
        <p:xfrm>
          <a:off x="6857232" y="4528400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8" name="テキスト ボックス 57">
                <a:extLst>
                  <a:ext uri="{FF2B5EF4-FFF2-40B4-BE49-F238E27FC236}">
                    <a16:creationId xmlns:a16="http://schemas.microsoft.com/office/drawing/2014/main" id="{7875F326-EE2E-F600-198F-5642A9FB4C28}"/>
                  </a:ext>
                </a:extLst>
              </p:cNvPr>
              <p:cNvSpPr txBox="1"/>
              <p:nvPr/>
            </p:nvSpPr>
            <p:spPr>
              <a:xfrm>
                <a:off x="2287190" y="5231126"/>
                <a:ext cx="5927777" cy="3916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  <m:e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kumimoji="1"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𝑘𝑒𝑟𝑛𝑒𝑙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</m:nary>
                  </m:oMath>
                </a14:m>
                <a:r>
                  <a:rPr kumimoji="1" lang="en-US" altLang="ja-JP" sz="2400" dirty="0"/>
                  <a:t>  =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𝑜𝑢𝑡𝑝𝑢𝑡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1[1]</m:t>
                    </m:r>
                  </m:oMath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58" name="テキスト ボックス 57">
                <a:extLst>
                  <a:ext uri="{FF2B5EF4-FFF2-40B4-BE49-F238E27FC236}">
                    <a16:creationId xmlns:a16="http://schemas.microsoft.com/office/drawing/2014/main" id="{7875F326-EE2E-F600-198F-5642A9FB4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7190" y="5231126"/>
                <a:ext cx="5927777" cy="391646"/>
              </a:xfrm>
              <a:prstGeom prst="rect">
                <a:avLst/>
              </a:prstGeom>
              <a:blipFill>
                <a:blip r:embed="rId4"/>
                <a:stretch>
                  <a:fillRect l="-9455" t="-160938" r="-1439" b="-2437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矢印: 右 61">
            <a:extLst>
              <a:ext uri="{FF2B5EF4-FFF2-40B4-BE49-F238E27FC236}">
                <a16:creationId xmlns:a16="http://schemas.microsoft.com/office/drawing/2014/main" id="{1EB50B6A-70F0-FEEE-7648-C71E08AEEEC0}"/>
              </a:ext>
            </a:extLst>
          </p:cNvPr>
          <p:cNvSpPr/>
          <p:nvPr/>
        </p:nvSpPr>
        <p:spPr>
          <a:xfrm>
            <a:off x="8304343" y="1799854"/>
            <a:ext cx="585393" cy="485592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C586E4C-13B7-49CF-05AD-D808AACA6D7B}"/>
              </a:ext>
            </a:extLst>
          </p:cNvPr>
          <p:cNvSpPr txBox="1"/>
          <p:nvPr/>
        </p:nvSpPr>
        <p:spPr>
          <a:xfrm>
            <a:off x="1058508" y="4071378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b="1" dirty="0"/>
              <a:t>計算の詳細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テキスト ボックス 64">
                <a:extLst>
                  <a:ext uri="{FF2B5EF4-FFF2-40B4-BE49-F238E27FC236}">
                    <a16:creationId xmlns:a16="http://schemas.microsoft.com/office/drawing/2014/main" id="{F4A29513-7AD0-05F0-33A5-C5B98C3D86A7}"/>
                  </a:ext>
                </a:extLst>
              </p:cNvPr>
              <p:cNvSpPr txBox="1"/>
              <p:nvPr/>
            </p:nvSpPr>
            <p:spPr>
              <a:xfrm>
                <a:off x="9142207" y="2145492"/>
                <a:ext cx="13093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i="1" smtClean="0">
                          <a:latin typeface="Cambria Math" panose="02040503050406030204" pitchFamily="18" charset="0"/>
                        </a:rPr>
                        <m:t>𝑜𝑢𝑡𝑝𝑢𝑡</m:t>
                      </m:r>
                      <m:r>
                        <a:rPr lang="en-US" altLang="ja-JP" sz="2400" i="1" smtClean="0">
                          <a:latin typeface="Cambria Math" panose="02040503050406030204" pitchFamily="18" charset="0"/>
                        </a:rPr>
                        <m:t>1[1]</m:t>
                      </m:r>
                    </m:oMath>
                  </m:oMathPara>
                </a14:m>
                <a:endParaRPr lang="ja-JP" altLang="en-US" sz="2400" dirty="0"/>
              </a:p>
            </p:txBody>
          </p:sp>
        </mc:Choice>
        <mc:Fallback>
          <p:sp>
            <p:nvSpPr>
              <p:cNvPr id="65" name="テキスト ボックス 64">
                <a:extLst>
                  <a:ext uri="{FF2B5EF4-FFF2-40B4-BE49-F238E27FC236}">
                    <a16:creationId xmlns:a16="http://schemas.microsoft.com/office/drawing/2014/main" id="{F4A29513-7AD0-05F0-33A5-C5B98C3D8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2207" y="2145492"/>
                <a:ext cx="1309300" cy="461665"/>
              </a:xfrm>
              <a:prstGeom prst="rect">
                <a:avLst/>
              </a:prstGeom>
              <a:blipFill>
                <a:blip r:embed="rId5"/>
                <a:stretch>
                  <a:fillRect l="-3738" r="-30841" b="-1578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6" name="表 65">
            <a:extLst>
              <a:ext uri="{FF2B5EF4-FFF2-40B4-BE49-F238E27FC236}">
                <a16:creationId xmlns:a16="http://schemas.microsoft.com/office/drawing/2014/main" id="{6D2D07EC-FFE2-82C5-AA79-AF06D0FD07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293710"/>
              </p:ext>
            </p:extLst>
          </p:nvPr>
        </p:nvGraphicFramePr>
        <p:xfrm>
          <a:off x="9576638" y="1596449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cxnSp>
        <p:nvCxnSpPr>
          <p:cNvPr id="68" name="直線コネクタ 67">
            <a:extLst>
              <a:ext uri="{FF2B5EF4-FFF2-40B4-BE49-F238E27FC236}">
                <a16:creationId xmlns:a16="http://schemas.microsoft.com/office/drawing/2014/main" id="{ED271A35-64D5-6778-4B84-5FA3153B5BEB}"/>
              </a:ext>
            </a:extLst>
          </p:cNvPr>
          <p:cNvCxnSpPr/>
          <p:nvPr/>
        </p:nvCxnSpPr>
        <p:spPr>
          <a:xfrm>
            <a:off x="951667" y="3942080"/>
            <a:ext cx="970617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67593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BE4FA-B1A8-8D3B-67D7-3E8308DB4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A281F650-5F48-068A-594D-152584BFD488}"/>
              </a:ext>
            </a:extLst>
          </p:cNvPr>
          <p:cNvSpPr/>
          <p:nvPr/>
        </p:nvSpPr>
        <p:spPr>
          <a:xfrm>
            <a:off x="4416125" y="496732"/>
            <a:ext cx="3680463" cy="28578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D78A0CB-C3D2-BDF0-F9DE-C7D75C66F54C}"/>
              </a:ext>
            </a:extLst>
          </p:cNvPr>
          <p:cNvSpPr/>
          <p:nvPr/>
        </p:nvSpPr>
        <p:spPr>
          <a:xfrm>
            <a:off x="7129613" y="933577"/>
            <a:ext cx="689017" cy="234104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D73E04B-CD0D-CB34-3DCC-D8088A08D803}"/>
              </a:ext>
            </a:extLst>
          </p:cNvPr>
          <p:cNvSpPr/>
          <p:nvPr/>
        </p:nvSpPr>
        <p:spPr>
          <a:xfrm>
            <a:off x="5609771" y="980414"/>
            <a:ext cx="689017" cy="234104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C75861E3-0983-9669-B07B-4AB14C9B3F9D}"/>
              </a:ext>
            </a:extLst>
          </p:cNvPr>
          <p:cNvSpPr/>
          <p:nvPr/>
        </p:nvSpPr>
        <p:spPr>
          <a:xfrm>
            <a:off x="951667" y="1085546"/>
            <a:ext cx="2423058" cy="221534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F5A694D-88BD-16FC-3158-7D3D7C47AD54}"/>
              </a:ext>
            </a:extLst>
          </p:cNvPr>
          <p:cNvSpPr/>
          <p:nvPr/>
        </p:nvSpPr>
        <p:spPr>
          <a:xfrm>
            <a:off x="1161373" y="2222089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AD754D7-D09B-5EEF-1DAD-558E8AC88DBE}"/>
              </a:ext>
            </a:extLst>
          </p:cNvPr>
          <p:cNvSpPr/>
          <p:nvPr/>
        </p:nvSpPr>
        <p:spPr>
          <a:xfrm>
            <a:off x="1450933" y="2222089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2F3DA9C-2EA5-D979-9944-07AAACC7B4EA}"/>
              </a:ext>
            </a:extLst>
          </p:cNvPr>
          <p:cNvSpPr/>
          <p:nvPr/>
        </p:nvSpPr>
        <p:spPr>
          <a:xfrm>
            <a:off x="1740493" y="2222089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330BC77-14D1-74C3-8FCD-4B9BEE71CF60}"/>
              </a:ext>
            </a:extLst>
          </p:cNvPr>
          <p:cNvSpPr/>
          <p:nvPr/>
        </p:nvSpPr>
        <p:spPr>
          <a:xfrm>
            <a:off x="2863173" y="2222089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AE62523-9891-9D11-F58E-D8F40F6EC30F}"/>
              </a:ext>
            </a:extLst>
          </p:cNvPr>
          <p:cNvSpPr txBox="1"/>
          <p:nvPr/>
        </p:nvSpPr>
        <p:spPr>
          <a:xfrm>
            <a:off x="2238334" y="2127423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7" name="左中かっこ 6">
            <a:extLst>
              <a:ext uri="{FF2B5EF4-FFF2-40B4-BE49-F238E27FC236}">
                <a16:creationId xmlns:a16="http://schemas.microsoft.com/office/drawing/2014/main" id="{A45D079A-D7CF-E6CE-FFBC-25AC7CDC00F0}"/>
              </a:ext>
            </a:extLst>
          </p:cNvPr>
          <p:cNvSpPr/>
          <p:nvPr/>
        </p:nvSpPr>
        <p:spPr>
          <a:xfrm rot="16200000" flipH="1">
            <a:off x="1964477" y="1189110"/>
            <a:ext cx="265436" cy="180052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95C6C99-3C3A-BE01-52D7-F94448F965F8}"/>
              </a:ext>
            </a:extLst>
          </p:cNvPr>
          <p:cNvSpPr txBox="1"/>
          <p:nvPr/>
        </p:nvSpPr>
        <p:spPr>
          <a:xfrm>
            <a:off x="1768460" y="1567780"/>
            <a:ext cx="699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100</a:t>
            </a:r>
            <a:endParaRPr kumimoji="1" lang="ja-JP" altLang="en-US" sz="2400" dirty="0"/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E59BFDBA-0E0F-52AC-7A20-8AB7BB6B6EB4}"/>
              </a:ext>
            </a:extLst>
          </p:cNvPr>
          <p:cNvGraphicFramePr>
            <a:graphicFrameLocks noGrp="1"/>
          </p:cNvGraphicFramePr>
          <p:nvPr/>
        </p:nvGraphicFramePr>
        <p:xfrm>
          <a:off x="5088554" y="1119519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85BF3398-D7CA-D965-95F2-BAC9F54195CA}"/>
              </a:ext>
            </a:extLst>
          </p:cNvPr>
          <p:cNvGraphicFramePr>
            <a:graphicFrameLocks noGrp="1"/>
          </p:cNvGraphicFramePr>
          <p:nvPr/>
        </p:nvGraphicFramePr>
        <p:xfrm>
          <a:off x="5756374" y="1119519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3" name="表 12">
            <a:extLst>
              <a:ext uri="{FF2B5EF4-FFF2-40B4-BE49-F238E27FC236}">
                <a16:creationId xmlns:a16="http://schemas.microsoft.com/office/drawing/2014/main" id="{473F4E3F-C979-77EE-9A57-5FEC22DAF4C1}"/>
              </a:ext>
            </a:extLst>
          </p:cNvPr>
          <p:cNvGraphicFramePr>
            <a:graphicFrameLocks noGrp="1"/>
          </p:cNvGraphicFramePr>
          <p:nvPr/>
        </p:nvGraphicFramePr>
        <p:xfrm>
          <a:off x="7258122" y="1119519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7747B8E2-0347-CABD-7718-867FC514D73D}"/>
              </a:ext>
            </a:extLst>
          </p:cNvPr>
          <p:cNvGraphicFramePr>
            <a:graphicFrameLocks noGrp="1"/>
          </p:cNvGraphicFramePr>
          <p:nvPr/>
        </p:nvGraphicFramePr>
        <p:xfrm>
          <a:off x="5088554" y="1739318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6AA72798-EC12-33FE-66D2-80B7AF5DF984}"/>
              </a:ext>
            </a:extLst>
          </p:cNvPr>
          <p:cNvGraphicFramePr>
            <a:graphicFrameLocks noGrp="1"/>
          </p:cNvGraphicFramePr>
          <p:nvPr/>
        </p:nvGraphicFramePr>
        <p:xfrm>
          <a:off x="5088554" y="2716333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24CCD078-BFA2-7CF6-188B-CB0148B5D490}"/>
              </a:ext>
            </a:extLst>
          </p:cNvPr>
          <p:cNvGraphicFramePr>
            <a:graphicFrameLocks noGrp="1"/>
          </p:cNvGraphicFramePr>
          <p:nvPr/>
        </p:nvGraphicFramePr>
        <p:xfrm>
          <a:off x="7258122" y="2716333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3293E47A-3E78-7DA5-B169-ECB9B4370AFD}"/>
              </a:ext>
            </a:extLst>
          </p:cNvPr>
          <p:cNvSpPr txBox="1"/>
          <p:nvPr/>
        </p:nvSpPr>
        <p:spPr>
          <a:xfrm>
            <a:off x="6439838" y="1119519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3C0D9F5-B89F-2A31-9848-526DE635496B}"/>
              </a:ext>
            </a:extLst>
          </p:cNvPr>
          <p:cNvSpPr txBox="1"/>
          <p:nvPr/>
        </p:nvSpPr>
        <p:spPr>
          <a:xfrm>
            <a:off x="6089318" y="2737538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467C082-7E6B-8A9E-191E-DE00B4635CC9}"/>
              </a:ext>
            </a:extLst>
          </p:cNvPr>
          <p:cNvSpPr txBox="1"/>
          <p:nvPr/>
        </p:nvSpPr>
        <p:spPr>
          <a:xfrm rot="16200000">
            <a:off x="5084882" y="2229016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8710FDA-0ACB-6B0B-E9F0-118024563605}"/>
              </a:ext>
            </a:extLst>
          </p:cNvPr>
          <p:cNvSpPr txBox="1"/>
          <p:nvPr/>
        </p:nvSpPr>
        <p:spPr>
          <a:xfrm rot="16200000">
            <a:off x="7246555" y="1903093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AD9CFC3-1512-AB9D-0729-08856E59FDD1}"/>
              </a:ext>
            </a:extLst>
          </p:cNvPr>
          <p:cNvSpPr txBox="1"/>
          <p:nvPr/>
        </p:nvSpPr>
        <p:spPr>
          <a:xfrm rot="2302672">
            <a:off x="6080691" y="1928528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23" name="左中かっこ 22">
            <a:extLst>
              <a:ext uri="{FF2B5EF4-FFF2-40B4-BE49-F238E27FC236}">
                <a16:creationId xmlns:a16="http://schemas.microsoft.com/office/drawing/2014/main" id="{CA10B003-F3A3-DBB1-8B2C-295A5FB807DB}"/>
              </a:ext>
            </a:extLst>
          </p:cNvPr>
          <p:cNvSpPr/>
          <p:nvPr/>
        </p:nvSpPr>
        <p:spPr>
          <a:xfrm rot="10800000" flipH="1">
            <a:off x="4804791" y="1144987"/>
            <a:ext cx="173748" cy="2003346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D239C31-3900-C0C3-CD9C-1DC06B0DE5ED}"/>
              </a:ext>
            </a:extLst>
          </p:cNvPr>
          <p:cNvSpPr txBox="1"/>
          <p:nvPr/>
        </p:nvSpPr>
        <p:spPr>
          <a:xfrm>
            <a:off x="4935979" y="517234"/>
            <a:ext cx="6639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/>
              <a:t>1</a:t>
            </a:r>
            <a:r>
              <a:rPr kumimoji="1" lang="ja-JP" altLang="en-US" sz="2400" b="1" dirty="0"/>
              <a:t>列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34025D2-0A03-F975-C1FA-FF35B084133D}"/>
              </a:ext>
            </a:extLst>
          </p:cNvPr>
          <p:cNvSpPr txBox="1"/>
          <p:nvPr/>
        </p:nvSpPr>
        <p:spPr>
          <a:xfrm rot="16200000">
            <a:off x="4274686" y="1877086"/>
            <a:ext cx="699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100</a:t>
            </a:r>
            <a:endParaRPr kumimoji="1" lang="ja-JP" altLang="en-US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870ED677-98DE-5DF9-C23D-E08E75AF4EE9}"/>
                  </a:ext>
                </a:extLst>
              </p:cNvPr>
              <p:cNvSpPr txBox="1"/>
              <p:nvPr/>
            </p:nvSpPr>
            <p:spPr>
              <a:xfrm>
                <a:off x="4656914" y="3436913"/>
                <a:ext cx="366452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𝑘𝑒𝑟𝑛𝑒𝑙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  (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=100, 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=512)</m:t>
                      </m:r>
                    </m:oMath>
                  </m:oMathPara>
                </a14:m>
                <a:endParaRPr kumimoji="1" lang="ja-JP" altLang="en-US" sz="2000" dirty="0"/>
              </a:p>
            </p:txBody>
          </p:sp>
        </mc:Choice>
        <mc:Fallback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870ED677-98DE-5DF9-C23D-E08E75AF4E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6914" y="3436913"/>
                <a:ext cx="3664529" cy="307777"/>
              </a:xfrm>
              <a:prstGeom prst="rect">
                <a:avLst/>
              </a:prstGeom>
              <a:blipFill>
                <a:blip r:embed="rId2"/>
                <a:stretch>
                  <a:fillRect l="-998" t="-2000" r="-1830" b="-36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テキスト ボックス 47">
                <a:extLst>
                  <a:ext uri="{FF2B5EF4-FFF2-40B4-BE49-F238E27FC236}">
                    <a16:creationId xmlns:a16="http://schemas.microsoft.com/office/drawing/2014/main" id="{2B8F935D-7E24-54D7-61B5-7B3747440D9F}"/>
                  </a:ext>
                </a:extLst>
              </p:cNvPr>
              <p:cNvSpPr txBox="1"/>
              <p:nvPr/>
            </p:nvSpPr>
            <p:spPr>
              <a:xfrm>
                <a:off x="1035921" y="3391557"/>
                <a:ext cx="271715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1 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  ( 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ja-JP" sz="2000" b="0" i="1" smtClean="0">
                          <a:latin typeface="Cambria Math" panose="02040503050406030204" pitchFamily="18" charset="0"/>
                        </a:rPr>
                        <m:t>=100)</m:t>
                      </m:r>
                    </m:oMath>
                  </m:oMathPara>
                </a14:m>
                <a:endParaRPr kumimoji="1" lang="ja-JP" altLang="en-US" sz="2000" dirty="0"/>
              </a:p>
            </p:txBody>
          </p:sp>
        </mc:Choice>
        <mc:Fallback>
          <p:sp>
            <p:nvSpPr>
              <p:cNvPr id="48" name="テキスト ボックス 47">
                <a:extLst>
                  <a:ext uri="{FF2B5EF4-FFF2-40B4-BE49-F238E27FC236}">
                    <a16:creationId xmlns:a16="http://schemas.microsoft.com/office/drawing/2014/main" id="{2B8F935D-7E24-54D7-61B5-7B3747440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5921" y="3391557"/>
                <a:ext cx="2717154" cy="307777"/>
              </a:xfrm>
              <a:prstGeom prst="rect">
                <a:avLst/>
              </a:prstGeom>
              <a:blipFill>
                <a:blip r:embed="rId3"/>
                <a:stretch>
                  <a:fillRect l="-2466" t="-1961" r="-2466" b="-3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1697C6D-2D71-A50E-6D26-407B78A0CAC3}"/>
              </a:ext>
            </a:extLst>
          </p:cNvPr>
          <p:cNvSpPr txBox="1"/>
          <p:nvPr/>
        </p:nvSpPr>
        <p:spPr>
          <a:xfrm>
            <a:off x="3187272" y="1945956"/>
            <a:ext cx="13388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400" dirty="0"/>
              <a:t>×</a:t>
            </a:r>
          </a:p>
          <a:p>
            <a:pPr algn="ctr"/>
            <a:r>
              <a:rPr kumimoji="1" lang="ja-JP" altLang="en-US" dirty="0"/>
              <a:t>（行列積）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6AE0E1C-4FDF-6E07-B275-839A54CA1386}"/>
              </a:ext>
            </a:extLst>
          </p:cNvPr>
          <p:cNvSpPr txBox="1"/>
          <p:nvPr/>
        </p:nvSpPr>
        <p:spPr>
          <a:xfrm>
            <a:off x="5671060" y="496732"/>
            <a:ext cx="6687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/>
              <a:t>2</a:t>
            </a:r>
            <a:r>
              <a:rPr kumimoji="1" lang="ja-JP" altLang="en-US" sz="2400" b="1" dirty="0"/>
              <a:t>列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160ACE3-BEAB-DB54-5C77-5AB0DFC86009}"/>
              </a:ext>
            </a:extLst>
          </p:cNvPr>
          <p:cNvSpPr txBox="1"/>
          <p:nvPr/>
        </p:nvSpPr>
        <p:spPr>
          <a:xfrm>
            <a:off x="6985450" y="516308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/>
              <a:t>512</a:t>
            </a:r>
            <a:r>
              <a:rPr kumimoji="1" lang="ja-JP" altLang="en-US" sz="2400" b="1" dirty="0"/>
              <a:t>列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テキスト ボックス 57">
                <a:extLst>
                  <a:ext uri="{FF2B5EF4-FFF2-40B4-BE49-F238E27FC236}">
                    <a16:creationId xmlns:a16="http://schemas.microsoft.com/office/drawing/2014/main" id="{D47BA57D-E362-F38B-D037-A733FEC4117A}"/>
                  </a:ext>
                </a:extLst>
              </p:cNvPr>
              <p:cNvSpPr txBox="1"/>
              <p:nvPr/>
            </p:nvSpPr>
            <p:spPr>
              <a:xfrm>
                <a:off x="2118075" y="4616163"/>
                <a:ext cx="6801221" cy="4168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1"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1"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512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ctrlP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sup>
                              <m:e>
                                <m: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𝑖𝑛𝑝𝑢𝑡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ja-JP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ja-JP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ja-JP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ja-JP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en-US" altLang="ja-JP" sz="24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𝑘𝑒𝑟𝑛𝑒𝑙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ja-JP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ja-JP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ja-JP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ja-JP" sz="24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kumimoji="1" lang="en-US" altLang="ja-JP" sz="2400" dirty="0"/>
                  <a:t>  =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𝑜𝑢𝑡𝑝𝑢𝑡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1[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58" name="テキスト ボックス 57">
                <a:extLst>
                  <a:ext uri="{FF2B5EF4-FFF2-40B4-BE49-F238E27FC236}">
                    <a16:creationId xmlns:a16="http://schemas.microsoft.com/office/drawing/2014/main" id="{D47BA57D-E362-F38B-D037-A733FEC41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8075" y="4616163"/>
                <a:ext cx="6801221" cy="416845"/>
              </a:xfrm>
              <a:prstGeom prst="rect">
                <a:avLst/>
              </a:prstGeom>
              <a:blipFill>
                <a:blip r:embed="rId4"/>
                <a:stretch>
                  <a:fillRect t="-13043" b="-4058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矢印: 右 61">
            <a:extLst>
              <a:ext uri="{FF2B5EF4-FFF2-40B4-BE49-F238E27FC236}">
                <a16:creationId xmlns:a16="http://schemas.microsoft.com/office/drawing/2014/main" id="{A55C58E1-C325-6CFB-E6EA-F90E1C9F951C}"/>
              </a:ext>
            </a:extLst>
          </p:cNvPr>
          <p:cNvSpPr/>
          <p:nvPr/>
        </p:nvSpPr>
        <p:spPr>
          <a:xfrm>
            <a:off x="8304343" y="1799854"/>
            <a:ext cx="585393" cy="485592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5" name="テキスト ボックス 64">
                <a:extLst>
                  <a:ext uri="{FF2B5EF4-FFF2-40B4-BE49-F238E27FC236}">
                    <a16:creationId xmlns:a16="http://schemas.microsoft.com/office/drawing/2014/main" id="{9F4886F7-5178-857E-350D-E0B1AD6DAC62}"/>
                  </a:ext>
                </a:extLst>
              </p:cNvPr>
              <p:cNvSpPr txBox="1"/>
              <p:nvPr/>
            </p:nvSpPr>
            <p:spPr>
              <a:xfrm>
                <a:off x="9073684" y="2476657"/>
                <a:ext cx="259864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i="1" smtClean="0">
                          <a:latin typeface="Cambria Math" panose="02040503050406030204" pitchFamily="18" charset="0"/>
                        </a:rPr>
                        <m:t>𝑜𝑢𝑡𝑝𝑢𝑡</m:t>
                      </m:r>
                      <m:r>
                        <a:rPr lang="en-US" altLang="ja-JP" sz="2400" i="1" smtClean="0">
                          <a:latin typeface="Cambria Math" panose="02040503050406030204" pitchFamily="18" charset="0"/>
                        </a:rPr>
                        <m:t>1[1</m:t>
                      </m:r>
                      <m:r>
                        <a:rPr lang="ja-JP" altLang="en-US" sz="2400" i="1">
                          <a:latin typeface="Cambria Math" panose="02040503050406030204" pitchFamily="18" charset="0"/>
                        </a:rPr>
                        <m:t>～</m:t>
                      </m:r>
                      <m:r>
                        <a:rPr lang="en-US" altLang="ja-JP" sz="2400" b="0" i="1" smtClean="0">
                          <a:latin typeface="Cambria Math" panose="02040503050406030204" pitchFamily="18" charset="0"/>
                        </a:rPr>
                        <m:t>512</m:t>
                      </m:r>
                      <m:r>
                        <a:rPr lang="en-US" altLang="ja-JP" sz="240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ja-JP" altLang="en-US" sz="2400" dirty="0"/>
              </a:p>
            </p:txBody>
          </p:sp>
        </mc:Choice>
        <mc:Fallback>
          <p:sp>
            <p:nvSpPr>
              <p:cNvPr id="65" name="テキスト ボックス 64">
                <a:extLst>
                  <a:ext uri="{FF2B5EF4-FFF2-40B4-BE49-F238E27FC236}">
                    <a16:creationId xmlns:a16="http://schemas.microsoft.com/office/drawing/2014/main" id="{9F4886F7-5178-857E-350D-E0B1AD6DA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3684" y="2476657"/>
                <a:ext cx="2598649" cy="461665"/>
              </a:xfrm>
              <a:prstGeom prst="rect">
                <a:avLst/>
              </a:prstGeom>
              <a:blipFill>
                <a:blip r:embed="rId5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6" name="表 65">
            <a:extLst>
              <a:ext uri="{FF2B5EF4-FFF2-40B4-BE49-F238E27FC236}">
                <a16:creationId xmlns:a16="http://schemas.microsoft.com/office/drawing/2014/main" id="{6DA7C7F4-E314-E77E-6970-9B4B5DE351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272711"/>
              </p:ext>
            </p:extLst>
          </p:nvPr>
        </p:nvGraphicFramePr>
        <p:xfrm>
          <a:off x="9209635" y="1820237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cxnSp>
        <p:nvCxnSpPr>
          <p:cNvPr id="68" name="直線コネクタ 67">
            <a:extLst>
              <a:ext uri="{FF2B5EF4-FFF2-40B4-BE49-F238E27FC236}">
                <a16:creationId xmlns:a16="http://schemas.microsoft.com/office/drawing/2014/main" id="{6237D6EB-B78B-B602-667C-9C8FA0182C8F}"/>
              </a:ext>
            </a:extLst>
          </p:cNvPr>
          <p:cNvCxnSpPr/>
          <p:nvPr/>
        </p:nvCxnSpPr>
        <p:spPr>
          <a:xfrm>
            <a:off x="951667" y="3942080"/>
            <a:ext cx="9706173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FDDEC5E-73E7-57D9-CFB3-2347B9153A0A}"/>
              </a:ext>
            </a:extLst>
          </p:cNvPr>
          <p:cNvCxnSpPr/>
          <p:nvPr/>
        </p:nvCxnSpPr>
        <p:spPr>
          <a:xfrm>
            <a:off x="5814447" y="2086321"/>
            <a:ext cx="173558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AA5BF74-7826-9D77-B611-E97283F7676C}"/>
              </a:ext>
            </a:extLst>
          </p:cNvPr>
          <p:cNvSpPr txBox="1"/>
          <p:nvPr/>
        </p:nvSpPr>
        <p:spPr>
          <a:xfrm>
            <a:off x="5599943" y="2245699"/>
            <a:ext cx="241604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r>
              <a:rPr kumimoji="1" lang="ja-JP" altLang="en-US" dirty="0"/>
              <a:t>回の繰り返し計算</a:t>
            </a:r>
          </a:p>
        </p:txBody>
      </p:sp>
      <p:graphicFrame>
        <p:nvGraphicFramePr>
          <p:cNvPr id="30" name="表 29">
            <a:extLst>
              <a:ext uri="{FF2B5EF4-FFF2-40B4-BE49-F238E27FC236}">
                <a16:creationId xmlns:a16="http://schemas.microsoft.com/office/drawing/2014/main" id="{3715A6C9-7995-86EF-2ECD-B152446773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7158381"/>
              </p:ext>
            </p:extLst>
          </p:nvPr>
        </p:nvGraphicFramePr>
        <p:xfrm>
          <a:off x="9830571" y="1820237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31" name="表 30">
            <a:extLst>
              <a:ext uri="{FF2B5EF4-FFF2-40B4-BE49-F238E27FC236}">
                <a16:creationId xmlns:a16="http://schemas.microsoft.com/office/drawing/2014/main" id="{55A891C1-21B0-4334-EEDE-86525ED27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3392149"/>
              </p:ext>
            </p:extLst>
          </p:nvPr>
        </p:nvGraphicFramePr>
        <p:xfrm>
          <a:off x="11240333" y="1798612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E43CEC9-EBAE-5329-224F-84031848BD6D}"/>
              </a:ext>
            </a:extLst>
          </p:cNvPr>
          <p:cNvSpPr txBox="1"/>
          <p:nvPr/>
        </p:nvSpPr>
        <p:spPr>
          <a:xfrm>
            <a:off x="10532118" y="1781040"/>
            <a:ext cx="457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/>
              <a:t>…</a:t>
            </a:r>
            <a:endParaRPr kumimoji="1" lang="ja-JP" altLang="en-US" sz="2800" dirty="0"/>
          </a:p>
        </p:txBody>
      </p:sp>
      <p:sp>
        <p:nvSpPr>
          <p:cNvPr id="34" name="左中かっこ 33">
            <a:extLst>
              <a:ext uri="{FF2B5EF4-FFF2-40B4-BE49-F238E27FC236}">
                <a16:creationId xmlns:a16="http://schemas.microsoft.com/office/drawing/2014/main" id="{5EF65782-B289-1CDF-2893-60E9F46CDEAB}"/>
              </a:ext>
            </a:extLst>
          </p:cNvPr>
          <p:cNvSpPr/>
          <p:nvPr/>
        </p:nvSpPr>
        <p:spPr>
          <a:xfrm rot="16200000" flipH="1">
            <a:off x="10283734" y="651258"/>
            <a:ext cx="265436" cy="180052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1BE633F7-D074-B2D8-2F67-06B7C0A41130}"/>
              </a:ext>
            </a:extLst>
          </p:cNvPr>
          <p:cNvSpPr txBox="1"/>
          <p:nvPr/>
        </p:nvSpPr>
        <p:spPr>
          <a:xfrm>
            <a:off x="10089336" y="941414"/>
            <a:ext cx="699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512</a:t>
            </a:r>
            <a:endParaRPr kumimoji="1" lang="ja-JP" altLang="en-US" sz="2400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58EA19E4-579B-071B-D9F5-8CF8E3B08C18}"/>
              </a:ext>
            </a:extLst>
          </p:cNvPr>
          <p:cNvSpPr txBox="1"/>
          <p:nvPr/>
        </p:nvSpPr>
        <p:spPr>
          <a:xfrm>
            <a:off x="1467614" y="4123649"/>
            <a:ext cx="2678938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000" b="1" dirty="0"/>
              <a:t>512</a:t>
            </a:r>
            <a:r>
              <a:rPr kumimoji="1" lang="ja-JP" altLang="en-US" sz="2000" b="1" dirty="0"/>
              <a:t>回の繰り返し計算</a:t>
            </a:r>
          </a:p>
        </p:txBody>
      </p:sp>
    </p:spTree>
    <p:extLst>
      <p:ext uri="{BB962C8B-B14F-4D97-AF65-F5344CB8AC3E}">
        <p14:creationId xmlns:p14="http://schemas.microsoft.com/office/powerpoint/2010/main" val="27599619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66910-C10B-B507-4566-EE0194F0D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12C3AB8F-D663-7C04-ECDC-89A03A286E2C}"/>
              </a:ext>
            </a:extLst>
          </p:cNvPr>
          <p:cNvSpPr/>
          <p:nvPr/>
        </p:nvSpPr>
        <p:spPr>
          <a:xfrm>
            <a:off x="2261421" y="1028095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44" name="表 43">
            <a:extLst>
              <a:ext uri="{FF2B5EF4-FFF2-40B4-BE49-F238E27FC236}">
                <a16:creationId xmlns:a16="http://schemas.microsoft.com/office/drawing/2014/main" id="{E4647CE7-75EE-BB68-9600-F0FC3F3C20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8333514"/>
              </p:ext>
            </p:extLst>
          </p:nvPr>
        </p:nvGraphicFramePr>
        <p:xfrm>
          <a:off x="2557964" y="916927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3007A869-AC39-391F-A2E3-C449FEA68C48}"/>
              </a:ext>
            </a:extLst>
          </p:cNvPr>
          <p:cNvSpPr txBox="1"/>
          <p:nvPr/>
        </p:nvSpPr>
        <p:spPr>
          <a:xfrm>
            <a:off x="2295208" y="96309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　　＋</a:t>
            </a:r>
            <a:endParaRPr kumimoji="1" lang="en-US" altLang="ja-JP" dirty="0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3E3600E0-9B7F-94F0-7A61-00B014E87ABE}"/>
              </a:ext>
            </a:extLst>
          </p:cNvPr>
          <p:cNvSpPr/>
          <p:nvPr/>
        </p:nvSpPr>
        <p:spPr>
          <a:xfrm>
            <a:off x="3351389" y="1044596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47" name="表 46">
            <a:extLst>
              <a:ext uri="{FF2B5EF4-FFF2-40B4-BE49-F238E27FC236}">
                <a16:creationId xmlns:a16="http://schemas.microsoft.com/office/drawing/2014/main" id="{F965C7A0-A7B2-3B95-C6BD-66C2025552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482711"/>
              </p:ext>
            </p:extLst>
          </p:nvPr>
        </p:nvGraphicFramePr>
        <p:xfrm>
          <a:off x="3647932" y="933428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4E2C8D5A-B0BC-822C-DEEC-AF4FCCB44BAA}"/>
              </a:ext>
            </a:extLst>
          </p:cNvPr>
          <p:cNvSpPr txBox="1"/>
          <p:nvPr/>
        </p:nvSpPr>
        <p:spPr>
          <a:xfrm>
            <a:off x="3385176" y="97959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　　＋</a:t>
            </a:r>
            <a:r>
              <a:rPr lang="en-US" altLang="ja-JP" dirty="0"/>
              <a:t>…</a:t>
            </a:r>
            <a:r>
              <a:rPr lang="ja-JP" altLang="en-US" dirty="0"/>
              <a:t>＋</a:t>
            </a:r>
            <a:endParaRPr kumimoji="1" lang="en-US" altLang="ja-JP" dirty="0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52A7C5EC-3CD0-518B-A4DE-0E8FED983A3D}"/>
              </a:ext>
            </a:extLst>
          </p:cNvPr>
          <p:cNvSpPr/>
          <p:nvPr/>
        </p:nvSpPr>
        <p:spPr>
          <a:xfrm>
            <a:off x="4938016" y="1057760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54" name="表 53">
            <a:extLst>
              <a:ext uri="{FF2B5EF4-FFF2-40B4-BE49-F238E27FC236}">
                <a16:creationId xmlns:a16="http://schemas.microsoft.com/office/drawing/2014/main" id="{00A57C6D-5053-502D-D34C-D769CCB4E5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472346"/>
              </p:ext>
            </p:extLst>
          </p:nvPr>
        </p:nvGraphicFramePr>
        <p:xfrm>
          <a:off x="5234559" y="946592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86D60BDC-CA7A-3D2B-DD92-CA6819BC828D}"/>
              </a:ext>
            </a:extLst>
          </p:cNvPr>
          <p:cNvSpPr txBox="1"/>
          <p:nvPr/>
        </p:nvSpPr>
        <p:spPr>
          <a:xfrm>
            <a:off x="4967222" y="99298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　　＝</a:t>
            </a:r>
            <a:endParaRPr kumimoji="1" lang="en-US" altLang="ja-JP" dirty="0"/>
          </a:p>
        </p:txBody>
      </p:sp>
      <p:graphicFrame>
        <p:nvGraphicFramePr>
          <p:cNvPr id="56" name="表 55">
            <a:extLst>
              <a:ext uri="{FF2B5EF4-FFF2-40B4-BE49-F238E27FC236}">
                <a16:creationId xmlns:a16="http://schemas.microsoft.com/office/drawing/2014/main" id="{4D61FB62-241B-3EFA-38C6-B4A185D95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2791"/>
              </p:ext>
            </p:extLst>
          </p:nvPr>
        </p:nvGraphicFramePr>
        <p:xfrm>
          <a:off x="6247632" y="931760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8" name="テキスト ボックス 57">
                <a:extLst>
                  <a:ext uri="{FF2B5EF4-FFF2-40B4-BE49-F238E27FC236}">
                    <a16:creationId xmlns:a16="http://schemas.microsoft.com/office/drawing/2014/main" id="{5B4CAB38-9F10-4AD7-7560-C0D75407AE28}"/>
                  </a:ext>
                </a:extLst>
              </p:cNvPr>
              <p:cNvSpPr txBox="1"/>
              <p:nvPr/>
            </p:nvSpPr>
            <p:spPr>
              <a:xfrm>
                <a:off x="2322967" y="1456757"/>
                <a:ext cx="4948984" cy="3263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1"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ja-JP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  <m:e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𝑘𝑒𝑟𝑛𝑒𝑙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</m:nary>
                  </m:oMath>
                </a14:m>
                <a:r>
                  <a:rPr kumimoji="1" lang="en-US" altLang="ja-JP" sz="2000" dirty="0"/>
                  <a:t>  =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</a:rPr>
                      <m:t>𝑜𝑢𝑡𝑝𝑢𝑡</m:t>
                    </m:r>
                    <m:r>
                      <a:rPr lang="en-US" altLang="ja-JP" sz="2000" i="1">
                        <a:latin typeface="Cambria Math" panose="02040503050406030204" pitchFamily="18" charset="0"/>
                      </a:rPr>
                      <m:t>1[1]</m:t>
                    </m:r>
                  </m:oMath>
                </a14:m>
                <a:endParaRPr kumimoji="1" lang="ja-JP" altLang="en-US" sz="2000" dirty="0"/>
              </a:p>
            </p:txBody>
          </p:sp>
        </mc:Choice>
        <mc:Fallback>
          <p:sp>
            <p:nvSpPr>
              <p:cNvPr id="58" name="テキスト ボックス 57">
                <a:extLst>
                  <a:ext uri="{FF2B5EF4-FFF2-40B4-BE49-F238E27FC236}">
                    <a16:creationId xmlns:a16="http://schemas.microsoft.com/office/drawing/2014/main" id="{5B4CAB38-9F10-4AD7-7560-C0D75407A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2967" y="1456757"/>
                <a:ext cx="4948984" cy="326371"/>
              </a:xfrm>
              <a:prstGeom prst="rect">
                <a:avLst/>
              </a:prstGeom>
              <a:blipFill>
                <a:blip r:embed="rId2"/>
                <a:stretch>
                  <a:fillRect l="-9360" t="-159259" r="-1601" b="-23518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88264744-5ABE-B79F-D532-81EE524D74D4}"/>
              </a:ext>
            </a:extLst>
          </p:cNvPr>
          <p:cNvSpPr/>
          <p:nvPr/>
        </p:nvSpPr>
        <p:spPr>
          <a:xfrm>
            <a:off x="2295208" y="2226975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26" name="表 25">
            <a:extLst>
              <a:ext uri="{FF2B5EF4-FFF2-40B4-BE49-F238E27FC236}">
                <a16:creationId xmlns:a16="http://schemas.microsoft.com/office/drawing/2014/main" id="{18CC2E8C-3369-ECBD-6B28-8FA5DF9FC2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933364"/>
              </p:ext>
            </p:extLst>
          </p:nvPr>
        </p:nvGraphicFramePr>
        <p:xfrm>
          <a:off x="2591751" y="2115807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A5794C0-5A84-1DB4-4E22-91A9E99413B1}"/>
              </a:ext>
            </a:extLst>
          </p:cNvPr>
          <p:cNvSpPr txBox="1"/>
          <p:nvPr/>
        </p:nvSpPr>
        <p:spPr>
          <a:xfrm>
            <a:off x="2328995" y="216197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　　＋</a:t>
            </a:r>
            <a:endParaRPr kumimoji="1" lang="en-US" altLang="ja-JP" dirty="0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0D2A276-7302-9C02-0C24-D405CEAEAD31}"/>
              </a:ext>
            </a:extLst>
          </p:cNvPr>
          <p:cNvSpPr/>
          <p:nvPr/>
        </p:nvSpPr>
        <p:spPr>
          <a:xfrm>
            <a:off x="3385176" y="2243476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29" name="表 28">
            <a:extLst>
              <a:ext uri="{FF2B5EF4-FFF2-40B4-BE49-F238E27FC236}">
                <a16:creationId xmlns:a16="http://schemas.microsoft.com/office/drawing/2014/main" id="{6086FCDF-4201-5696-6ED4-16A036B496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0025"/>
              </p:ext>
            </p:extLst>
          </p:nvPr>
        </p:nvGraphicFramePr>
        <p:xfrm>
          <a:off x="3681719" y="2132308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F1373C7-B0AB-7EF6-42DE-D85F92FD5CAD}"/>
              </a:ext>
            </a:extLst>
          </p:cNvPr>
          <p:cNvSpPr txBox="1"/>
          <p:nvPr/>
        </p:nvSpPr>
        <p:spPr>
          <a:xfrm>
            <a:off x="3418963" y="217847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　　＋</a:t>
            </a:r>
            <a:r>
              <a:rPr lang="en-US" altLang="ja-JP" dirty="0"/>
              <a:t>…</a:t>
            </a:r>
            <a:r>
              <a:rPr lang="ja-JP" altLang="en-US" dirty="0"/>
              <a:t>＋</a:t>
            </a:r>
            <a:endParaRPr kumimoji="1" lang="en-US" altLang="ja-JP" dirty="0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A560C37-A69E-A9D5-A20C-0412A65365F0}"/>
              </a:ext>
            </a:extLst>
          </p:cNvPr>
          <p:cNvSpPr/>
          <p:nvPr/>
        </p:nvSpPr>
        <p:spPr>
          <a:xfrm>
            <a:off x="4971803" y="2256640"/>
            <a:ext cx="180000" cy="18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32" name="表 31">
            <a:extLst>
              <a:ext uri="{FF2B5EF4-FFF2-40B4-BE49-F238E27FC236}">
                <a16:creationId xmlns:a16="http://schemas.microsoft.com/office/drawing/2014/main" id="{1E23AD8A-C933-72C7-9BD5-0B4A5F468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52305"/>
              </p:ext>
            </p:extLst>
          </p:nvPr>
        </p:nvGraphicFramePr>
        <p:xfrm>
          <a:off x="5268346" y="2145472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D8AAAE6-ECB1-5710-239B-1BF6DA4C557C}"/>
              </a:ext>
            </a:extLst>
          </p:cNvPr>
          <p:cNvSpPr txBox="1"/>
          <p:nvPr/>
        </p:nvSpPr>
        <p:spPr>
          <a:xfrm>
            <a:off x="5001009" y="219186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・　　＝</a:t>
            </a:r>
            <a:endParaRPr kumimoji="1" lang="en-US" altLang="ja-JP" dirty="0"/>
          </a:p>
        </p:txBody>
      </p:sp>
      <p:graphicFrame>
        <p:nvGraphicFramePr>
          <p:cNvPr id="34" name="表 33">
            <a:extLst>
              <a:ext uri="{FF2B5EF4-FFF2-40B4-BE49-F238E27FC236}">
                <a16:creationId xmlns:a16="http://schemas.microsoft.com/office/drawing/2014/main" id="{6EF43628-2E40-0AA5-A779-A553FCE0ED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977144"/>
              </p:ext>
            </p:extLst>
          </p:nvPr>
        </p:nvGraphicFramePr>
        <p:xfrm>
          <a:off x="6281419" y="2130640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1C3DBF83-EB50-01E7-C3E9-0ECAAE36949F}"/>
                  </a:ext>
                </a:extLst>
              </p:cNvPr>
              <p:cNvSpPr txBox="1"/>
              <p:nvPr/>
            </p:nvSpPr>
            <p:spPr>
              <a:xfrm>
                <a:off x="2356754" y="2655637"/>
                <a:ext cx="5041958" cy="3263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1"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ja-JP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sup>
                      <m:e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</a:rPr>
                          <m:t>𝑖𝑛𝑝𝑢𝑡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kumimoji="1"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𝑘𝑒𝑟𝑛𝑒𝑙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kumimoji="1"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e>
                    </m:nary>
                  </m:oMath>
                </a14:m>
                <a:r>
                  <a:rPr kumimoji="1" lang="en-US" altLang="ja-JP" sz="2000" dirty="0"/>
                  <a:t>  =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000" i="1">
                        <a:latin typeface="Cambria Math" panose="02040503050406030204" pitchFamily="18" charset="0"/>
                      </a:rPr>
                      <m:t>𝑜𝑢𝑡𝑝𝑢𝑡</m:t>
                    </m:r>
                    <m:r>
                      <a:rPr lang="en-US" altLang="ja-JP" sz="2000" i="1">
                        <a:latin typeface="Cambria Math" panose="02040503050406030204" pitchFamily="18" charset="0"/>
                      </a:rPr>
                      <m:t>1[2]</m:t>
                    </m:r>
                  </m:oMath>
                </a14:m>
                <a:endParaRPr kumimoji="1" lang="ja-JP" altLang="en-US" sz="2000" dirty="0"/>
              </a:p>
            </p:txBody>
          </p:sp>
        </mc:Choice>
        <mc:Fallback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1C3DBF83-EB50-01E7-C3E9-0ECAAE369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754" y="2655637"/>
                <a:ext cx="5041958" cy="326371"/>
              </a:xfrm>
              <a:prstGeom prst="rect">
                <a:avLst/>
              </a:prstGeom>
              <a:blipFill>
                <a:blip r:embed="rId3"/>
                <a:stretch>
                  <a:fillRect l="-9311" t="-162264" b="-24150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6" name="表 35">
            <a:extLst>
              <a:ext uri="{FF2B5EF4-FFF2-40B4-BE49-F238E27FC236}">
                <a16:creationId xmlns:a16="http://schemas.microsoft.com/office/drawing/2014/main" id="{B0071E3B-445E-59BB-BB32-868E008A8B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748714"/>
              </p:ext>
            </p:extLst>
          </p:nvPr>
        </p:nvGraphicFramePr>
        <p:xfrm>
          <a:off x="8971182" y="4431525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37" name="表 36">
            <a:extLst>
              <a:ext uri="{FF2B5EF4-FFF2-40B4-BE49-F238E27FC236}">
                <a16:creationId xmlns:a16="http://schemas.microsoft.com/office/drawing/2014/main" id="{8E2F9CF5-95E5-0BA8-1CCD-BB13BE8E90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8768323"/>
              </p:ext>
            </p:extLst>
          </p:nvPr>
        </p:nvGraphicFramePr>
        <p:xfrm>
          <a:off x="9639002" y="4431525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38" name="表 37">
            <a:extLst>
              <a:ext uri="{FF2B5EF4-FFF2-40B4-BE49-F238E27FC236}">
                <a16:creationId xmlns:a16="http://schemas.microsoft.com/office/drawing/2014/main" id="{9709BA77-8349-7C66-491A-C6C0BD66AC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508361"/>
              </p:ext>
            </p:extLst>
          </p:nvPr>
        </p:nvGraphicFramePr>
        <p:xfrm>
          <a:off x="11140750" y="4431525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39" name="表 38">
            <a:extLst>
              <a:ext uri="{FF2B5EF4-FFF2-40B4-BE49-F238E27FC236}">
                <a16:creationId xmlns:a16="http://schemas.microsoft.com/office/drawing/2014/main" id="{EE37775D-9FCD-1832-19EF-CD7449AF96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482371"/>
              </p:ext>
            </p:extLst>
          </p:nvPr>
        </p:nvGraphicFramePr>
        <p:xfrm>
          <a:off x="8971182" y="5051324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40" name="表 39">
            <a:extLst>
              <a:ext uri="{FF2B5EF4-FFF2-40B4-BE49-F238E27FC236}">
                <a16:creationId xmlns:a16="http://schemas.microsoft.com/office/drawing/2014/main" id="{24332BE0-0BA7-B3DE-C818-00F1C355C8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754023"/>
              </p:ext>
            </p:extLst>
          </p:nvPr>
        </p:nvGraphicFramePr>
        <p:xfrm>
          <a:off x="8971182" y="6028339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graphicFrame>
        <p:nvGraphicFramePr>
          <p:cNvPr id="57" name="表 56">
            <a:extLst>
              <a:ext uri="{FF2B5EF4-FFF2-40B4-BE49-F238E27FC236}">
                <a16:creationId xmlns:a16="http://schemas.microsoft.com/office/drawing/2014/main" id="{2D962362-FD21-B70D-7767-DD3C2A0B7F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9526"/>
              </p:ext>
            </p:extLst>
          </p:nvPr>
        </p:nvGraphicFramePr>
        <p:xfrm>
          <a:off x="11140750" y="6028339"/>
          <a:ext cx="432000" cy="432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">
                  <a:extLst>
                    <a:ext uri="{9D8B030D-6E8A-4147-A177-3AD203B41FA5}">
                      <a16:colId xmlns:a16="http://schemas.microsoft.com/office/drawing/2014/main" val="23582631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415108957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7700239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30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300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6551694"/>
                  </a:ext>
                </a:extLst>
              </a:tr>
            </a:tbl>
          </a:graphicData>
        </a:graphic>
      </p:graphicFrame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590E2755-C363-0CDF-7067-28092655F620}"/>
              </a:ext>
            </a:extLst>
          </p:cNvPr>
          <p:cNvSpPr txBox="1"/>
          <p:nvPr/>
        </p:nvSpPr>
        <p:spPr>
          <a:xfrm>
            <a:off x="10322466" y="4431525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77C00BBE-7F5F-4A28-BDC0-5E882576808B}"/>
              </a:ext>
            </a:extLst>
          </p:cNvPr>
          <p:cNvSpPr txBox="1"/>
          <p:nvPr/>
        </p:nvSpPr>
        <p:spPr>
          <a:xfrm>
            <a:off x="9971946" y="6049544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46B6805F-9150-76CE-F76C-E584F1D5BB11}"/>
              </a:ext>
            </a:extLst>
          </p:cNvPr>
          <p:cNvSpPr txBox="1"/>
          <p:nvPr/>
        </p:nvSpPr>
        <p:spPr>
          <a:xfrm rot="16200000">
            <a:off x="8967510" y="5541022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D0E9BFF7-1A36-5E94-D7AE-554EA8FB5DE5}"/>
              </a:ext>
            </a:extLst>
          </p:cNvPr>
          <p:cNvSpPr txBox="1"/>
          <p:nvPr/>
        </p:nvSpPr>
        <p:spPr>
          <a:xfrm rot="16200000">
            <a:off x="11129183" y="5215099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D4D9D21D-0D99-B3A3-8D1C-18A2B9686399}"/>
              </a:ext>
            </a:extLst>
          </p:cNvPr>
          <p:cNvSpPr txBox="1"/>
          <p:nvPr/>
        </p:nvSpPr>
        <p:spPr>
          <a:xfrm rot="2302672">
            <a:off x="9963319" y="5240534"/>
            <a:ext cx="484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dirty="0"/>
              <a:t>…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296276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F2A1FB22-E4B4-9B72-4117-D7715EC46B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0850636"/>
              </p:ext>
            </p:extLst>
          </p:nvPr>
        </p:nvGraphicFramePr>
        <p:xfrm>
          <a:off x="1219392" y="119421"/>
          <a:ext cx="7373807" cy="6619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163">
                  <a:extLst>
                    <a:ext uri="{9D8B030D-6E8A-4147-A177-3AD203B41FA5}">
                      <a16:colId xmlns:a16="http://schemas.microsoft.com/office/drawing/2014/main" val="2139760220"/>
                    </a:ext>
                  </a:extLst>
                </a:gridCol>
                <a:gridCol w="1887793">
                  <a:extLst>
                    <a:ext uri="{9D8B030D-6E8A-4147-A177-3AD203B41FA5}">
                      <a16:colId xmlns:a16="http://schemas.microsoft.com/office/drawing/2014/main" val="1907356628"/>
                    </a:ext>
                  </a:extLst>
                </a:gridCol>
                <a:gridCol w="2163097">
                  <a:extLst>
                    <a:ext uri="{9D8B030D-6E8A-4147-A177-3AD203B41FA5}">
                      <a16:colId xmlns:a16="http://schemas.microsoft.com/office/drawing/2014/main" val="988069048"/>
                    </a:ext>
                  </a:extLst>
                </a:gridCol>
                <a:gridCol w="1995754">
                  <a:extLst>
                    <a:ext uri="{9D8B030D-6E8A-4147-A177-3AD203B41FA5}">
                      <a16:colId xmlns:a16="http://schemas.microsoft.com/office/drawing/2014/main" val="2112933789"/>
                    </a:ext>
                  </a:extLst>
                </a:gridCol>
              </a:tblGrid>
              <a:tr h="73546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層</a:t>
                      </a:r>
                      <a:r>
                        <a:rPr kumimoji="1" lang="en-US" altLang="ja-JP" dirty="0"/>
                        <a:t> 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入力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カーネル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出力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4779"/>
                  </a:ext>
                </a:extLst>
              </a:tr>
              <a:tr h="147092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input1</a:t>
                      </a:r>
                      <a:endParaRPr kumimoji="1" lang="ja-JP" altLang="en-US" sz="1600" dirty="0"/>
                    </a:p>
                  </a:txBody>
                  <a:tcPr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output1 (4×4)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074904"/>
                  </a:ext>
                </a:extLst>
              </a:tr>
              <a:tr h="14709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Deconv2</a:t>
                      </a:r>
                      <a:endParaRPr kumimoji="1" lang="ja-JP" altLang="en-US" dirty="0"/>
                    </a:p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input2</a:t>
                      </a:r>
                      <a:r>
                        <a:rPr lang="en-US" altLang="ja-JP" sz="1600" dirty="0"/>
                        <a:t>(=output1)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output2(8×8)</a:t>
                      </a:r>
                      <a:endParaRPr kumimoji="1" lang="ja-JP" altLang="en-US" sz="1600" dirty="0"/>
                    </a:p>
                    <a:p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4747592"/>
                  </a:ext>
                </a:extLst>
              </a:tr>
              <a:tr h="147092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Deconv3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input3</a:t>
                      </a:r>
                      <a:r>
                        <a:rPr lang="en-US" altLang="ja-JP" sz="1600" dirty="0"/>
                        <a:t>(=output2)</a:t>
                      </a:r>
                      <a:endParaRPr kumimoji="1" lang="ja-JP" altLang="en-US" sz="1600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output(16×16)</a:t>
                      </a:r>
                      <a:endParaRPr kumimoji="1" lang="ja-JP" altLang="en-US" sz="1600" dirty="0"/>
                    </a:p>
                    <a:p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558996"/>
                  </a:ext>
                </a:extLst>
              </a:tr>
              <a:tr h="147092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Deconv4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input4</a:t>
                      </a:r>
                      <a:r>
                        <a:rPr lang="en-US" altLang="ja-JP" sz="1600" dirty="0"/>
                        <a:t>(=output3)</a:t>
                      </a:r>
                      <a:endParaRPr kumimoji="1" lang="ja-JP" altLang="en-US" sz="1600" dirty="0"/>
                    </a:p>
                    <a:p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output4(32×32)</a:t>
                      </a:r>
                      <a:endParaRPr kumimoji="1" lang="ja-JP" altLang="en-US" sz="1600" dirty="0"/>
                    </a:p>
                    <a:p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713843"/>
                  </a:ext>
                </a:extLst>
              </a:tr>
            </a:tbl>
          </a:graphicData>
        </a:graphic>
      </p:graphicFrame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5F698176-3499-AD12-4786-7FFEE4E686C4}"/>
              </a:ext>
            </a:extLst>
          </p:cNvPr>
          <p:cNvSpPr/>
          <p:nvPr/>
        </p:nvSpPr>
        <p:spPr>
          <a:xfrm>
            <a:off x="7057017" y="1465424"/>
            <a:ext cx="286225" cy="31579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A5ECF8E-FC06-4334-F474-8D0D4394B7BF}"/>
              </a:ext>
            </a:extLst>
          </p:cNvPr>
          <p:cNvSpPr/>
          <p:nvPr/>
        </p:nvSpPr>
        <p:spPr>
          <a:xfrm>
            <a:off x="4804122" y="1077582"/>
            <a:ext cx="288233" cy="109474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AD2E98A-BE54-D5B2-774E-D6E3DDDB4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7218" y="1150814"/>
            <a:ext cx="1268782" cy="1021080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B2A713D-6C3E-7DB9-ED43-84109FA1DE60}"/>
              </a:ext>
            </a:extLst>
          </p:cNvPr>
          <p:cNvSpPr txBox="1"/>
          <p:nvPr/>
        </p:nvSpPr>
        <p:spPr>
          <a:xfrm>
            <a:off x="5100265" y="813825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5AB50B8-A95E-8B13-61C9-70F1B550DE46}"/>
              </a:ext>
            </a:extLst>
          </p:cNvPr>
          <p:cNvSpPr txBox="1"/>
          <p:nvPr/>
        </p:nvSpPr>
        <p:spPr>
          <a:xfrm rot="5400000">
            <a:off x="5952385" y="1443411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100</a:t>
            </a:r>
            <a:endParaRPr kumimoji="1" lang="ja-JP" altLang="en-US" dirty="0"/>
          </a:p>
        </p:txBody>
      </p:sp>
      <p:sp>
        <p:nvSpPr>
          <p:cNvPr id="9" name="左大かっこ 8">
            <a:extLst>
              <a:ext uri="{FF2B5EF4-FFF2-40B4-BE49-F238E27FC236}">
                <a16:creationId xmlns:a16="http://schemas.microsoft.com/office/drawing/2014/main" id="{B0F815CC-B2AB-BAB0-94FA-16E92881454E}"/>
              </a:ext>
            </a:extLst>
          </p:cNvPr>
          <p:cNvSpPr/>
          <p:nvPr/>
        </p:nvSpPr>
        <p:spPr>
          <a:xfrm>
            <a:off x="4762801" y="1061192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左大かっこ 9">
            <a:extLst>
              <a:ext uri="{FF2B5EF4-FFF2-40B4-BE49-F238E27FC236}">
                <a16:creationId xmlns:a16="http://schemas.microsoft.com/office/drawing/2014/main" id="{7B641D32-8E78-CBEE-49AD-C4D1EA1374E4}"/>
              </a:ext>
            </a:extLst>
          </p:cNvPr>
          <p:cNvSpPr/>
          <p:nvPr/>
        </p:nvSpPr>
        <p:spPr>
          <a:xfrm flipH="1">
            <a:off x="5983924" y="1077149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53A6BB4-07CF-8635-3CF0-51C9023B22F2}"/>
              </a:ext>
            </a:extLst>
          </p:cNvPr>
          <p:cNvSpPr txBox="1"/>
          <p:nvPr/>
        </p:nvSpPr>
        <p:spPr>
          <a:xfrm rot="5400000">
            <a:off x="3531697" y="1443202"/>
            <a:ext cx="461665" cy="32316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2" name="左大かっこ 11">
            <a:extLst>
              <a:ext uri="{FF2B5EF4-FFF2-40B4-BE49-F238E27FC236}">
                <a16:creationId xmlns:a16="http://schemas.microsoft.com/office/drawing/2014/main" id="{AE4D9F98-5994-DE10-E6C0-3148263F0F5E}"/>
              </a:ext>
            </a:extLst>
          </p:cNvPr>
          <p:cNvSpPr/>
          <p:nvPr/>
        </p:nvSpPr>
        <p:spPr>
          <a:xfrm rot="16200000" flipH="1">
            <a:off x="3541033" y="930222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3B53D14-1C39-4E47-9FC6-AAC7107BA745}"/>
              </a:ext>
            </a:extLst>
          </p:cNvPr>
          <p:cNvSpPr txBox="1"/>
          <p:nvPr/>
        </p:nvSpPr>
        <p:spPr>
          <a:xfrm>
            <a:off x="2714417" y="1451554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3600305-4BD1-0C61-0321-7103F7151B55}"/>
              </a:ext>
            </a:extLst>
          </p:cNvPr>
          <p:cNvSpPr txBox="1"/>
          <p:nvPr/>
        </p:nvSpPr>
        <p:spPr>
          <a:xfrm>
            <a:off x="3338014" y="114880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100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4CABE6BD-0C09-8B3E-D2AE-F16640B9EC65}"/>
                  </a:ext>
                </a:extLst>
              </p:cNvPr>
              <p:cNvSpPr txBox="1"/>
              <p:nvPr/>
            </p:nvSpPr>
            <p:spPr>
              <a:xfrm>
                <a:off x="6454597" y="1465424"/>
                <a:ext cx="317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4CABE6BD-0C09-8B3E-D2AE-F16640B9EC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4597" y="1465424"/>
                <a:ext cx="317395" cy="369332"/>
              </a:xfrm>
              <a:prstGeom prst="rect">
                <a:avLst/>
              </a:prstGeom>
              <a:blipFill>
                <a:blip r:embed="rId4"/>
                <a:stretch>
                  <a:fillRect l="-7692" r="-57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C60C6BF7-68F9-10F0-78B5-6E3BFF3F70F6}"/>
                  </a:ext>
                </a:extLst>
              </p:cNvPr>
              <p:cNvSpPr txBox="1"/>
              <p:nvPr/>
            </p:nvSpPr>
            <p:spPr>
              <a:xfrm>
                <a:off x="4294043" y="1440290"/>
                <a:ext cx="3946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e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C60C6BF7-68F9-10F0-78B5-6E3BFF3F7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4043" y="1440290"/>
                <a:ext cx="394659" cy="369332"/>
              </a:xfrm>
              <a:prstGeom prst="rect">
                <a:avLst/>
              </a:prstGeom>
              <a:blipFill>
                <a:blip r:embed="rId5"/>
                <a:stretch>
                  <a:fillRect l="-7692" r="-307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図 16">
            <a:extLst>
              <a:ext uri="{FF2B5EF4-FFF2-40B4-BE49-F238E27FC236}">
                <a16:creationId xmlns:a16="http://schemas.microsoft.com/office/drawing/2014/main" id="{C573A37D-D614-DF39-0960-B656366309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3525145" y="1115896"/>
            <a:ext cx="182896" cy="1018120"/>
          </a:xfrm>
          <a:prstGeom prst="rect">
            <a:avLst/>
          </a:prstGeom>
        </p:spPr>
      </p:pic>
      <p:sp>
        <p:nvSpPr>
          <p:cNvPr id="18" name="左大かっこ 17">
            <a:extLst>
              <a:ext uri="{FF2B5EF4-FFF2-40B4-BE49-F238E27FC236}">
                <a16:creationId xmlns:a16="http://schemas.microsoft.com/office/drawing/2014/main" id="{CADB6912-7882-D3B0-B3D4-22FBFC5260B5}"/>
              </a:ext>
            </a:extLst>
          </p:cNvPr>
          <p:cNvSpPr/>
          <p:nvPr/>
        </p:nvSpPr>
        <p:spPr>
          <a:xfrm rot="16200000">
            <a:off x="3544044" y="1185676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4165DDDB-82FE-5DDB-74AD-EB6C7C8BE48D}"/>
              </a:ext>
            </a:extLst>
          </p:cNvPr>
          <p:cNvSpPr/>
          <p:nvPr/>
        </p:nvSpPr>
        <p:spPr>
          <a:xfrm rot="16200000" flipH="1">
            <a:off x="7502236" y="930222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A33ADDB-C3A1-CFC8-1893-8A09BCB0B5E9}"/>
              </a:ext>
            </a:extLst>
          </p:cNvPr>
          <p:cNvSpPr txBox="1"/>
          <p:nvPr/>
        </p:nvSpPr>
        <p:spPr>
          <a:xfrm>
            <a:off x="6675620" y="1451554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54E257F-C9BE-0499-EFE8-3B5D978FEB83}"/>
              </a:ext>
            </a:extLst>
          </p:cNvPr>
          <p:cNvSpPr txBox="1"/>
          <p:nvPr/>
        </p:nvSpPr>
        <p:spPr>
          <a:xfrm>
            <a:off x="7299217" y="114880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512</a:t>
            </a:r>
            <a:endParaRPr kumimoji="1" lang="ja-JP" altLang="en-US" dirty="0"/>
          </a:p>
        </p:txBody>
      </p:sp>
      <p:sp>
        <p:nvSpPr>
          <p:cNvPr id="22" name="左大かっこ 21">
            <a:extLst>
              <a:ext uri="{FF2B5EF4-FFF2-40B4-BE49-F238E27FC236}">
                <a16:creationId xmlns:a16="http://schemas.microsoft.com/office/drawing/2014/main" id="{A1880955-AD3C-107A-6F11-5F62C722B1DC}"/>
              </a:ext>
            </a:extLst>
          </p:cNvPr>
          <p:cNvSpPr/>
          <p:nvPr/>
        </p:nvSpPr>
        <p:spPr>
          <a:xfrm rot="16200000">
            <a:off x="7505247" y="1185676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782E5B65-A6D0-12B2-2ABA-DAF5A6C3021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9688"/>
          <a:stretch>
            <a:fillRect/>
          </a:stretch>
        </p:blipFill>
        <p:spPr>
          <a:xfrm rot="16200000">
            <a:off x="7462868" y="1114415"/>
            <a:ext cx="257719" cy="102108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26F1374F-9B37-DAB2-AC8F-7B2914A6ED38}"/>
              </a:ext>
            </a:extLst>
          </p:cNvPr>
          <p:cNvSpPr/>
          <p:nvPr/>
        </p:nvSpPr>
        <p:spPr>
          <a:xfrm>
            <a:off x="7020328" y="2988720"/>
            <a:ext cx="284763" cy="30431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64A05A55-2839-1F44-CA74-80EF316C0944}"/>
              </a:ext>
            </a:extLst>
          </p:cNvPr>
          <p:cNvSpPr/>
          <p:nvPr/>
        </p:nvSpPr>
        <p:spPr>
          <a:xfrm>
            <a:off x="4765353" y="2605970"/>
            <a:ext cx="288233" cy="109474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27016C5-5C89-0418-1705-0CA48D684915}"/>
              </a:ext>
            </a:extLst>
          </p:cNvPr>
          <p:cNvSpPr txBox="1"/>
          <p:nvPr/>
        </p:nvSpPr>
        <p:spPr>
          <a:xfrm>
            <a:off x="5067441" y="2317078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256</a:t>
            </a:r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AFEE5F6-AF01-30BD-F1CC-0D012F873472}"/>
              </a:ext>
            </a:extLst>
          </p:cNvPr>
          <p:cNvSpPr txBox="1"/>
          <p:nvPr/>
        </p:nvSpPr>
        <p:spPr>
          <a:xfrm rot="5400000">
            <a:off x="5919561" y="2946664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512</a:t>
            </a:r>
            <a:endParaRPr kumimoji="1" lang="ja-JP" altLang="en-US" dirty="0"/>
          </a:p>
        </p:txBody>
      </p:sp>
      <p:sp>
        <p:nvSpPr>
          <p:cNvPr id="28" name="左大かっこ 27">
            <a:extLst>
              <a:ext uri="{FF2B5EF4-FFF2-40B4-BE49-F238E27FC236}">
                <a16:creationId xmlns:a16="http://schemas.microsoft.com/office/drawing/2014/main" id="{B8792318-B0D1-AA7A-34AC-BB6DB1892694}"/>
              </a:ext>
            </a:extLst>
          </p:cNvPr>
          <p:cNvSpPr/>
          <p:nvPr/>
        </p:nvSpPr>
        <p:spPr>
          <a:xfrm>
            <a:off x="4729977" y="2564445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左大かっこ 28">
            <a:extLst>
              <a:ext uri="{FF2B5EF4-FFF2-40B4-BE49-F238E27FC236}">
                <a16:creationId xmlns:a16="http://schemas.microsoft.com/office/drawing/2014/main" id="{EF347482-8F25-22F0-CC85-2DB828C00AF7}"/>
              </a:ext>
            </a:extLst>
          </p:cNvPr>
          <p:cNvSpPr/>
          <p:nvPr/>
        </p:nvSpPr>
        <p:spPr>
          <a:xfrm flipH="1">
            <a:off x="5951100" y="2580402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左大かっこ 29">
            <a:extLst>
              <a:ext uri="{FF2B5EF4-FFF2-40B4-BE49-F238E27FC236}">
                <a16:creationId xmlns:a16="http://schemas.microsoft.com/office/drawing/2014/main" id="{33447672-1AD4-23FE-76CF-ADFBD2443127}"/>
              </a:ext>
            </a:extLst>
          </p:cNvPr>
          <p:cNvSpPr/>
          <p:nvPr/>
        </p:nvSpPr>
        <p:spPr>
          <a:xfrm rot="16200000" flipH="1">
            <a:off x="3508209" y="2433475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BC481C6-D0A2-6E94-EB67-749EFF682ADA}"/>
              </a:ext>
            </a:extLst>
          </p:cNvPr>
          <p:cNvSpPr txBox="1"/>
          <p:nvPr/>
        </p:nvSpPr>
        <p:spPr>
          <a:xfrm>
            <a:off x="2681593" y="2954807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F6A441B-4D42-23C7-972A-EBA0DE1A972A}"/>
              </a:ext>
            </a:extLst>
          </p:cNvPr>
          <p:cNvSpPr txBox="1"/>
          <p:nvPr/>
        </p:nvSpPr>
        <p:spPr>
          <a:xfrm>
            <a:off x="3305190" y="265205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512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30AB56AC-54FD-3CD3-9E0E-7CC25138372D}"/>
                  </a:ext>
                </a:extLst>
              </p:cNvPr>
              <p:cNvSpPr txBox="1"/>
              <p:nvPr/>
            </p:nvSpPr>
            <p:spPr>
              <a:xfrm>
                <a:off x="6421773" y="2968677"/>
                <a:ext cx="317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30AB56AC-54FD-3CD3-9E0E-7CC2513837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1773" y="2968677"/>
                <a:ext cx="317395" cy="369332"/>
              </a:xfrm>
              <a:prstGeom prst="rect">
                <a:avLst/>
              </a:prstGeom>
              <a:blipFill>
                <a:blip r:embed="rId7"/>
                <a:stretch>
                  <a:fillRect l="-7547" r="-377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4C59D97C-9274-C287-6533-0D352DAB105D}"/>
                  </a:ext>
                </a:extLst>
              </p:cNvPr>
              <p:cNvSpPr txBox="1"/>
              <p:nvPr/>
            </p:nvSpPr>
            <p:spPr>
              <a:xfrm>
                <a:off x="4261219" y="2943543"/>
                <a:ext cx="3946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e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4C59D97C-9274-C287-6533-0D352DAB1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219" y="2943543"/>
                <a:ext cx="394659" cy="369332"/>
              </a:xfrm>
              <a:prstGeom prst="rect">
                <a:avLst/>
              </a:prstGeom>
              <a:blipFill>
                <a:blip r:embed="rId8"/>
                <a:stretch>
                  <a:fillRect l="-7692" r="-307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左大かっこ 34">
            <a:extLst>
              <a:ext uri="{FF2B5EF4-FFF2-40B4-BE49-F238E27FC236}">
                <a16:creationId xmlns:a16="http://schemas.microsoft.com/office/drawing/2014/main" id="{522C53D1-2984-FCFE-C486-0F283FF990A7}"/>
              </a:ext>
            </a:extLst>
          </p:cNvPr>
          <p:cNvSpPr/>
          <p:nvPr/>
        </p:nvSpPr>
        <p:spPr>
          <a:xfrm rot="16200000">
            <a:off x="3511220" y="2688929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0FCFD9D0-DC21-B22E-E0E7-752E37D8E6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9688"/>
          <a:stretch>
            <a:fillRect/>
          </a:stretch>
        </p:blipFill>
        <p:spPr>
          <a:xfrm rot="16200000">
            <a:off x="3468841" y="2617668"/>
            <a:ext cx="257719" cy="1021080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A8E6D7EA-4A35-B975-B139-A996B0CC7B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4394" y="2652059"/>
            <a:ext cx="1268782" cy="1021080"/>
          </a:xfrm>
          <a:prstGeom prst="rect">
            <a:avLst/>
          </a:prstGeom>
        </p:spPr>
      </p:pic>
      <p:sp>
        <p:nvSpPr>
          <p:cNvPr id="38" name="左大かっこ 37">
            <a:extLst>
              <a:ext uri="{FF2B5EF4-FFF2-40B4-BE49-F238E27FC236}">
                <a16:creationId xmlns:a16="http://schemas.microsoft.com/office/drawing/2014/main" id="{2BD1EC99-1FA5-7B34-3053-58616909B75A}"/>
              </a:ext>
            </a:extLst>
          </p:cNvPr>
          <p:cNvSpPr/>
          <p:nvPr/>
        </p:nvSpPr>
        <p:spPr>
          <a:xfrm rot="16200000" flipH="1">
            <a:off x="7465624" y="2438840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B3C3C29D-8FDB-00B2-D737-52EF3B5BC986}"/>
              </a:ext>
            </a:extLst>
          </p:cNvPr>
          <p:cNvSpPr txBox="1"/>
          <p:nvPr/>
        </p:nvSpPr>
        <p:spPr>
          <a:xfrm>
            <a:off x="6639008" y="2960172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E67320D-1F83-C25B-C8E3-AA5CCA2D0531}"/>
              </a:ext>
            </a:extLst>
          </p:cNvPr>
          <p:cNvSpPr txBox="1"/>
          <p:nvPr/>
        </p:nvSpPr>
        <p:spPr>
          <a:xfrm>
            <a:off x="7262605" y="265742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256</a:t>
            </a:r>
            <a:endParaRPr kumimoji="1" lang="ja-JP" altLang="en-US" dirty="0"/>
          </a:p>
        </p:txBody>
      </p:sp>
      <p:sp>
        <p:nvSpPr>
          <p:cNvPr id="41" name="左大かっこ 40">
            <a:extLst>
              <a:ext uri="{FF2B5EF4-FFF2-40B4-BE49-F238E27FC236}">
                <a16:creationId xmlns:a16="http://schemas.microsoft.com/office/drawing/2014/main" id="{361ECE59-99D0-46F7-DDFF-E864EDD5A571}"/>
              </a:ext>
            </a:extLst>
          </p:cNvPr>
          <p:cNvSpPr/>
          <p:nvPr/>
        </p:nvSpPr>
        <p:spPr>
          <a:xfrm rot="16200000">
            <a:off x="7468635" y="2694294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2" name="図 41">
            <a:extLst>
              <a:ext uri="{FF2B5EF4-FFF2-40B4-BE49-F238E27FC236}">
                <a16:creationId xmlns:a16="http://schemas.microsoft.com/office/drawing/2014/main" id="{9E9C65FD-7AF0-3426-7BFF-EB8BF1D2080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33" t="53298" r="76230" b="28194"/>
          <a:stretch>
            <a:fillRect/>
          </a:stretch>
        </p:blipFill>
        <p:spPr>
          <a:xfrm rot="16200000">
            <a:off x="7526550" y="3041678"/>
            <a:ext cx="334981" cy="188979"/>
          </a:xfrm>
          <a:prstGeom prst="rect">
            <a:avLst/>
          </a:prstGeom>
        </p:spPr>
      </p:pic>
      <p:pic>
        <p:nvPicPr>
          <p:cNvPr id="46" name="図 45">
            <a:extLst>
              <a:ext uri="{FF2B5EF4-FFF2-40B4-BE49-F238E27FC236}">
                <a16:creationId xmlns:a16="http://schemas.microsoft.com/office/drawing/2014/main" id="{729D24ED-87D2-D1AD-F1C9-144FEB069A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54016" y="3042720"/>
            <a:ext cx="204887" cy="209597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FECC80CA-07F2-1EF3-95B6-E5FE14B9F96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72409" y="3044296"/>
            <a:ext cx="193480" cy="197928"/>
          </a:xfrm>
          <a:prstGeom prst="rect">
            <a:avLst/>
          </a:prstGeom>
        </p:spPr>
      </p:pic>
      <p:pic>
        <p:nvPicPr>
          <p:cNvPr id="48" name="図 47">
            <a:extLst>
              <a:ext uri="{FF2B5EF4-FFF2-40B4-BE49-F238E27FC236}">
                <a16:creationId xmlns:a16="http://schemas.microsoft.com/office/drawing/2014/main" id="{4647DA81-636B-F086-4DCC-47ECDD09814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10249" y="3038109"/>
            <a:ext cx="204887" cy="209597"/>
          </a:xfrm>
          <a:prstGeom prst="rect">
            <a:avLst/>
          </a:prstGeom>
        </p:spPr>
      </p:pic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FC0709E2-09B5-63E9-5807-1975489A01B9}"/>
              </a:ext>
            </a:extLst>
          </p:cNvPr>
          <p:cNvSpPr/>
          <p:nvPr/>
        </p:nvSpPr>
        <p:spPr>
          <a:xfrm>
            <a:off x="7016540" y="4437619"/>
            <a:ext cx="284763" cy="30431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07FE583E-F2E0-AF6B-4797-1938A9291D15}"/>
              </a:ext>
            </a:extLst>
          </p:cNvPr>
          <p:cNvSpPr/>
          <p:nvPr/>
        </p:nvSpPr>
        <p:spPr>
          <a:xfrm>
            <a:off x="4761565" y="4054869"/>
            <a:ext cx="288233" cy="109474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91A88218-CE8D-7445-9FFB-8202CA4BCD9C}"/>
              </a:ext>
            </a:extLst>
          </p:cNvPr>
          <p:cNvSpPr txBox="1"/>
          <p:nvPr/>
        </p:nvSpPr>
        <p:spPr>
          <a:xfrm>
            <a:off x="5108960" y="3767877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128</a:t>
            </a:r>
            <a:endParaRPr kumimoji="1" lang="ja-JP" altLang="en-US" dirty="0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17250E60-D459-3A70-0B5C-32A912EF4949}"/>
              </a:ext>
            </a:extLst>
          </p:cNvPr>
          <p:cNvSpPr txBox="1"/>
          <p:nvPr/>
        </p:nvSpPr>
        <p:spPr>
          <a:xfrm rot="5400000">
            <a:off x="5915773" y="4395563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256</a:t>
            </a:r>
            <a:endParaRPr kumimoji="1" lang="ja-JP" altLang="en-US" dirty="0"/>
          </a:p>
        </p:txBody>
      </p:sp>
      <p:sp>
        <p:nvSpPr>
          <p:cNvPr id="53" name="左大かっこ 52">
            <a:extLst>
              <a:ext uri="{FF2B5EF4-FFF2-40B4-BE49-F238E27FC236}">
                <a16:creationId xmlns:a16="http://schemas.microsoft.com/office/drawing/2014/main" id="{64364581-A566-0210-A5A7-CADDB33442B9}"/>
              </a:ext>
            </a:extLst>
          </p:cNvPr>
          <p:cNvSpPr/>
          <p:nvPr/>
        </p:nvSpPr>
        <p:spPr>
          <a:xfrm>
            <a:off x="4726189" y="4013344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左大かっこ 53">
            <a:extLst>
              <a:ext uri="{FF2B5EF4-FFF2-40B4-BE49-F238E27FC236}">
                <a16:creationId xmlns:a16="http://schemas.microsoft.com/office/drawing/2014/main" id="{BE486C3D-022B-A3C2-1AD4-298B96AF1910}"/>
              </a:ext>
            </a:extLst>
          </p:cNvPr>
          <p:cNvSpPr/>
          <p:nvPr/>
        </p:nvSpPr>
        <p:spPr>
          <a:xfrm flipH="1">
            <a:off x="5947312" y="4029301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テキスト ボックス 57">
                <a:extLst>
                  <a:ext uri="{FF2B5EF4-FFF2-40B4-BE49-F238E27FC236}">
                    <a16:creationId xmlns:a16="http://schemas.microsoft.com/office/drawing/2014/main" id="{B8705BB0-33FA-80BB-9130-7E19C378E48D}"/>
                  </a:ext>
                </a:extLst>
              </p:cNvPr>
              <p:cNvSpPr txBox="1"/>
              <p:nvPr/>
            </p:nvSpPr>
            <p:spPr>
              <a:xfrm>
                <a:off x="6417985" y="4417576"/>
                <a:ext cx="317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58" name="テキスト ボックス 57">
                <a:extLst>
                  <a:ext uri="{FF2B5EF4-FFF2-40B4-BE49-F238E27FC236}">
                    <a16:creationId xmlns:a16="http://schemas.microsoft.com/office/drawing/2014/main" id="{B8705BB0-33FA-80BB-9130-7E19C378E4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985" y="4417576"/>
                <a:ext cx="317395" cy="369332"/>
              </a:xfrm>
              <a:prstGeom prst="rect">
                <a:avLst/>
              </a:prstGeom>
              <a:blipFill>
                <a:blip r:embed="rId11"/>
                <a:stretch>
                  <a:fillRect l="-7692" r="-57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テキスト ボックス 58">
                <a:extLst>
                  <a:ext uri="{FF2B5EF4-FFF2-40B4-BE49-F238E27FC236}">
                    <a16:creationId xmlns:a16="http://schemas.microsoft.com/office/drawing/2014/main" id="{2478C27F-4457-127B-CD05-3A774D32771F}"/>
                  </a:ext>
                </a:extLst>
              </p:cNvPr>
              <p:cNvSpPr txBox="1"/>
              <p:nvPr/>
            </p:nvSpPr>
            <p:spPr>
              <a:xfrm>
                <a:off x="4257431" y="4392442"/>
                <a:ext cx="3946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e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59" name="テキスト ボックス 58">
                <a:extLst>
                  <a:ext uri="{FF2B5EF4-FFF2-40B4-BE49-F238E27FC236}">
                    <a16:creationId xmlns:a16="http://schemas.microsoft.com/office/drawing/2014/main" id="{2478C27F-4457-127B-CD05-3A774D327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7431" y="4392442"/>
                <a:ext cx="394659" cy="369332"/>
              </a:xfrm>
              <a:prstGeom prst="rect">
                <a:avLst/>
              </a:prstGeom>
              <a:blipFill>
                <a:blip r:embed="rId12"/>
                <a:stretch>
                  <a:fillRect l="-7692" t="-1667" r="-307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左大かっこ 62">
            <a:extLst>
              <a:ext uri="{FF2B5EF4-FFF2-40B4-BE49-F238E27FC236}">
                <a16:creationId xmlns:a16="http://schemas.microsoft.com/office/drawing/2014/main" id="{6C416D28-90A7-344C-1027-655C1DB8BC22}"/>
              </a:ext>
            </a:extLst>
          </p:cNvPr>
          <p:cNvSpPr/>
          <p:nvPr/>
        </p:nvSpPr>
        <p:spPr>
          <a:xfrm rot="16200000" flipH="1">
            <a:off x="7461836" y="3887739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3CA4BB99-B81F-B78D-4265-EC51435BA7C4}"/>
              </a:ext>
            </a:extLst>
          </p:cNvPr>
          <p:cNvSpPr txBox="1"/>
          <p:nvPr/>
        </p:nvSpPr>
        <p:spPr>
          <a:xfrm>
            <a:off x="6635220" y="4409071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96CEB9C4-E381-A0B5-F380-97C9F08B2940}"/>
              </a:ext>
            </a:extLst>
          </p:cNvPr>
          <p:cNvSpPr txBox="1"/>
          <p:nvPr/>
        </p:nvSpPr>
        <p:spPr>
          <a:xfrm>
            <a:off x="7258817" y="4106323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128</a:t>
            </a:r>
            <a:endParaRPr kumimoji="1" lang="ja-JP" altLang="en-US" dirty="0"/>
          </a:p>
        </p:txBody>
      </p:sp>
      <p:sp>
        <p:nvSpPr>
          <p:cNvPr id="66" name="左大かっこ 65">
            <a:extLst>
              <a:ext uri="{FF2B5EF4-FFF2-40B4-BE49-F238E27FC236}">
                <a16:creationId xmlns:a16="http://schemas.microsoft.com/office/drawing/2014/main" id="{9523E8A2-A750-9BA3-8089-5267822D3DFA}"/>
              </a:ext>
            </a:extLst>
          </p:cNvPr>
          <p:cNvSpPr/>
          <p:nvPr/>
        </p:nvSpPr>
        <p:spPr>
          <a:xfrm rot="16200000">
            <a:off x="7464847" y="4143193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7" name="図 66">
            <a:extLst>
              <a:ext uri="{FF2B5EF4-FFF2-40B4-BE49-F238E27FC236}">
                <a16:creationId xmlns:a16="http://schemas.microsoft.com/office/drawing/2014/main" id="{F9BDD389-3059-E30F-DD83-BE0A6B155453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33" t="53298" r="76230" b="28194"/>
          <a:stretch>
            <a:fillRect/>
          </a:stretch>
        </p:blipFill>
        <p:spPr>
          <a:xfrm rot="16200000">
            <a:off x="7522762" y="4490577"/>
            <a:ext cx="334981" cy="188979"/>
          </a:xfrm>
          <a:prstGeom prst="rect">
            <a:avLst/>
          </a:prstGeom>
        </p:spPr>
      </p:pic>
      <p:pic>
        <p:nvPicPr>
          <p:cNvPr id="69" name="図 68">
            <a:extLst>
              <a:ext uri="{FF2B5EF4-FFF2-40B4-BE49-F238E27FC236}">
                <a16:creationId xmlns:a16="http://schemas.microsoft.com/office/drawing/2014/main" id="{83A50004-D2B6-3FB0-A92D-2F55093CAD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68621" y="4493195"/>
            <a:ext cx="193480" cy="197928"/>
          </a:xfrm>
          <a:prstGeom prst="rect">
            <a:avLst/>
          </a:prstGeom>
        </p:spPr>
      </p:pic>
      <p:pic>
        <p:nvPicPr>
          <p:cNvPr id="70" name="図 69">
            <a:extLst>
              <a:ext uri="{FF2B5EF4-FFF2-40B4-BE49-F238E27FC236}">
                <a16:creationId xmlns:a16="http://schemas.microsoft.com/office/drawing/2014/main" id="{2191900B-2872-62EA-E649-A5E0EC5C8A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06461" y="4487008"/>
            <a:ext cx="204887" cy="209597"/>
          </a:xfrm>
          <a:prstGeom prst="rect">
            <a:avLst/>
          </a:prstGeom>
        </p:spPr>
      </p:pic>
      <p:pic>
        <p:nvPicPr>
          <p:cNvPr id="71" name="図 70">
            <a:extLst>
              <a:ext uri="{FF2B5EF4-FFF2-40B4-BE49-F238E27FC236}">
                <a16:creationId xmlns:a16="http://schemas.microsoft.com/office/drawing/2014/main" id="{E62C9A6D-1A96-C537-5CD2-9C66CDA6295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05934" y="4124039"/>
            <a:ext cx="1268782" cy="1021081"/>
          </a:xfrm>
          <a:prstGeom prst="rect">
            <a:avLst/>
          </a:prstGeom>
        </p:spPr>
      </p:pic>
      <p:sp>
        <p:nvSpPr>
          <p:cNvPr id="73" name="左大かっこ 72">
            <a:extLst>
              <a:ext uri="{FF2B5EF4-FFF2-40B4-BE49-F238E27FC236}">
                <a16:creationId xmlns:a16="http://schemas.microsoft.com/office/drawing/2014/main" id="{7E87AD66-A8FD-68B5-A83C-E8DA18A0514F}"/>
              </a:ext>
            </a:extLst>
          </p:cNvPr>
          <p:cNvSpPr/>
          <p:nvPr/>
        </p:nvSpPr>
        <p:spPr>
          <a:xfrm rot="16200000" flipH="1">
            <a:off x="3547149" y="3866924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744C7280-53CB-BB57-1BA1-E97EBD84F500}"/>
              </a:ext>
            </a:extLst>
          </p:cNvPr>
          <p:cNvSpPr txBox="1"/>
          <p:nvPr/>
        </p:nvSpPr>
        <p:spPr>
          <a:xfrm>
            <a:off x="3344130" y="408550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256</a:t>
            </a:r>
            <a:endParaRPr kumimoji="1" lang="ja-JP" altLang="en-US" dirty="0"/>
          </a:p>
        </p:txBody>
      </p:sp>
      <p:sp>
        <p:nvSpPr>
          <p:cNvPr id="75" name="左大かっこ 74">
            <a:extLst>
              <a:ext uri="{FF2B5EF4-FFF2-40B4-BE49-F238E27FC236}">
                <a16:creationId xmlns:a16="http://schemas.microsoft.com/office/drawing/2014/main" id="{4BB5895A-00BD-756C-0369-048F8AC9203D}"/>
              </a:ext>
            </a:extLst>
          </p:cNvPr>
          <p:cNvSpPr/>
          <p:nvPr/>
        </p:nvSpPr>
        <p:spPr>
          <a:xfrm rot="16200000">
            <a:off x="3550160" y="4122378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6" name="図 75">
            <a:extLst>
              <a:ext uri="{FF2B5EF4-FFF2-40B4-BE49-F238E27FC236}">
                <a16:creationId xmlns:a16="http://schemas.microsoft.com/office/drawing/2014/main" id="{B9035A8A-9392-A6DE-A11D-C19634FF09B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33" t="53298" r="76230" b="28194"/>
          <a:stretch>
            <a:fillRect/>
          </a:stretch>
        </p:blipFill>
        <p:spPr>
          <a:xfrm rot="16200000">
            <a:off x="3608075" y="4469762"/>
            <a:ext cx="334981" cy="188979"/>
          </a:xfrm>
          <a:prstGeom prst="rect">
            <a:avLst/>
          </a:prstGeom>
        </p:spPr>
      </p:pic>
      <p:pic>
        <p:nvPicPr>
          <p:cNvPr id="77" name="図 76">
            <a:extLst>
              <a:ext uri="{FF2B5EF4-FFF2-40B4-BE49-F238E27FC236}">
                <a16:creationId xmlns:a16="http://schemas.microsoft.com/office/drawing/2014/main" id="{0B6A148E-C629-866B-EFB1-92F0577029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35541" y="4470804"/>
            <a:ext cx="204887" cy="209597"/>
          </a:xfrm>
          <a:prstGeom prst="rect">
            <a:avLst/>
          </a:prstGeom>
        </p:spPr>
      </p:pic>
      <p:pic>
        <p:nvPicPr>
          <p:cNvPr id="78" name="図 77">
            <a:extLst>
              <a:ext uri="{FF2B5EF4-FFF2-40B4-BE49-F238E27FC236}">
                <a16:creationId xmlns:a16="http://schemas.microsoft.com/office/drawing/2014/main" id="{4E226FD8-C214-B40D-6918-F681D3AE537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53934" y="4472380"/>
            <a:ext cx="193480" cy="197928"/>
          </a:xfrm>
          <a:prstGeom prst="rect">
            <a:avLst/>
          </a:prstGeom>
        </p:spPr>
      </p:pic>
      <p:pic>
        <p:nvPicPr>
          <p:cNvPr id="79" name="図 78">
            <a:extLst>
              <a:ext uri="{FF2B5EF4-FFF2-40B4-BE49-F238E27FC236}">
                <a16:creationId xmlns:a16="http://schemas.microsoft.com/office/drawing/2014/main" id="{C69D65C4-EECD-B830-6BF0-A07681C5E2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91774" y="4466193"/>
            <a:ext cx="204887" cy="209597"/>
          </a:xfrm>
          <a:prstGeom prst="rect">
            <a:avLst/>
          </a:prstGeom>
        </p:spPr>
      </p:pic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5F2BD199-D7BF-2637-AC9A-A9E6707D55B9}"/>
              </a:ext>
            </a:extLst>
          </p:cNvPr>
          <p:cNvSpPr txBox="1"/>
          <p:nvPr/>
        </p:nvSpPr>
        <p:spPr>
          <a:xfrm>
            <a:off x="2736764" y="4358417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pic>
        <p:nvPicPr>
          <p:cNvPr id="95" name="図 94">
            <a:extLst>
              <a:ext uri="{FF2B5EF4-FFF2-40B4-BE49-F238E27FC236}">
                <a16:creationId xmlns:a16="http://schemas.microsoft.com/office/drawing/2014/main" id="{34A1FAB6-9526-E52F-8EE2-0D23BBF1778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65355" y="4487298"/>
            <a:ext cx="202245" cy="203825"/>
          </a:xfrm>
          <a:prstGeom prst="rect">
            <a:avLst/>
          </a:prstGeom>
        </p:spPr>
      </p:pic>
      <p:pic>
        <p:nvPicPr>
          <p:cNvPr id="96" name="図 95">
            <a:extLst>
              <a:ext uri="{FF2B5EF4-FFF2-40B4-BE49-F238E27FC236}">
                <a16:creationId xmlns:a16="http://schemas.microsoft.com/office/drawing/2014/main" id="{28C3DD02-3600-CCE3-971C-B24CB5125B6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55336" y="4487298"/>
            <a:ext cx="202245" cy="203825"/>
          </a:xfrm>
          <a:prstGeom prst="rect">
            <a:avLst/>
          </a:prstGeom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758C29F8-2B35-EA87-B7AC-283CFB9D7EB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6286" y="4489894"/>
            <a:ext cx="202245" cy="203825"/>
          </a:xfrm>
          <a:prstGeom prst="rect">
            <a:avLst/>
          </a:prstGeom>
        </p:spPr>
      </p:pic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C1D2501F-6D27-02C9-DFB8-5C6BAF8AAC49}"/>
              </a:ext>
            </a:extLst>
          </p:cNvPr>
          <p:cNvSpPr txBox="1"/>
          <p:nvPr/>
        </p:nvSpPr>
        <p:spPr>
          <a:xfrm rot="5400000">
            <a:off x="5537785" y="5941626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128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4118422D-0D0F-1FCA-5596-EB58E5852D4D}"/>
                  </a:ext>
                </a:extLst>
              </p:cNvPr>
              <p:cNvSpPr txBox="1"/>
              <p:nvPr/>
            </p:nvSpPr>
            <p:spPr>
              <a:xfrm>
                <a:off x="6439269" y="5879996"/>
                <a:ext cx="317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104" name="テキスト ボックス 103">
                <a:extLst>
                  <a:ext uri="{FF2B5EF4-FFF2-40B4-BE49-F238E27FC236}">
                    <a16:creationId xmlns:a16="http://schemas.microsoft.com/office/drawing/2014/main" id="{4118422D-0D0F-1FCA-5596-EB58E5852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9269" y="5879996"/>
                <a:ext cx="317395" cy="369332"/>
              </a:xfrm>
              <a:prstGeom prst="rect">
                <a:avLst/>
              </a:prstGeom>
              <a:blipFill>
                <a:blip r:embed="rId15"/>
                <a:stretch>
                  <a:fillRect l="-7692" r="-57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B3CC56DA-B200-118F-A57D-981F96C978DB}"/>
                  </a:ext>
                </a:extLst>
              </p:cNvPr>
              <p:cNvSpPr txBox="1"/>
              <p:nvPr/>
            </p:nvSpPr>
            <p:spPr>
              <a:xfrm>
                <a:off x="4278715" y="5854862"/>
                <a:ext cx="3946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e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B3CC56DA-B200-118F-A57D-981F96C978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8715" y="5854862"/>
                <a:ext cx="394659" cy="369332"/>
              </a:xfrm>
              <a:prstGeom prst="rect">
                <a:avLst/>
              </a:prstGeom>
              <a:blipFill>
                <a:blip r:embed="rId16"/>
                <a:stretch>
                  <a:fillRect l="-7692" r="-307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左大かっこ 126">
            <a:extLst>
              <a:ext uri="{FF2B5EF4-FFF2-40B4-BE49-F238E27FC236}">
                <a16:creationId xmlns:a16="http://schemas.microsoft.com/office/drawing/2014/main" id="{EBE02FB9-0492-BE68-8F83-D63F8C93E73C}"/>
              </a:ext>
            </a:extLst>
          </p:cNvPr>
          <p:cNvSpPr/>
          <p:nvPr/>
        </p:nvSpPr>
        <p:spPr>
          <a:xfrm rot="16200000" flipH="1">
            <a:off x="3514114" y="5311979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8" name="テキスト ボックス 127">
            <a:extLst>
              <a:ext uri="{FF2B5EF4-FFF2-40B4-BE49-F238E27FC236}">
                <a16:creationId xmlns:a16="http://schemas.microsoft.com/office/drawing/2014/main" id="{6A787D14-0A17-9E29-5F01-207B9986EB4D}"/>
              </a:ext>
            </a:extLst>
          </p:cNvPr>
          <p:cNvSpPr txBox="1"/>
          <p:nvPr/>
        </p:nvSpPr>
        <p:spPr>
          <a:xfrm>
            <a:off x="3311095" y="5530563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128</a:t>
            </a:r>
            <a:endParaRPr kumimoji="1" lang="ja-JP" altLang="en-US" dirty="0"/>
          </a:p>
        </p:txBody>
      </p:sp>
      <p:sp>
        <p:nvSpPr>
          <p:cNvPr id="129" name="左大かっこ 128">
            <a:extLst>
              <a:ext uri="{FF2B5EF4-FFF2-40B4-BE49-F238E27FC236}">
                <a16:creationId xmlns:a16="http://schemas.microsoft.com/office/drawing/2014/main" id="{415B063E-37D9-F535-D2FD-40EA1129CF0A}"/>
              </a:ext>
            </a:extLst>
          </p:cNvPr>
          <p:cNvSpPr/>
          <p:nvPr/>
        </p:nvSpPr>
        <p:spPr>
          <a:xfrm rot="16200000">
            <a:off x="3517125" y="5567433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0" name="図 129">
            <a:extLst>
              <a:ext uri="{FF2B5EF4-FFF2-40B4-BE49-F238E27FC236}">
                <a16:creationId xmlns:a16="http://schemas.microsoft.com/office/drawing/2014/main" id="{1989EA84-FDC2-3C6B-47A9-988E206B230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2633" t="53298" r="76230" b="28194"/>
          <a:stretch>
            <a:fillRect/>
          </a:stretch>
        </p:blipFill>
        <p:spPr>
          <a:xfrm rot="16200000">
            <a:off x="3575040" y="5914817"/>
            <a:ext cx="334981" cy="188979"/>
          </a:xfrm>
          <a:prstGeom prst="rect">
            <a:avLst/>
          </a:prstGeom>
        </p:spPr>
      </p:pic>
      <p:pic>
        <p:nvPicPr>
          <p:cNvPr id="131" name="図 130">
            <a:extLst>
              <a:ext uri="{FF2B5EF4-FFF2-40B4-BE49-F238E27FC236}">
                <a16:creationId xmlns:a16="http://schemas.microsoft.com/office/drawing/2014/main" id="{D2636CBD-8DD0-5CB7-BCC1-479770689B2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20899" y="5917435"/>
            <a:ext cx="193480" cy="197928"/>
          </a:xfrm>
          <a:prstGeom prst="rect">
            <a:avLst/>
          </a:prstGeom>
        </p:spPr>
      </p:pic>
      <p:pic>
        <p:nvPicPr>
          <p:cNvPr id="132" name="図 131">
            <a:extLst>
              <a:ext uri="{FF2B5EF4-FFF2-40B4-BE49-F238E27FC236}">
                <a16:creationId xmlns:a16="http://schemas.microsoft.com/office/drawing/2014/main" id="{4C354132-41AC-B683-3E9C-9072578CBF8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58739" y="5911248"/>
            <a:ext cx="204887" cy="209597"/>
          </a:xfrm>
          <a:prstGeom prst="rect">
            <a:avLst/>
          </a:prstGeom>
        </p:spPr>
      </p:pic>
      <p:pic>
        <p:nvPicPr>
          <p:cNvPr id="133" name="図 132">
            <a:extLst>
              <a:ext uri="{FF2B5EF4-FFF2-40B4-BE49-F238E27FC236}">
                <a16:creationId xmlns:a16="http://schemas.microsoft.com/office/drawing/2014/main" id="{99D2B816-B819-373C-0362-ABE6D2D2C19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17633" y="5911538"/>
            <a:ext cx="202245" cy="203825"/>
          </a:xfrm>
          <a:prstGeom prst="rect">
            <a:avLst/>
          </a:prstGeom>
        </p:spPr>
      </p:pic>
      <p:pic>
        <p:nvPicPr>
          <p:cNvPr id="134" name="図 133">
            <a:extLst>
              <a:ext uri="{FF2B5EF4-FFF2-40B4-BE49-F238E27FC236}">
                <a16:creationId xmlns:a16="http://schemas.microsoft.com/office/drawing/2014/main" id="{22FC10DF-9260-2B40-58AB-9EE5F6C0C6C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07614" y="5911538"/>
            <a:ext cx="202245" cy="203825"/>
          </a:xfrm>
          <a:prstGeom prst="rect">
            <a:avLst/>
          </a:prstGeom>
        </p:spPr>
      </p:pic>
      <p:pic>
        <p:nvPicPr>
          <p:cNvPr id="135" name="図 134">
            <a:extLst>
              <a:ext uri="{FF2B5EF4-FFF2-40B4-BE49-F238E27FC236}">
                <a16:creationId xmlns:a16="http://schemas.microsoft.com/office/drawing/2014/main" id="{CF7C9E30-4C44-B9B4-2798-7AD2067F375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58564" y="5914134"/>
            <a:ext cx="202245" cy="203825"/>
          </a:xfrm>
          <a:prstGeom prst="rect">
            <a:avLst/>
          </a:prstGeom>
        </p:spPr>
      </p:pic>
      <p:sp>
        <p:nvSpPr>
          <p:cNvPr id="136" name="テキスト ボックス 135">
            <a:extLst>
              <a:ext uri="{FF2B5EF4-FFF2-40B4-BE49-F238E27FC236}">
                <a16:creationId xmlns:a16="http://schemas.microsoft.com/office/drawing/2014/main" id="{58AD80DA-BBFB-8AE8-A432-8EA5A137E88A}"/>
              </a:ext>
            </a:extLst>
          </p:cNvPr>
          <p:cNvSpPr txBox="1"/>
          <p:nvPr/>
        </p:nvSpPr>
        <p:spPr>
          <a:xfrm>
            <a:off x="2719007" y="5823608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pic>
        <p:nvPicPr>
          <p:cNvPr id="137" name="図 136">
            <a:extLst>
              <a:ext uri="{FF2B5EF4-FFF2-40B4-BE49-F238E27FC236}">
                <a16:creationId xmlns:a16="http://schemas.microsoft.com/office/drawing/2014/main" id="{222FB0AC-6085-E7AC-A4C8-DC740B62195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25421" y="5610588"/>
            <a:ext cx="303145" cy="963773"/>
          </a:xfrm>
          <a:prstGeom prst="rect">
            <a:avLst/>
          </a:prstGeom>
        </p:spPr>
      </p:pic>
      <p:sp>
        <p:nvSpPr>
          <p:cNvPr id="138" name="左大かっこ 137">
            <a:extLst>
              <a:ext uri="{FF2B5EF4-FFF2-40B4-BE49-F238E27FC236}">
                <a16:creationId xmlns:a16="http://schemas.microsoft.com/office/drawing/2014/main" id="{6AE2D2E2-D198-5808-4524-EC5122345E69}"/>
              </a:ext>
            </a:extLst>
          </p:cNvPr>
          <p:cNvSpPr/>
          <p:nvPr/>
        </p:nvSpPr>
        <p:spPr>
          <a:xfrm flipH="1">
            <a:off x="5529023" y="5528216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9" name="左大かっこ 138">
            <a:extLst>
              <a:ext uri="{FF2B5EF4-FFF2-40B4-BE49-F238E27FC236}">
                <a16:creationId xmlns:a16="http://schemas.microsoft.com/office/drawing/2014/main" id="{B8C4E8DD-BA40-A310-11B2-D46FE41C25F9}"/>
              </a:ext>
            </a:extLst>
          </p:cNvPr>
          <p:cNvSpPr/>
          <p:nvPr/>
        </p:nvSpPr>
        <p:spPr>
          <a:xfrm>
            <a:off x="5239120" y="5528216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0" name="テキスト ボックス 139">
            <a:extLst>
              <a:ext uri="{FF2B5EF4-FFF2-40B4-BE49-F238E27FC236}">
                <a16:creationId xmlns:a16="http://schemas.microsoft.com/office/drawing/2014/main" id="{F9A1F578-1F51-C11E-8A54-5DD8D2CB4F80}"/>
              </a:ext>
            </a:extLst>
          </p:cNvPr>
          <p:cNvSpPr txBox="1"/>
          <p:nvPr/>
        </p:nvSpPr>
        <p:spPr>
          <a:xfrm>
            <a:off x="5295245" y="5239663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1</a:t>
            </a:r>
            <a:endParaRPr kumimoji="1" lang="ja-JP" altLang="en-US" dirty="0"/>
          </a:p>
        </p:txBody>
      </p:sp>
      <p:pic>
        <p:nvPicPr>
          <p:cNvPr id="141" name="図 140" descr="QR コード&#10;&#10;AI 生成コンテンツは誤りを含む可能性があります。">
            <a:extLst>
              <a:ext uri="{FF2B5EF4-FFF2-40B4-BE49-F238E27FC236}">
                <a16:creationId xmlns:a16="http://schemas.microsoft.com/office/drawing/2014/main" id="{144663B7-6D8D-8D9F-792C-5AB0A5DB2E7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30395" y="5709194"/>
            <a:ext cx="782709" cy="792680"/>
          </a:xfrm>
          <a:prstGeom prst="rect">
            <a:avLst/>
          </a:prstGeom>
        </p:spPr>
      </p:pic>
      <p:sp>
        <p:nvSpPr>
          <p:cNvPr id="142" name="テキスト ボックス 141">
            <a:extLst>
              <a:ext uri="{FF2B5EF4-FFF2-40B4-BE49-F238E27FC236}">
                <a16:creationId xmlns:a16="http://schemas.microsoft.com/office/drawing/2014/main" id="{2E998FB4-6313-9107-6C6E-DE2291555C19}"/>
              </a:ext>
            </a:extLst>
          </p:cNvPr>
          <p:cNvSpPr txBox="1"/>
          <p:nvPr/>
        </p:nvSpPr>
        <p:spPr>
          <a:xfrm>
            <a:off x="6284162" y="5673304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tanh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694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4BF66-3980-FD2D-A619-DA163A0CE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757CE236-C7AB-64BB-34F7-E88ECC517D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9072217"/>
              </p:ext>
            </p:extLst>
          </p:nvPr>
        </p:nvGraphicFramePr>
        <p:xfrm>
          <a:off x="1552512" y="119421"/>
          <a:ext cx="6443408" cy="6619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3933">
                  <a:extLst>
                    <a:ext uri="{9D8B030D-6E8A-4147-A177-3AD203B41FA5}">
                      <a16:colId xmlns:a16="http://schemas.microsoft.com/office/drawing/2014/main" val="2139760220"/>
                    </a:ext>
                  </a:extLst>
                </a:gridCol>
                <a:gridCol w="2295542">
                  <a:extLst>
                    <a:ext uri="{9D8B030D-6E8A-4147-A177-3AD203B41FA5}">
                      <a16:colId xmlns:a16="http://schemas.microsoft.com/office/drawing/2014/main" val="1907356628"/>
                    </a:ext>
                  </a:extLst>
                </a:gridCol>
                <a:gridCol w="2073933">
                  <a:extLst>
                    <a:ext uri="{9D8B030D-6E8A-4147-A177-3AD203B41FA5}">
                      <a16:colId xmlns:a16="http://schemas.microsoft.com/office/drawing/2014/main" val="2112933789"/>
                    </a:ext>
                  </a:extLst>
                </a:gridCol>
              </a:tblGrid>
              <a:tr h="73546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各層の入出力関係</a:t>
                      </a:r>
                      <a:endParaRPr kumimoji="1" lang="en-US" altLang="ja-JP" dirty="0"/>
                    </a:p>
                    <a:p>
                      <a:pPr algn="ctr"/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特徴マップの数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カーネル行列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4779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074904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6198093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Deconv2</a:t>
                      </a:r>
                      <a:endParaRPr kumimoji="1" lang="ja-JP" altLang="en-US" dirty="0"/>
                    </a:p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4747592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818027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Deconv3</a:t>
                      </a:r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558996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013931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Deconv4</a:t>
                      </a:r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713843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101809"/>
                  </a:ext>
                </a:extLst>
              </a:tr>
            </a:tbl>
          </a:graphicData>
        </a:graphic>
      </p:graphicFrame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6BF61B1E-3822-C60B-8AB4-19C55EFD43F8}"/>
              </a:ext>
            </a:extLst>
          </p:cNvPr>
          <p:cNvSpPr/>
          <p:nvPr/>
        </p:nvSpPr>
        <p:spPr>
          <a:xfrm>
            <a:off x="6499570" y="4074755"/>
            <a:ext cx="288233" cy="109474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269EF6A7-8843-6565-8293-F0503F4E48F6}"/>
              </a:ext>
            </a:extLst>
          </p:cNvPr>
          <p:cNvSpPr/>
          <p:nvPr/>
        </p:nvSpPr>
        <p:spPr>
          <a:xfrm>
            <a:off x="6934524" y="5565595"/>
            <a:ext cx="288233" cy="109474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8F3F0091-8303-FC7D-1416-4BF4C3815249}"/>
              </a:ext>
            </a:extLst>
          </p:cNvPr>
          <p:cNvSpPr/>
          <p:nvPr/>
        </p:nvSpPr>
        <p:spPr>
          <a:xfrm>
            <a:off x="6499570" y="2594555"/>
            <a:ext cx="288233" cy="109474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C42307-50B9-2B4A-8481-239F23993021}"/>
              </a:ext>
            </a:extLst>
          </p:cNvPr>
          <p:cNvSpPr/>
          <p:nvPr/>
        </p:nvSpPr>
        <p:spPr>
          <a:xfrm>
            <a:off x="6484532" y="1171682"/>
            <a:ext cx="288233" cy="109474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EE5C954-9F6F-3708-D01A-FCAE4D64FBC4}"/>
              </a:ext>
            </a:extLst>
          </p:cNvPr>
          <p:cNvSpPr/>
          <p:nvPr/>
        </p:nvSpPr>
        <p:spPr>
          <a:xfrm>
            <a:off x="4069970" y="103294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A6990A6-4F07-3F1D-EEEC-0A27FCC691CD}"/>
              </a:ext>
            </a:extLst>
          </p:cNvPr>
          <p:cNvSpPr/>
          <p:nvPr/>
        </p:nvSpPr>
        <p:spPr>
          <a:xfrm>
            <a:off x="4372312" y="103294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BB16162-6477-AF9A-D3B1-D02D9CE28850}"/>
              </a:ext>
            </a:extLst>
          </p:cNvPr>
          <p:cNvSpPr/>
          <p:nvPr/>
        </p:nvSpPr>
        <p:spPr>
          <a:xfrm>
            <a:off x="5186752" y="103294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AE7EB0D-E450-2ED2-AAC8-A712B852AD49}"/>
              </a:ext>
            </a:extLst>
          </p:cNvPr>
          <p:cNvSpPr txBox="1"/>
          <p:nvPr/>
        </p:nvSpPr>
        <p:spPr>
          <a:xfrm>
            <a:off x="4655357" y="95495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00306BF-8111-F644-B5B4-FD82E5122F50}"/>
              </a:ext>
            </a:extLst>
          </p:cNvPr>
          <p:cNvSpPr/>
          <p:nvPr/>
        </p:nvSpPr>
        <p:spPr>
          <a:xfrm>
            <a:off x="4071537" y="2171897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4226312-4975-8431-278F-F2978A0D6273}"/>
              </a:ext>
            </a:extLst>
          </p:cNvPr>
          <p:cNvSpPr/>
          <p:nvPr/>
        </p:nvSpPr>
        <p:spPr>
          <a:xfrm>
            <a:off x="4560213" y="2170496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E2E2647-10BD-8531-1CC7-CED193849EF1}"/>
              </a:ext>
            </a:extLst>
          </p:cNvPr>
          <p:cNvSpPr/>
          <p:nvPr/>
        </p:nvSpPr>
        <p:spPr>
          <a:xfrm>
            <a:off x="5312371" y="2177503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46C87DA-AF34-3DEA-03A6-3DF34FF41848}"/>
              </a:ext>
            </a:extLst>
          </p:cNvPr>
          <p:cNvSpPr txBox="1"/>
          <p:nvPr/>
        </p:nvSpPr>
        <p:spPr>
          <a:xfrm>
            <a:off x="4880889" y="210796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1F04AD3-AF7B-D0C1-F75D-2B20B9EAB912}"/>
              </a:ext>
            </a:extLst>
          </p:cNvPr>
          <p:cNvSpPr txBox="1"/>
          <p:nvPr/>
        </p:nvSpPr>
        <p:spPr>
          <a:xfrm>
            <a:off x="4430368" y="131311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sp>
        <p:nvSpPr>
          <p:cNvPr id="28" name="左中かっこ 27">
            <a:extLst>
              <a:ext uri="{FF2B5EF4-FFF2-40B4-BE49-F238E27FC236}">
                <a16:creationId xmlns:a16="http://schemas.microsoft.com/office/drawing/2014/main" id="{BFA0509C-E39D-AFB4-3BE5-27D596A8B556}"/>
              </a:ext>
            </a:extLst>
          </p:cNvPr>
          <p:cNvSpPr/>
          <p:nvPr/>
        </p:nvSpPr>
        <p:spPr>
          <a:xfrm rot="16200000">
            <a:off x="4649610" y="746367"/>
            <a:ext cx="130905" cy="1115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1E01C21-1EE4-63BF-9F81-1DF29CE8CA7D}"/>
              </a:ext>
            </a:extLst>
          </p:cNvPr>
          <p:cNvSpPr txBox="1"/>
          <p:nvPr/>
        </p:nvSpPr>
        <p:spPr>
          <a:xfrm>
            <a:off x="4525711" y="271679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5" name="左中かっこ 4">
            <a:extLst>
              <a:ext uri="{FF2B5EF4-FFF2-40B4-BE49-F238E27FC236}">
                <a16:creationId xmlns:a16="http://schemas.microsoft.com/office/drawing/2014/main" id="{092155B4-D57F-D5C1-F30C-ED01B8EBCAEC}"/>
              </a:ext>
            </a:extLst>
          </p:cNvPr>
          <p:cNvSpPr/>
          <p:nvPr/>
        </p:nvSpPr>
        <p:spPr>
          <a:xfrm rot="16200000">
            <a:off x="4704056" y="2015970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37E93A4-0D67-821A-ED6C-6383C63C3645}"/>
              </a:ext>
            </a:extLst>
          </p:cNvPr>
          <p:cNvSpPr/>
          <p:nvPr/>
        </p:nvSpPr>
        <p:spPr>
          <a:xfrm>
            <a:off x="3952154" y="3615828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4829A48-3B51-ED99-1CFC-83D4CA942FEA}"/>
              </a:ext>
            </a:extLst>
          </p:cNvPr>
          <p:cNvSpPr/>
          <p:nvPr/>
        </p:nvSpPr>
        <p:spPr>
          <a:xfrm>
            <a:off x="4486581" y="3615828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1F2035E-720B-EAB2-EBF4-FA41F816EEFD}"/>
              </a:ext>
            </a:extLst>
          </p:cNvPr>
          <p:cNvSpPr/>
          <p:nvPr/>
        </p:nvSpPr>
        <p:spPr>
          <a:xfrm>
            <a:off x="5240371" y="3615828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1206E61-6B6B-249F-5668-07217A08D6C8}"/>
              </a:ext>
            </a:extLst>
          </p:cNvPr>
          <p:cNvSpPr txBox="1"/>
          <p:nvPr/>
        </p:nvSpPr>
        <p:spPr>
          <a:xfrm>
            <a:off x="4818015" y="359907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ADB8D69-F893-FCFA-68BF-C1192CEEAA03}"/>
              </a:ext>
            </a:extLst>
          </p:cNvPr>
          <p:cNvSpPr txBox="1"/>
          <p:nvPr/>
        </p:nvSpPr>
        <p:spPr>
          <a:xfrm>
            <a:off x="4462837" y="420790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256</a:t>
            </a:r>
            <a:endParaRPr kumimoji="1" lang="ja-JP" altLang="en-US" dirty="0"/>
          </a:p>
        </p:txBody>
      </p:sp>
      <p:sp>
        <p:nvSpPr>
          <p:cNvPr id="12" name="左中かっこ 11">
            <a:extLst>
              <a:ext uri="{FF2B5EF4-FFF2-40B4-BE49-F238E27FC236}">
                <a16:creationId xmlns:a16="http://schemas.microsoft.com/office/drawing/2014/main" id="{7C7A6422-5D6E-A420-23E7-6989EBF9FB0A}"/>
              </a:ext>
            </a:extLst>
          </p:cNvPr>
          <p:cNvSpPr/>
          <p:nvPr/>
        </p:nvSpPr>
        <p:spPr>
          <a:xfrm rot="16200000">
            <a:off x="4641182" y="3507078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A6EB7C-A17F-B9A6-B353-4EA44E8F1A5E}"/>
              </a:ext>
            </a:extLst>
          </p:cNvPr>
          <p:cNvSpPr/>
          <p:nvPr/>
        </p:nvSpPr>
        <p:spPr>
          <a:xfrm>
            <a:off x="3971000" y="4980858"/>
            <a:ext cx="396000" cy="39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7DE7ADE3-CC56-F48D-5079-61A85D473D7D}"/>
              </a:ext>
            </a:extLst>
          </p:cNvPr>
          <p:cNvSpPr/>
          <p:nvPr/>
        </p:nvSpPr>
        <p:spPr>
          <a:xfrm>
            <a:off x="5155614" y="4980858"/>
            <a:ext cx="396000" cy="39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DEB530B-B9A8-9207-302E-D0CCA893112B}"/>
              </a:ext>
            </a:extLst>
          </p:cNvPr>
          <p:cNvSpPr txBox="1"/>
          <p:nvPr/>
        </p:nvSpPr>
        <p:spPr>
          <a:xfrm>
            <a:off x="4580704" y="498085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008CCD7-FA82-D9C7-ECD8-BF68C63689C6}"/>
              </a:ext>
            </a:extLst>
          </p:cNvPr>
          <p:cNvSpPr txBox="1"/>
          <p:nvPr/>
        </p:nvSpPr>
        <p:spPr>
          <a:xfrm>
            <a:off x="4482511" y="562298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128</a:t>
            </a:r>
            <a:endParaRPr kumimoji="1" lang="ja-JP" altLang="en-US" dirty="0"/>
          </a:p>
        </p:txBody>
      </p:sp>
      <p:sp>
        <p:nvSpPr>
          <p:cNvPr id="34" name="左中かっこ 33">
            <a:extLst>
              <a:ext uri="{FF2B5EF4-FFF2-40B4-BE49-F238E27FC236}">
                <a16:creationId xmlns:a16="http://schemas.microsoft.com/office/drawing/2014/main" id="{9C9F72E0-4635-FF1E-B3A3-98D56760F5B3}"/>
              </a:ext>
            </a:extLst>
          </p:cNvPr>
          <p:cNvSpPr/>
          <p:nvPr/>
        </p:nvSpPr>
        <p:spPr>
          <a:xfrm rot="16200000">
            <a:off x="4660856" y="4922158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1B6D04D2-B503-33D4-FD1C-16F49ADE420A}"/>
              </a:ext>
            </a:extLst>
          </p:cNvPr>
          <p:cNvSpPr/>
          <p:nvPr/>
        </p:nvSpPr>
        <p:spPr>
          <a:xfrm>
            <a:off x="4476938" y="6161604"/>
            <a:ext cx="468000" cy="4680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B0AF915-ADEE-81F6-EA77-980370476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872" y="1245347"/>
            <a:ext cx="1268782" cy="102108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A248682-D321-FC3D-6E67-2CE15073FADB}"/>
              </a:ext>
            </a:extLst>
          </p:cNvPr>
          <p:cNvSpPr txBox="1"/>
          <p:nvPr/>
        </p:nvSpPr>
        <p:spPr>
          <a:xfrm>
            <a:off x="6784919" y="90835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8474324-34DB-4146-3B2A-8E43C0BD1EAA}"/>
              </a:ext>
            </a:extLst>
          </p:cNvPr>
          <p:cNvSpPr txBox="1"/>
          <p:nvPr/>
        </p:nvSpPr>
        <p:spPr>
          <a:xfrm rot="16200000">
            <a:off x="6042513" y="147920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1FBCE2F7-44EF-5AFA-5059-1DE40B4731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9137" y="2690594"/>
            <a:ext cx="1268782" cy="1021080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D20B6DAE-C930-2CF6-8C41-59C29388C376}"/>
              </a:ext>
            </a:extLst>
          </p:cNvPr>
          <p:cNvSpPr txBox="1"/>
          <p:nvPr/>
        </p:nvSpPr>
        <p:spPr>
          <a:xfrm>
            <a:off x="6839168" y="2355293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256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1370BAB-AF4A-8A70-28FB-3886F664E829}"/>
              </a:ext>
            </a:extLst>
          </p:cNvPr>
          <p:cNvSpPr txBox="1"/>
          <p:nvPr/>
        </p:nvSpPr>
        <p:spPr>
          <a:xfrm rot="16200000">
            <a:off x="6059778" y="2922993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512</a:t>
            </a:r>
            <a:endParaRPr kumimoji="1" lang="ja-JP" altLang="en-US" dirty="0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6A55D06B-8BD2-4AC7-9419-E6FDD69C5C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9137" y="4159435"/>
            <a:ext cx="1268782" cy="1021081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EFB802CC-C294-F655-0FCE-C55FCC0342C7}"/>
              </a:ext>
            </a:extLst>
          </p:cNvPr>
          <p:cNvSpPr txBox="1"/>
          <p:nvPr/>
        </p:nvSpPr>
        <p:spPr>
          <a:xfrm>
            <a:off x="6823160" y="382758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128</a:t>
            </a:r>
            <a:endParaRPr kumimoji="1" lang="ja-JP" altLang="en-US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03AE1F6-7006-7F62-94D6-C81211C48B4A}"/>
              </a:ext>
            </a:extLst>
          </p:cNvPr>
          <p:cNvSpPr txBox="1"/>
          <p:nvPr/>
        </p:nvSpPr>
        <p:spPr>
          <a:xfrm rot="16200000">
            <a:off x="6084936" y="441791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256</a:t>
            </a:r>
            <a:endParaRPr kumimoji="1" lang="ja-JP" altLang="en-US" dirty="0"/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88EC3165-E823-A209-EC9E-68EAA79EC9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6920" y="5642387"/>
            <a:ext cx="303145" cy="963773"/>
          </a:xfrm>
          <a:prstGeom prst="rect">
            <a:avLst/>
          </a:prstGeom>
        </p:spPr>
      </p:pic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6D1F16B-CE5C-257A-DC77-23066210AB3E}"/>
              </a:ext>
            </a:extLst>
          </p:cNvPr>
          <p:cNvSpPr txBox="1"/>
          <p:nvPr/>
        </p:nvSpPr>
        <p:spPr>
          <a:xfrm rot="16200000">
            <a:off x="6411844" y="588376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128</a:t>
            </a:r>
            <a:endParaRPr kumimoji="1" lang="ja-JP" altLang="en-US" dirty="0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4BAF5CAC-611A-A716-145E-68DC17838EBE}"/>
              </a:ext>
            </a:extLst>
          </p:cNvPr>
          <p:cNvSpPr txBox="1"/>
          <p:nvPr/>
        </p:nvSpPr>
        <p:spPr>
          <a:xfrm>
            <a:off x="6903039" y="529140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</a:t>
            </a:r>
            <a:endParaRPr kumimoji="1" lang="ja-JP" altLang="en-US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702B0FCB-A2BA-A12B-DAA2-8A686DC1C0AF}"/>
              </a:ext>
            </a:extLst>
          </p:cNvPr>
          <p:cNvCxnSpPr/>
          <p:nvPr/>
        </p:nvCxnSpPr>
        <p:spPr>
          <a:xfrm>
            <a:off x="5624659" y="1093024"/>
            <a:ext cx="657926" cy="184666"/>
          </a:xfrm>
          <a:prstGeom prst="straightConnector1">
            <a:avLst/>
          </a:prstGeom>
          <a:ln>
            <a:solidFill>
              <a:schemeClr val="accent2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B9C7D917-76DE-1159-6D20-CB799AC6D202}"/>
              </a:ext>
            </a:extLst>
          </p:cNvPr>
          <p:cNvCxnSpPr>
            <a:cxnSpLocks/>
          </p:cNvCxnSpPr>
          <p:nvPr/>
        </p:nvCxnSpPr>
        <p:spPr>
          <a:xfrm flipH="1">
            <a:off x="5624659" y="1973182"/>
            <a:ext cx="874911" cy="161560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F2F928C3-0312-289D-F32B-47C78C249718}"/>
              </a:ext>
            </a:extLst>
          </p:cNvPr>
          <p:cNvSpPr txBox="1"/>
          <p:nvPr/>
        </p:nvSpPr>
        <p:spPr>
          <a:xfrm>
            <a:off x="5651974" y="8323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行列積</a:t>
            </a: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2ED62FB3-0882-6955-9B16-E7FFC7808713}"/>
              </a:ext>
            </a:extLst>
          </p:cNvPr>
          <p:cNvCxnSpPr/>
          <p:nvPr/>
        </p:nvCxnSpPr>
        <p:spPr>
          <a:xfrm>
            <a:off x="5711703" y="2431761"/>
            <a:ext cx="657926" cy="184666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7C340E27-8556-B7FB-242E-30A1950204EA}"/>
              </a:ext>
            </a:extLst>
          </p:cNvPr>
          <p:cNvCxnSpPr>
            <a:cxnSpLocks/>
          </p:cNvCxnSpPr>
          <p:nvPr/>
        </p:nvCxnSpPr>
        <p:spPr>
          <a:xfrm flipH="1">
            <a:off x="5690740" y="3349426"/>
            <a:ext cx="838396" cy="225833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F903EE03-9F5B-D174-4FBD-7E3EB69C2CDC}"/>
              </a:ext>
            </a:extLst>
          </p:cNvPr>
          <p:cNvCxnSpPr/>
          <p:nvPr/>
        </p:nvCxnSpPr>
        <p:spPr>
          <a:xfrm>
            <a:off x="5711703" y="3914718"/>
            <a:ext cx="657926" cy="184666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>
            <a:extLst>
              <a:ext uri="{FF2B5EF4-FFF2-40B4-BE49-F238E27FC236}">
                <a16:creationId xmlns:a16="http://schemas.microsoft.com/office/drawing/2014/main" id="{E546F4EC-E7CA-E607-85A1-87EE6F77E140}"/>
              </a:ext>
            </a:extLst>
          </p:cNvPr>
          <p:cNvCxnSpPr>
            <a:cxnSpLocks/>
          </p:cNvCxnSpPr>
          <p:nvPr/>
        </p:nvCxnSpPr>
        <p:spPr>
          <a:xfrm flipH="1">
            <a:off x="5607710" y="4835954"/>
            <a:ext cx="842593" cy="218039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EE0B45BE-787B-0E49-5C2C-41DD8A5F4B78}"/>
              </a:ext>
            </a:extLst>
          </p:cNvPr>
          <p:cNvCxnSpPr>
            <a:cxnSpLocks/>
          </p:cNvCxnSpPr>
          <p:nvPr/>
        </p:nvCxnSpPr>
        <p:spPr>
          <a:xfrm>
            <a:off x="5668586" y="5197677"/>
            <a:ext cx="1265938" cy="378583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4336A3BC-8968-E870-C03C-78D3E0663B48}"/>
              </a:ext>
            </a:extLst>
          </p:cNvPr>
          <p:cNvCxnSpPr>
            <a:cxnSpLocks/>
          </p:cNvCxnSpPr>
          <p:nvPr/>
        </p:nvCxnSpPr>
        <p:spPr>
          <a:xfrm flipH="1">
            <a:off x="4984106" y="6205806"/>
            <a:ext cx="1884701" cy="150414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32958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45BB1-7B85-993F-ABE3-139627E68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56BD6C19-888C-C1C2-3BFE-2E5E491806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228749"/>
              </p:ext>
            </p:extLst>
          </p:nvPr>
        </p:nvGraphicFramePr>
        <p:xfrm>
          <a:off x="1582992" y="119421"/>
          <a:ext cx="8373810" cy="6619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7278">
                  <a:extLst>
                    <a:ext uri="{9D8B030D-6E8A-4147-A177-3AD203B41FA5}">
                      <a16:colId xmlns:a16="http://schemas.microsoft.com/office/drawing/2014/main" val="2139760220"/>
                    </a:ext>
                  </a:extLst>
                </a:gridCol>
                <a:gridCol w="2199626">
                  <a:extLst>
                    <a:ext uri="{9D8B030D-6E8A-4147-A177-3AD203B41FA5}">
                      <a16:colId xmlns:a16="http://schemas.microsoft.com/office/drawing/2014/main" val="1907356628"/>
                    </a:ext>
                  </a:extLst>
                </a:gridCol>
                <a:gridCol w="1748505">
                  <a:extLst>
                    <a:ext uri="{9D8B030D-6E8A-4147-A177-3AD203B41FA5}">
                      <a16:colId xmlns:a16="http://schemas.microsoft.com/office/drawing/2014/main" val="1354571587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112933789"/>
                    </a:ext>
                  </a:extLst>
                </a:gridCol>
              </a:tblGrid>
              <a:tr h="73546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各層の入出力関係</a:t>
                      </a:r>
                      <a:endParaRPr kumimoji="1" lang="en-US" altLang="ja-JP" dirty="0"/>
                    </a:p>
                    <a:p>
                      <a:pPr algn="ctr"/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特徴マップの数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入出力関係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カーネル行列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4779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Input1[100]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BE3D6">
                        <a:alpha val="50196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074904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output1[512]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2CFEE">
                        <a:alpha val="50196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6198093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Deconv2</a:t>
                      </a:r>
                      <a:endParaRPr kumimoji="1" lang="ja-JP" altLang="en-US" dirty="0"/>
                    </a:p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input2[512]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2CFEE">
                        <a:alpha val="50196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4747592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output2[256]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818027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Deconv3</a:t>
                      </a:r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input3[256]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558996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output3[128]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013931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Deconv4</a:t>
                      </a:r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input4[128]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713843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output4[1]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FFF00">
                        <a:alpha val="2902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101809"/>
                  </a:ext>
                </a:extLst>
              </a:tr>
            </a:tbl>
          </a:graphicData>
        </a:graphic>
      </p:graphicFrame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30FEB44E-6609-6EA2-38E1-CA6782E24857}"/>
              </a:ext>
            </a:extLst>
          </p:cNvPr>
          <p:cNvSpPr/>
          <p:nvPr/>
        </p:nvSpPr>
        <p:spPr>
          <a:xfrm>
            <a:off x="8267109" y="4044019"/>
            <a:ext cx="288233" cy="109474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9843F05F-26DF-CAAC-5CCE-6E776D41D17F}"/>
              </a:ext>
            </a:extLst>
          </p:cNvPr>
          <p:cNvSpPr/>
          <p:nvPr/>
        </p:nvSpPr>
        <p:spPr>
          <a:xfrm>
            <a:off x="8702063" y="5534859"/>
            <a:ext cx="288233" cy="109474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BAA3B39C-A417-2706-F3AB-891F03AE4153}"/>
              </a:ext>
            </a:extLst>
          </p:cNvPr>
          <p:cNvSpPr/>
          <p:nvPr/>
        </p:nvSpPr>
        <p:spPr>
          <a:xfrm>
            <a:off x="8267109" y="2563819"/>
            <a:ext cx="288233" cy="109474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C18BF328-1140-346A-1FA7-320EC03A9626}"/>
              </a:ext>
            </a:extLst>
          </p:cNvPr>
          <p:cNvSpPr/>
          <p:nvPr/>
        </p:nvSpPr>
        <p:spPr>
          <a:xfrm>
            <a:off x="8252071" y="1140946"/>
            <a:ext cx="288233" cy="109474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DB8335D-24D9-4E7B-3EB9-08DA1D00C09E}"/>
              </a:ext>
            </a:extLst>
          </p:cNvPr>
          <p:cNvSpPr/>
          <p:nvPr/>
        </p:nvSpPr>
        <p:spPr>
          <a:xfrm>
            <a:off x="4069970" y="103294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5684CF-65D7-CD54-E283-77CCF605AD8B}"/>
              </a:ext>
            </a:extLst>
          </p:cNvPr>
          <p:cNvSpPr/>
          <p:nvPr/>
        </p:nvSpPr>
        <p:spPr>
          <a:xfrm>
            <a:off x="4372312" y="103294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B3F4CED-0D49-F957-8A0D-2EBAD476B770}"/>
              </a:ext>
            </a:extLst>
          </p:cNvPr>
          <p:cNvSpPr/>
          <p:nvPr/>
        </p:nvSpPr>
        <p:spPr>
          <a:xfrm>
            <a:off x="5186752" y="103294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C10D46B-FA73-6ED5-E495-D128971D3534}"/>
              </a:ext>
            </a:extLst>
          </p:cNvPr>
          <p:cNvSpPr txBox="1"/>
          <p:nvPr/>
        </p:nvSpPr>
        <p:spPr>
          <a:xfrm>
            <a:off x="4655357" y="95495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7B792DE-8869-DE45-99F2-2CA9D6FE579B}"/>
              </a:ext>
            </a:extLst>
          </p:cNvPr>
          <p:cNvSpPr/>
          <p:nvPr/>
        </p:nvSpPr>
        <p:spPr>
          <a:xfrm>
            <a:off x="4071537" y="2171897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C2929E7D-5E4E-0F9D-7A52-8510662DC8CF}"/>
              </a:ext>
            </a:extLst>
          </p:cNvPr>
          <p:cNvSpPr/>
          <p:nvPr/>
        </p:nvSpPr>
        <p:spPr>
          <a:xfrm>
            <a:off x="4560213" y="2170496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C98EFB5-281A-7C00-CD5A-18E58825D3C4}"/>
              </a:ext>
            </a:extLst>
          </p:cNvPr>
          <p:cNvSpPr/>
          <p:nvPr/>
        </p:nvSpPr>
        <p:spPr>
          <a:xfrm>
            <a:off x="5312371" y="2177503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88B4039-98B6-37A0-D36F-535B0C72B277}"/>
              </a:ext>
            </a:extLst>
          </p:cNvPr>
          <p:cNvSpPr txBox="1"/>
          <p:nvPr/>
        </p:nvSpPr>
        <p:spPr>
          <a:xfrm>
            <a:off x="4880889" y="210796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8C73825-2E2F-7DF7-68F3-E3EFF1EF0331}"/>
              </a:ext>
            </a:extLst>
          </p:cNvPr>
          <p:cNvSpPr txBox="1"/>
          <p:nvPr/>
        </p:nvSpPr>
        <p:spPr>
          <a:xfrm>
            <a:off x="4430368" y="131311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sp>
        <p:nvSpPr>
          <p:cNvPr id="28" name="左中かっこ 27">
            <a:extLst>
              <a:ext uri="{FF2B5EF4-FFF2-40B4-BE49-F238E27FC236}">
                <a16:creationId xmlns:a16="http://schemas.microsoft.com/office/drawing/2014/main" id="{A4E9FFE0-43BE-1FAA-7A88-34793F0E1B48}"/>
              </a:ext>
            </a:extLst>
          </p:cNvPr>
          <p:cNvSpPr/>
          <p:nvPr/>
        </p:nvSpPr>
        <p:spPr>
          <a:xfrm rot="16200000">
            <a:off x="4649610" y="746367"/>
            <a:ext cx="130905" cy="1115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5238878-F0BB-10A9-857E-01AFED9D9ED3}"/>
              </a:ext>
            </a:extLst>
          </p:cNvPr>
          <p:cNvSpPr txBox="1"/>
          <p:nvPr/>
        </p:nvSpPr>
        <p:spPr>
          <a:xfrm>
            <a:off x="4525711" y="271679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5" name="左中かっこ 4">
            <a:extLst>
              <a:ext uri="{FF2B5EF4-FFF2-40B4-BE49-F238E27FC236}">
                <a16:creationId xmlns:a16="http://schemas.microsoft.com/office/drawing/2014/main" id="{F0829EE2-86D6-12A6-18D7-06A2D9E57542}"/>
              </a:ext>
            </a:extLst>
          </p:cNvPr>
          <p:cNvSpPr/>
          <p:nvPr/>
        </p:nvSpPr>
        <p:spPr>
          <a:xfrm rot="16200000">
            <a:off x="4704056" y="2015970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9C59BC-7169-79A4-46B7-74153B1C5640}"/>
              </a:ext>
            </a:extLst>
          </p:cNvPr>
          <p:cNvSpPr/>
          <p:nvPr/>
        </p:nvSpPr>
        <p:spPr>
          <a:xfrm>
            <a:off x="3952154" y="3615828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F472A91-E52C-B2C6-9B8D-A656543DB6D4}"/>
              </a:ext>
            </a:extLst>
          </p:cNvPr>
          <p:cNvSpPr/>
          <p:nvPr/>
        </p:nvSpPr>
        <p:spPr>
          <a:xfrm>
            <a:off x="4486581" y="3615828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BE2072-8495-7A9E-8D52-419DC10811B8}"/>
              </a:ext>
            </a:extLst>
          </p:cNvPr>
          <p:cNvSpPr/>
          <p:nvPr/>
        </p:nvSpPr>
        <p:spPr>
          <a:xfrm>
            <a:off x="5240371" y="3615828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5E6213B-FE94-14B1-F87B-13BA3B7914C9}"/>
              </a:ext>
            </a:extLst>
          </p:cNvPr>
          <p:cNvSpPr txBox="1"/>
          <p:nvPr/>
        </p:nvSpPr>
        <p:spPr>
          <a:xfrm>
            <a:off x="4818015" y="359907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13B5C87-C767-FD1C-2D14-7F41F331AA1C}"/>
              </a:ext>
            </a:extLst>
          </p:cNvPr>
          <p:cNvSpPr txBox="1"/>
          <p:nvPr/>
        </p:nvSpPr>
        <p:spPr>
          <a:xfrm>
            <a:off x="4462837" y="420790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256</a:t>
            </a:r>
            <a:endParaRPr kumimoji="1" lang="ja-JP" altLang="en-US" dirty="0"/>
          </a:p>
        </p:txBody>
      </p:sp>
      <p:sp>
        <p:nvSpPr>
          <p:cNvPr id="12" name="左中かっこ 11">
            <a:extLst>
              <a:ext uri="{FF2B5EF4-FFF2-40B4-BE49-F238E27FC236}">
                <a16:creationId xmlns:a16="http://schemas.microsoft.com/office/drawing/2014/main" id="{8EAAFE06-DB79-084A-79A1-2F810DE16BDC}"/>
              </a:ext>
            </a:extLst>
          </p:cNvPr>
          <p:cNvSpPr/>
          <p:nvPr/>
        </p:nvSpPr>
        <p:spPr>
          <a:xfrm rot="16200000">
            <a:off x="4641182" y="3507078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EA6FD897-22A0-3C0E-2A3E-2AEBB8886A17}"/>
              </a:ext>
            </a:extLst>
          </p:cNvPr>
          <p:cNvSpPr/>
          <p:nvPr/>
        </p:nvSpPr>
        <p:spPr>
          <a:xfrm>
            <a:off x="3971000" y="4980858"/>
            <a:ext cx="396000" cy="39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80937762-079F-893B-7494-4B84F4F49B15}"/>
              </a:ext>
            </a:extLst>
          </p:cNvPr>
          <p:cNvSpPr/>
          <p:nvPr/>
        </p:nvSpPr>
        <p:spPr>
          <a:xfrm>
            <a:off x="5155614" y="4980858"/>
            <a:ext cx="396000" cy="39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0A21212B-6234-A9E3-C49F-21575CB272BC}"/>
              </a:ext>
            </a:extLst>
          </p:cNvPr>
          <p:cNvSpPr txBox="1"/>
          <p:nvPr/>
        </p:nvSpPr>
        <p:spPr>
          <a:xfrm>
            <a:off x="4580704" y="498085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9BCDBEF-2C48-6D31-A4A5-7E104D7C5472}"/>
              </a:ext>
            </a:extLst>
          </p:cNvPr>
          <p:cNvSpPr txBox="1"/>
          <p:nvPr/>
        </p:nvSpPr>
        <p:spPr>
          <a:xfrm>
            <a:off x="4482511" y="562298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128</a:t>
            </a:r>
            <a:endParaRPr kumimoji="1" lang="ja-JP" altLang="en-US" dirty="0"/>
          </a:p>
        </p:txBody>
      </p:sp>
      <p:sp>
        <p:nvSpPr>
          <p:cNvPr id="34" name="左中かっこ 33">
            <a:extLst>
              <a:ext uri="{FF2B5EF4-FFF2-40B4-BE49-F238E27FC236}">
                <a16:creationId xmlns:a16="http://schemas.microsoft.com/office/drawing/2014/main" id="{973A84F3-5D0B-BA4D-4980-01D14815D212}"/>
              </a:ext>
            </a:extLst>
          </p:cNvPr>
          <p:cNvSpPr/>
          <p:nvPr/>
        </p:nvSpPr>
        <p:spPr>
          <a:xfrm rot="16200000">
            <a:off x="4660856" y="4922158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D5F63456-BC45-3E1C-E5E1-243ED8A06F50}"/>
              </a:ext>
            </a:extLst>
          </p:cNvPr>
          <p:cNvSpPr/>
          <p:nvPr/>
        </p:nvSpPr>
        <p:spPr>
          <a:xfrm>
            <a:off x="4476938" y="6161604"/>
            <a:ext cx="468000" cy="4680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1D9DB7C3-21D3-023A-E0DB-E7B992FCC3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9411" y="1214611"/>
            <a:ext cx="1268782" cy="102108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0B62AC5-54AE-BB55-DAA5-47481E885996}"/>
              </a:ext>
            </a:extLst>
          </p:cNvPr>
          <p:cNvSpPr txBox="1"/>
          <p:nvPr/>
        </p:nvSpPr>
        <p:spPr>
          <a:xfrm>
            <a:off x="8552458" y="87762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AC7E1A9-BA8E-3E2F-39B2-FD14BD350CE0}"/>
              </a:ext>
            </a:extLst>
          </p:cNvPr>
          <p:cNvSpPr txBox="1"/>
          <p:nvPr/>
        </p:nvSpPr>
        <p:spPr>
          <a:xfrm rot="16200000">
            <a:off x="7810052" y="1448473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1F86B496-F770-C290-8456-59C4CC4D48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6676" y="2659858"/>
            <a:ext cx="1268782" cy="1021080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86A9A13-867B-3C94-8432-5A56CA5ADB12}"/>
              </a:ext>
            </a:extLst>
          </p:cNvPr>
          <p:cNvSpPr txBox="1"/>
          <p:nvPr/>
        </p:nvSpPr>
        <p:spPr>
          <a:xfrm>
            <a:off x="8606707" y="232455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256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C3B196C-6138-C412-8F8A-AA7936B7A648}"/>
              </a:ext>
            </a:extLst>
          </p:cNvPr>
          <p:cNvSpPr txBox="1"/>
          <p:nvPr/>
        </p:nvSpPr>
        <p:spPr>
          <a:xfrm rot="16200000">
            <a:off x="7827317" y="289225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512</a:t>
            </a:r>
            <a:endParaRPr kumimoji="1" lang="ja-JP" altLang="en-US" dirty="0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F2BA9E69-3AB5-C3B7-F536-E22447B8A7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6676" y="4128699"/>
            <a:ext cx="1268782" cy="1021081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081BDDC2-A7EA-E0D6-B524-C236AC36A322}"/>
              </a:ext>
            </a:extLst>
          </p:cNvPr>
          <p:cNvSpPr txBox="1"/>
          <p:nvPr/>
        </p:nvSpPr>
        <p:spPr>
          <a:xfrm>
            <a:off x="8590699" y="379684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128</a:t>
            </a:r>
            <a:endParaRPr kumimoji="1" lang="ja-JP" altLang="en-US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80283C90-EC75-071F-3C20-8CA67A80FC1C}"/>
              </a:ext>
            </a:extLst>
          </p:cNvPr>
          <p:cNvSpPr txBox="1"/>
          <p:nvPr/>
        </p:nvSpPr>
        <p:spPr>
          <a:xfrm rot="16200000">
            <a:off x="7852475" y="438717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256</a:t>
            </a:r>
            <a:endParaRPr kumimoji="1" lang="ja-JP" altLang="en-US" dirty="0"/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76D13CC9-6F64-434B-2487-F3BB2A9A49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14459" y="5611651"/>
            <a:ext cx="303145" cy="963773"/>
          </a:xfrm>
          <a:prstGeom prst="rect">
            <a:avLst/>
          </a:prstGeom>
        </p:spPr>
      </p:pic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F574F5B-3C09-C7A7-19FF-08D5A72C4236}"/>
              </a:ext>
            </a:extLst>
          </p:cNvPr>
          <p:cNvSpPr txBox="1"/>
          <p:nvPr/>
        </p:nvSpPr>
        <p:spPr>
          <a:xfrm rot="16200000">
            <a:off x="8179383" y="585302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128</a:t>
            </a:r>
            <a:endParaRPr kumimoji="1" lang="ja-JP" altLang="en-US" dirty="0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E75B926B-1D59-09DD-5AC7-F6173AE5F8B8}"/>
              </a:ext>
            </a:extLst>
          </p:cNvPr>
          <p:cNvSpPr txBox="1"/>
          <p:nvPr/>
        </p:nvSpPr>
        <p:spPr>
          <a:xfrm>
            <a:off x="8670578" y="5260671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</a:t>
            </a:r>
            <a:endParaRPr kumimoji="1" lang="ja-JP" altLang="en-US" dirty="0"/>
          </a:p>
        </p:txBody>
      </p:sp>
      <p:sp>
        <p:nvSpPr>
          <p:cNvPr id="54" name="円弧 53">
            <a:extLst>
              <a:ext uri="{FF2B5EF4-FFF2-40B4-BE49-F238E27FC236}">
                <a16:creationId xmlns:a16="http://schemas.microsoft.com/office/drawing/2014/main" id="{A958D445-D366-648F-98BF-E6A54EC0AD18}"/>
              </a:ext>
            </a:extLst>
          </p:cNvPr>
          <p:cNvSpPr/>
          <p:nvPr/>
        </p:nvSpPr>
        <p:spPr>
          <a:xfrm rot="287280">
            <a:off x="7386837" y="1140946"/>
            <a:ext cx="759319" cy="228613"/>
          </a:xfrm>
          <a:prstGeom prst="arc">
            <a:avLst>
              <a:gd name="adj1" fmla="val 11031994"/>
              <a:gd name="adj2" fmla="val 0"/>
            </a:avLst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円弧 55">
            <a:extLst>
              <a:ext uri="{FF2B5EF4-FFF2-40B4-BE49-F238E27FC236}">
                <a16:creationId xmlns:a16="http://schemas.microsoft.com/office/drawing/2014/main" id="{DBBADC9F-B833-BD9B-CE16-71BA2F3B1E1B}"/>
              </a:ext>
            </a:extLst>
          </p:cNvPr>
          <p:cNvSpPr/>
          <p:nvPr/>
        </p:nvSpPr>
        <p:spPr>
          <a:xfrm rot="287280">
            <a:off x="7361159" y="2605063"/>
            <a:ext cx="759319" cy="228613"/>
          </a:xfrm>
          <a:prstGeom prst="arc">
            <a:avLst>
              <a:gd name="adj1" fmla="val 11031994"/>
              <a:gd name="adj2" fmla="val 0"/>
            </a:avLst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円弧 57">
            <a:extLst>
              <a:ext uri="{FF2B5EF4-FFF2-40B4-BE49-F238E27FC236}">
                <a16:creationId xmlns:a16="http://schemas.microsoft.com/office/drawing/2014/main" id="{2D0DC7D1-2A67-75EE-75FA-F73400B72C94}"/>
              </a:ext>
            </a:extLst>
          </p:cNvPr>
          <p:cNvSpPr/>
          <p:nvPr/>
        </p:nvSpPr>
        <p:spPr>
          <a:xfrm rot="287280">
            <a:off x="7361158" y="3948004"/>
            <a:ext cx="759319" cy="228613"/>
          </a:xfrm>
          <a:prstGeom prst="arc">
            <a:avLst>
              <a:gd name="adj1" fmla="val 11031994"/>
              <a:gd name="adj2" fmla="val 0"/>
            </a:avLst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円弧 61">
            <a:extLst>
              <a:ext uri="{FF2B5EF4-FFF2-40B4-BE49-F238E27FC236}">
                <a16:creationId xmlns:a16="http://schemas.microsoft.com/office/drawing/2014/main" id="{8C73839A-9446-8E50-BC8B-28E06585F05C}"/>
              </a:ext>
            </a:extLst>
          </p:cNvPr>
          <p:cNvSpPr/>
          <p:nvPr/>
        </p:nvSpPr>
        <p:spPr>
          <a:xfrm rot="287280">
            <a:off x="7349344" y="5460158"/>
            <a:ext cx="1270606" cy="264197"/>
          </a:xfrm>
          <a:prstGeom prst="arc">
            <a:avLst>
              <a:gd name="adj1" fmla="val 11031994"/>
              <a:gd name="adj2" fmla="val 0"/>
            </a:avLst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306ED2C8-990E-A94E-1E93-442EB3731ACF}"/>
              </a:ext>
            </a:extLst>
          </p:cNvPr>
          <p:cNvSpPr txBox="1"/>
          <p:nvPr/>
        </p:nvSpPr>
        <p:spPr>
          <a:xfrm flipH="1">
            <a:off x="7412119" y="802325"/>
            <a:ext cx="1084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行列積</a:t>
            </a:r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E42017DA-AB63-ECFD-BD19-63AF3026C793}"/>
              </a:ext>
            </a:extLst>
          </p:cNvPr>
          <p:cNvSpPr txBox="1"/>
          <p:nvPr/>
        </p:nvSpPr>
        <p:spPr>
          <a:xfrm flipH="1">
            <a:off x="7422034" y="2284540"/>
            <a:ext cx="1084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行列積</a:t>
            </a:r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524F51F1-E9BC-08B5-F7AC-6777EDE9CD17}"/>
              </a:ext>
            </a:extLst>
          </p:cNvPr>
          <p:cNvSpPr txBox="1"/>
          <p:nvPr/>
        </p:nvSpPr>
        <p:spPr>
          <a:xfrm flipH="1">
            <a:off x="7402967" y="3605830"/>
            <a:ext cx="1084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行列積</a:t>
            </a: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0E83DC06-5899-2712-A899-F50874B288DC}"/>
              </a:ext>
            </a:extLst>
          </p:cNvPr>
          <p:cNvSpPr txBox="1"/>
          <p:nvPr/>
        </p:nvSpPr>
        <p:spPr>
          <a:xfrm flipH="1">
            <a:off x="7382434" y="5132343"/>
            <a:ext cx="10842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行列積</a:t>
            </a:r>
          </a:p>
        </p:txBody>
      </p: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DAA15A5D-4963-5F48-27B2-12025EACAFB3}"/>
              </a:ext>
            </a:extLst>
          </p:cNvPr>
          <p:cNvCxnSpPr/>
          <p:nvPr/>
        </p:nvCxnSpPr>
        <p:spPr>
          <a:xfrm flipH="1">
            <a:off x="7422034" y="2107966"/>
            <a:ext cx="672711" cy="0"/>
          </a:xfrm>
          <a:prstGeom prst="straightConnector1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95F21825-260B-C7D9-ABC9-3CBE5A4163FF}"/>
              </a:ext>
            </a:extLst>
          </p:cNvPr>
          <p:cNvCxnSpPr/>
          <p:nvPr/>
        </p:nvCxnSpPr>
        <p:spPr>
          <a:xfrm flipH="1">
            <a:off x="7378620" y="3423686"/>
            <a:ext cx="672711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FC9DE4CA-E6C0-A890-8568-571A9F3EEB06}"/>
              </a:ext>
            </a:extLst>
          </p:cNvPr>
          <p:cNvCxnSpPr/>
          <p:nvPr/>
        </p:nvCxnSpPr>
        <p:spPr>
          <a:xfrm flipH="1">
            <a:off x="7397837" y="4980858"/>
            <a:ext cx="672711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3541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FC561-9A6B-F80D-C367-027E7B199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0CDF2D18-C5FE-4A32-4A0D-D6C2718CE9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8524332"/>
              </p:ext>
            </p:extLst>
          </p:nvPr>
        </p:nvGraphicFramePr>
        <p:xfrm>
          <a:off x="1582992" y="119421"/>
          <a:ext cx="9379648" cy="6619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048">
                  <a:extLst>
                    <a:ext uri="{9D8B030D-6E8A-4147-A177-3AD203B41FA5}">
                      <a16:colId xmlns:a16="http://schemas.microsoft.com/office/drawing/2014/main" val="2139760220"/>
                    </a:ext>
                  </a:extLst>
                </a:gridCol>
                <a:gridCol w="2153920">
                  <a:extLst>
                    <a:ext uri="{9D8B030D-6E8A-4147-A177-3AD203B41FA5}">
                      <a16:colId xmlns:a16="http://schemas.microsoft.com/office/drawing/2014/main" val="1907356628"/>
                    </a:ext>
                  </a:extLst>
                </a:gridCol>
                <a:gridCol w="1941965">
                  <a:extLst>
                    <a:ext uri="{9D8B030D-6E8A-4147-A177-3AD203B41FA5}">
                      <a16:colId xmlns:a16="http://schemas.microsoft.com/office/drawing/2014/main" val="1354571587"/>
                    </a:ext>
                  </a:extLst>
                </a:gridCol>
                <a:gridCol w="1620218">
                  <a:extLst>
                    <a:ext uri="{9D8B030D-6E8A-4147-A177-3AD203B41FA5}">
                      <a16:colId xmlns:a16="http://schemas.microsoft.com/office/drawing/2014/main" val="604997945"/>
                    </a:ext>
                  </a:extLst>
                </a:gridCol>
                <a:gridCol w="2259497">
                  <a:extLst>
                    <a:ext uri="{9D8B030D-6E8A-4147-A177-3AD203B41FA5}">
                      <a16:colId xmlns:a16="http://schemas.microsoft.com/office/drawing/2014/main" val="2112933789"/>
                    </a:ext>
                  </a:extLst>
                </a:gridCol>
              </a:tblGrid>
              <a:tr h="735462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各層の入出力関係</a:t>
                      </a:r>
                      <a:endParaRPr kumimoji="1" lang="en-US" altLang="ja-JP" dirty="0"/>
                    </a:p>
                    <a:p>
                      <a:pPr algn="ctr"/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特徴マップの数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入出力関係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計算関係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カーネル行列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4779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Input1[100]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BE3D6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行列積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074904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output1[512]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2CFEE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列ごとの結果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6198093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Deconv2</a:t>
                      </a:r>
                      <a:endParaRPr kumimoji="1" lang="ja-JP" altLang="en-US" dirty="0"/>
                    </a:p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input2[512]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2CFEE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行列積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747592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output2[256]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列ごとの結果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818027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Deconv3</a:t>
                      </a:r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input3[256]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行列積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2558996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output3[128]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列ごとの結果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013931"/>
                  </a:ext>
                </a:extLst>
              </a:tr>
              <a:tr h="735462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Deconv4</a:t>
                      </a:r>
                      <a:endParaRPr kumimoji="1" lang="ja-JP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input4[128]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行列積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713843"/>
                  </a:ext>
                </a:extLst>
              </a:tr>
              <a:tr h="735462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output4[1]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FFF00">
                        <a:alpha val="2902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計算結果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101809"/>
                  </a:ext>
                </a:extLst>
              </a:tr>
            </a:tbl>
          </a:graphicData>
        </a:graphic>
      </p:graphicFrame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13BBAD94-FFE2-9E61-9E35-F126C575A870}"/>
              </a:ext>
            </a:extLst>
          </p:cNvPr>
          <p:cNvSpPr/>
          <p:nvPr/>
        </p:nvSpPr>
        <p:spPr>
          <a:xfrm>
            <a:off x="9239542" y="4038709"/>
            <a:ext cx="288233" cy="109474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AA987D27-1190-1864-36E1-02ECE082D764}"/>
              </a:ext>
            </a:extLst>
          </p:cNvPr>
          <p:cNvSpPr/>
          <p:nvPr/>
        </p:nvSpPr>
        <p:spPr>
          <a:xfrm>
            <a:off x="9674496" y="5529549"/>
            <a:ext cx="288233" cy="109474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9C8C8661-CCAD-43C8-824D-153DD03234E1}"/>
              </a:ext>
            </a:extLst>
          </p:cNvPr>
          <p:cNvSpPr/>
          <p:nvPr/>
        </p:nvSpPr>
        <p:spPr>
          <a:xfrm>
            <a:off x="9239542" y="2558509"/>
            <a:ext cx="288233" cy="109474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8623FC6C-7C1D-775D-2754-604BFFBAC64A}"/>
              </a:ext>
            </a:extLst>
          </p:cNvPr>
          <p:cNvSpPr/>
          <p:nvPr/>
        </p:nvSpPr>
        <p:spPr>
          <a:xfrm>
            <a:off x="9224504" y="1135636"/>
            <a:ext cx="288233" cy="109474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8E048C1-1C27-E0A2-5F1E-9F1FE83D6861}"/>
              </a:ext>
            </a:extLst>
          </p:cNvPr>
          <p:cNvSpPr/>
          <p:nvPr/>
        </p:nvSpPr>
        <p:spPr>
          <a:xfrm>
            <a:off x="3328480" y="97876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2183F5E-969A-183E-333C-A8EC98F4A499}"/>
              </a:ext>
            </a:extLst>
          </p:cNvPr>
          <p:cNvSpPr/>
          <p:nvPr/>
        </p:nvSpPr>
        <p:spPr>
          <a:xfrm>
            <a:off x="3630822" y="97876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7A6253C-6643-7E35-9014-208ADC6AAC04}"/>
              </a:ext>
            </a:extLst>
          </p:cNvPr>
          <p:cNvSpPr/>
          <p:nvPr/>
        </p:nvSpPr>
        <p:spPr>
          <a:xfrm>
            <a:off x="4445262" y="97876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48E4A42-8AFC-8906-4067-A55F2AACF62A}"/>
              </a:ext>
            </a:extLst>
          </p:cNvPr>
          <p:cNvSpPr txBox="1"/>
          <p:nvPr/>
        </p:nvSpPr>
        <p:spPr>
          <a:xfrm>
            <a:off x="3913867" y="90077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0D9DE4A-3095-1748-3C6C-1F09D1457EC3}"/>
              </a:ext>
            </a:extLst>
          </p:cNvPr>
          <p:cNvSpPr/>
          <p:nvPr/>
        </p:nvSpPr>
        <p:spPr>
          <a:xfrm>
            <a:off x="3330047" y="2117717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E0516E0-85B6-0B77-BC8C-D43CAAFA66E6}"/>
              </a:ext>
            </a:extLst>
          </p:cNvPr>
          <p:cNvSpPr/>
          <p:nvPr/>
        </p:nvSpPr>
        <p:spPr>
          <a:xfrm>
            <a:off x="3818723" y="2116316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1B05819-B2CB-345A-17B4-F8DDBD8E2156}"/>
              </a:ext>
            </a:extLst>
          </p:cNvPr>
          <p:cNvSpPr/>
          <p:nvPr/>
        </p:nvSpPr>
        <p:spPr>
          <a:xfrm>
            <a:off x="4570881" y="2123323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328C0EE-4E07-B3E4-7A60-A5032044C8B5}"/>
              </a:ext>
            </a:extLst>
          </p:cNvPr>
          <p:cNvSpPr txBox="1"/>
          <p:nvPr/>
        </p:nvSpPr>
        <p:spPr>
          <a:xfrm>
            <a:off x="4139399" y="205378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B963E70E-74B6-F536-580A-D662FE2677CF}"/>
              </a:ext>
            </a:extLst>
          </p:cNvPr>
          <p:cNvSpPr txBox="1"/>
          <p:nvPr/>
        </p:nvSpPr>
        <p:spPr>
          <a:xfrm>
            <a:off x="3688878" y="125893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sp>
        <p:nvSpPr>
          <p:cNvPr id="28" name="左中かっこ 27">
            <a:extLst>
              <a:ext uri="{FF2B5EF4-FFF2-40B4-BE49-F238E27FC236}">
                <a16:creationId xmlns:a16="http://schemas.microsoft.com/office/drawing/2014/main" id="{5AC54B06-13AB-105E-BE2F-00285A7606A3}"/>
              </a:ext>
            </a:extLst>
          </p:cNvPr>
          <p:cNvSpPr/>
          <p:nvPr/>
        </p:nvSpPr>
        <p:spPr>
          <a:xfrm rot="16200000">
            <a:off x="3908120" y="692187"/>
            <a:ext cx="130905" cy="1115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B3BD2A4-FBAA-873F-7691-5157522BCD6A}"/>
              </a:ext>
            </a:extLst>
          </p:cNvPr>
          <p:cNvSpPr txBox="1"/>
          <p:nvPr/>
        </p:nvSpPr>
        <p:spPr>
          <a:xfrm>
            <a:off x="3784221" y="266261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5" name="左中かっこ 4">
            <a:extLst>
              <a:ext uri="{FF2B5EF4-FFF2-40B4-BE49-F238E27FC236}">
                <a16:creationId xmlns:a16="http://schemas.microsoft.com/office/drawing/2014/main" id="{2BE89101-8C1E-C418-0B98-0D604C72D03B}"/>
              </a:ext>
            </a:extLst>
          </p:cNvPr>
          <p:cNvSpPr/>
          <p:nvPr/>
        </p:nvSpPr>
        <p:spPr>
          <a:xfrm rot="16200000">
            <a:off x="3962566" y="1961790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8978386-90CE-B160-0F9F-B486F2AD7579}"/>
              </a:ext>
            </a:extLst>
          </p:cNvPr>
          <p:cNvSpPr/>
          <p:nvPr/>
        </p:nvSpPr>
        <p:spPr>
          <a:xfrm>
            <a:off x="3210664" y="3561648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85CEBC1-4301-915A-C87F-41C8AEA51C71}"/>
              </a:ext>
            </a:extLst>
          </p:cNvPr>
          <p:cNvSpPr/>
          <p:nvPr/>
        </p:nvSpPr>
        <p:spPr>
          <a:xfrm>
            <a:off x="3745091" y="3561648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E94D9B0-BDB0-E3E5-CE61-75B28C1E8EEC}"/>
              </a:ext>
            </a:extLst>
          </p:cNvPr>
          <p:cNvSpPr/>
          <p:nvPr/>
        </p:nvSpPr>
        <p:spPr>
          <a:xfrm>
            <a:off x="4498881" y="3561648"/>
            <a:ext cx="324000" cy="324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181D7DC-F1F1-6792-7EB0-8CD83CBEE9E5}"/>
              </a:ext>
            </a:extLst>
          </p:cNvPr>
          <p:cNvSpPr txBox="1"/>
          <p:nvPr/>
        </p:nvSpPr>
        <p:spPr>
          <a:xfrm>
            <a:off x="4076525" y="354489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155A574-729F-D5A7-DC9F-1A61B1F91D95}"/>
              </a:ext>
            </a:extLst>
          </p:cNvPr>
          <p:cNvSpPr txBox="1"/>
          <p:nvPr/>
        </p:nvSpPr>
        <p:spPr>
          <a:xfrm>
            <a:off x="3721347" y="415372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256</a:t>
            </a:r>
            <a:endParaRPr kumimoji="1" lang="ja-JP" altLang="en-US" dirty="0"/>
          </a:p>
        </p:txBody>
      </p:sp>
      <p:sp>
        <p:nvSpPr>
          <p:cNvPr id="12" name="左中かっこ 11">
            <a:extLst>
              <a:ext uri="{FF2B5EF4-FFF2-40B4-BE49-F238E27FC236}">
                <a16:creationId xmlns:a16="http://schemas.microsoft.com/office/drawing/2014/main" id="{A2599154-3BBF-E3CB-F3C4-1C36B6958672}"/>
              </a:ext>
            </a:extLst>
          </p:cNvPr>
          <p:cNvSpPr/>
          <p:nvPr/>
        </p:nvSpPr>
        <p:spPr>
          <a:xfrm rot="16200000">
            <a:off x="3899692" y="3452898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3EF492E-5284-4E45-43B9-B1AA492EC08A}"/>
              </a:ext>
            </a:extLst>
          </p:cNvPr>
          <p:cNvSpPr/>
          <p:nvPr/>
        </p:nvSpPr>
        <p:spPr>
          <a:xfrm>
            <a:off x="3229510" y="4926678"/>
            <a:ext cx="396000" cy="39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8BFF70E-A83E-47A7-0A1B-12B671166532}"/>
              </a:ext>
            </a:extLst>
          </p:cNvPr>
          <p:cNvSpPr/>
          <p:nvPr/>
        </p:nvSpPr>
        <p:spPr>
          <a:xfrm>
            <a:off x="4414124" y="4926678"/>
            <a:ext cx="396000" cy="39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07CAC817-526C-DCAE-5F4A-FDFCEC42E81C}"/>
              </a:ext>
            </a:extLst>
          </p:cNvPr>
          <p:cNvSpPr txBox="1"/>
          <p:nvPr/>
        </p:nvSpPr>
        <p:spPr>
          <a:xfrm>
            <a:off x="3839214" y="4926678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AD6E91DE-99B7-3D90-4099-3AF7D790336F}"/>
              </a:ext>
            </a:extLst>
          </p:cNvPr>
          <p:cNvSpPr txBox="1"/>
          <p:nvPr/>
        </p:nvSpPr>
        <p:spPr>
          <a:xfrm>
            <a:off x="3741021" y="556880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128</a:t>
            </a:r>
            <a:endParaRPr kumimoji="1" lang="ja-JP" altLang="en-US" dirty="0"/>
          </a:p>
        </p:txBody>
      </p:sp>
      <p:sp>
        <p:nvSpPr>
          <p:cNvPr id="34" name="左中かっこ 33">
            <a:extLst>
              <a:ext uri="{FF2B5EF4-FFF2-40B4-BE49-F238E27FC236}">
                <a16:creationId xmlns:a16="http://schemas.microsoft.com/office/drawing/2014/main" id="{005AAEDE-19B6-D951-DC7D-368495133FEA}"/>
              </a:ext>
            </a:extLst>
          </p:cNvPr>
          <p:cNvSpPr/>
          <p:nvPr/>
        </p:nvSpPr>
        <p:spPr>
          <a:xfrm rot="16200000">
            <a:off x="3919366" y="4867978"/>
            <a:ext cx="200902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A8BD4FAE-5984-D0E7-F176-FF2A83F1362E}"/>
              </a:ext>
            </a:extLst>
          </p:cNvPr>
          <p:cNvSpPr/>
          <p:nvPr/>
        </p:nvSpPr>
        <p:spPr>
          <a:xfrm>
            <a:off x="3735448" y="6107424"/>
            <a:ext cx="468000" cy="4680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3062DB09-2459-395B-AFF7-D1B42D05A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844" y="1209301"/>
            <a:ext cx="1268782" cy="102108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4C8FBE-AD14-25BE-98C0-60A309431FE7}"/>
              </a:ext>
            </a:extLst>
          </p:cNvPr>
          <p:cNvSpPr txBox="1"/>
          <p:nvPr/>
        </p:nvSpPr>
        <p:spPr>
          <a:xfrm>
            <a:off x="9524891" y="87231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C7F7DF29-88B4-6BF2-44CD-425F303D4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9109" y="2654548"/>
            <a:ext cx="1268782" cy="1021080"/>
          </a:xfrm>
          <a:prstGeom prst="rect">
            <a:avLst/>
          </a:prstGeom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71769D4-6954-6591-6A80-976D4B7C323C}"/>
              </a:ext>
            </a:extLst>
          </p:cNvPr>
          <p:cNvSpPr txBox="1"/>
          <p:nvPr/>
        </p:nvSpPr>
        <p:spPr>
          <a:xfrm>
            <a:off x="9579140" y="231924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256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BDC3D5D-7C56-0CF6-87BB-FF8464A7C033}"/>
              </a:ext>
            </a:extLst>
          </p:cNvPr>
          <p:cNvSpPr txBox="1"/>
          <p:nvPr/>
        </p:nvSpPr>
        <p:spPr>
          <a:xfrm rot="16200000">
            <a:off x="8799750" y="288694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512</a:t>
            </a:r>
            <a:endParaRPr kumimoji="1" lang="ja-JP" altLang="en-US" dirty="0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C1A7AB82-8443-01CF-A59D-340495DAF9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9109" y="4123389"/>
            <a:ext cx="1268782" cy="1021081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0F54A52-4F99-69DE-4745-97DCF856D2AF}"/>
              </a:ext>
            </a:extLst>
          </p:cNvPr>
          <p:cNvSpPr txBox="1"/>
          <p:nvPr/>
        </p:nvSpPr>
        <p:spPr>
          <a:xfrm>
            <a:off x="9563132" y="379153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128</a:t>
            </a:r>
            <a:endParaRPr kumimoji="1" lang="ja-JP" altLang="en-US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4891968-FBA8-1708-6B1C-18E2A8FE1619}"/>
              </a:ext>
            </a:extLst>
          </p:cNvPr>
          <p:cNvSpPr txBox="1"/>
          <p:nvPr/>
        </p:nvSpPr>
        <p:spPr>
          <a:xfrm rot="16200000">
            <a:off x="8824908" y="438186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256</a:t>
            </a:r>
            <a:endParaRPr kumimoji="1" lang="ja-JP" altLang="en-US" dirty="0"/>
          </a:p>
        </p:txBody>
      </p:sp>
      <p:pic>
        <p:nvPicPr>
          <p:cNvPr id="41" name="図 40">
            <a:extLst>
              <a:ext uri="{FF2B5EF4-FFF2-40B4-BE49-F238E27FC236}">
                <a16:creationId xmlns:a16="http://schemas.microsoft.com/office/drawing/2014/main" id="{564A21F0-99CB-6005-4D2C-31871272E6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6892" y="5606341"/>
            <a:ext cx="303145" cy="963773"/>
          </a:xfrm>
          <a:prstGeom prst="rect">
            <a:avLst/>
          </a:prstGeom>
        </p:spPr>
      </p:pic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2C82EEB7-3323-FAC3-5786-EF1A06A6034A}"/>
              </a:ext>
            </a:extLst>
          </p:cNvPr>
          <p:cNvSpPr txBox="1"/>
          <p:nvPr/>
        </p:nvSpPr>
        <p:spPr>
          <a:xfrm rot="16200000">
            <a:off x="9151816" y="584771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128</a:t>
            </a:r>
            <a:endParaRPr kumimoji="1" lang="ja-JP" altLang="en-US" dirty="0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ED8A8EBD-B0F1-B39B-9116-56B9B0A7B041}"/>
              </a:ext>
            </a:extLst>
          </p:cNvPr>
          <p:cNvSpPr txBox="1"/>
          <p:nvPr/>
        </p:nvSpPr>
        <p:spPr>
          <a:xfrm>
            <a:off x="9643011" y="5255361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</a:t>
            </a:r>
            <a:endParaRPr kumimoji="1" lang="ja-JP" altLang="en-US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3EEB343-3F42-2B18-A737-9AF10925F35E}"/>
              </a:ext>
            </a:extLst>
          </p:cNvPr>
          <p:cNvSpPr txBox="1"/>
          <p:nvPr/>
        </p:nvSpPr>
        <p:spPr>
          <a:xfrm rot="16200000">
            <a:off x="8799750" y="148183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100</a:t>
            </a:r>
            <a:endParaRPr kumimoji="1" lang="ja-JP" altLang="en-US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A9CA03C9-3CA9-75EA-8B30-E4B4951C6DF4}"/>
              </a:ext>
            </a:extLst>
          </p:cNvPr>
          <p:cNvCxnSpPr>
            <a:cxnSpLocks/>
          </p:cNvCxnSpPr>
          <p:nvPr/>
        </p:nvCxnSpPr>
        <p:spPr>
          <a:xfrm>
            <a:off x="7122160" y="1381808"/>
            <a:ext cx="1503680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560ACACE-7CEA-1CB6-5CA5-4DF72B3050E4}"/>
              </a:ext>
            </a:extLst>
          </p:cNvPr>
          <p:cNvCxnSpPr>
            <a:cxnSpLocks/>
          </p:cNvCxnSpPr>
          <p:nvPr/>
        </p:nvCxnSpPr>
        <p:spPr>
          <a:xfrm flipH="1">
            <a:off x="7122160" y="2230381"/>
            <a:ext cx="1452880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23157682-A843-4519-CDA3-288241157BA8}"/>
              </a:ext>
            </a:extLst>
          </p:cNvPr>
          <p:cNvCxnSpPr>
            <a:cxnSpLocks/>
          </p:cNvCxnSpPr>
          <p:nvPr/>
        </p:nvCxnSpPr>
        <p:spPr>
          <a:xfrm>
            <a:off x="7172960" y="2862876"/>
            <a:ext cx="1503680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D66B22F6-FB08-D845-6B8C-941FCC08F359}"/>
              </a:ext>
            </a:extLst>
          </p:cNvPr>
          <p:cNvCxnSpPr>
            <a:cxnSpLocks/>
          </p:cNvCxnSpPr>
          <p:nvPr/>
        </p:nvCxnSpPr>
        <p:spPr>
          <a:xfrm flipH="1">
            <a:off x="7172960" y="3711449"/>
            <a:ext cx="1452880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46804883-1333-47A6-1207-4D6293C3F1D8}"/>
              </a:ext>
            </a:extLst>
          </p:cNvPr>
          <p:cNvCxnSpPr>
            <a:cxnSpLocks/>
          </p:cNvCxnSpPr>
          <p:nvPr/>
        </p:nvCxnSpPr>
        <p:spPr>
          <a:xfrm>
            <a:off x="7172960" y="4319266"/>
            <a:ext cx="1503680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9808617E-E1A8-CE2D-8ED2-B142AC3A5003}"/>
              </a:ext>
            </a:extLst>
          </p:cNvPr>
          <p:cNvCxnSpPr>
            <a:cxnSpLocks/>
          </p:cNvCxnSpPr>
          <p:nvPr/>
        </p:nvCxnSpPr>
        <p:spPr>
          <a:xfrm flipH="1">
            <a:off x="7172960" y="5167839"/>
            <a:ext cx="1452880" cy="0"/>
          </a:xfrm>
          <a:prstGeom prst="straightConnector1">
            <a:avLst/>
          </a:prstGeom>
          <a:ln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C35F828E-57CF-0DDD-1855-ED051AE1BE73}"/>
              </a:ext>
            </a:extLst>
          </p:cNvPr>
          <p:cNvCxnSpPr>
            <a:cxnSpLocks/>
          </p:cNvCxnSpPr>
          <p:nvPr/>
        </p:nvCxnSpPr>
        <p:spPr>
          <a:xfrm>
            <a:off x="7172960" y="5775721"/>
            <a:ext cx="1503680" cy="0"/>
          </a:xfrm>
          <a:prstGeom prst="straightConnector1">
            <a:avLst/>
          </a:prstGeom>
          <a:ln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36A5BBBD-5355-C48A-D8CF-2A91973171DF}"/>
              </a:ext>
            </a:extLst>
          </p:cNvPr>
          <p:cNvCxnSpPr>
            <a:cxnSpLocks/>
          </p:cNvCxnSpPr>
          <p:nvPr/>
        </p:nvCxnSpPr>
        <p:spPr>
          <a:xfrm flipH="1">
            <a:off x="7172960" y="6570114"/>
            <a:ext cx="1452880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43007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B68AA-C4C2-E94B-EAEC-94F14B99D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表 19">
            <a:extLst>
              <a:ext uri="{FF2B5EF4-FFF2-40B4-BE49-F238E27FC236}">
                <a16:creationId xmlns:a16="http://schemas.microsoft.com/office/drawing/2014/main" id="{E9E92706-3278-EB57-EB6E-90591A0E092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1737591"/>
              </p:ext>
            </p:extLst>
          </p:nvPr>
        </p:nvGraphicFramePr>
        <p:xfrm>
          <a:off x="1582992" y="3297689"/>
          <a:ext cx="9379648" cy="230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048">
                  <a:extLst>
                    <a:ext uri="{9D8B030D-6E8A-4147-A177-3AD203B41FA5}">
                      <a16:colId xmlns:a16="http://schemas.microsoft.com/office/drawing/2014/main" val="2139760220"/>
                    </a:ext>
                  </a:extLst>
                </a:gridCol>
                <a:gridCol w="2153920">
                  <a:extLst>
                    <a:ext uri="{9D8B030D-6E8A-4147-A177-3AD203B41FA5}">
                      <a16:colId xmlns:a16="http://schemas.microsoft.com/office/drawing/2014/main" val="1907356628"/>
                    </a:ext>
                  </a:extLst>
                </a:gridCol>
                <a:gridCol w="1941965">
                  <a:extLst>
                    <a:ext uri="{9D8B030D-6E8A-4147-A177-3AD203B41FA5}">
                      <a16:colId xmlns:a16="http://schemas.microsoft.com/office/drawing/2014/main" val="1354571587"/>
                    </a:ext>
                  </a:extLst>
                </a:gridCol>
                <a:gridCol w="1620218">
                  <a:extLst>
                    <a:ext uri="{9D8B030D-6E8A-4147-A177-3AD203B41FA5}">
                      <a16:colId xmlns:a16="http://schemas.microsoft.com/office/drawing/2014/main" val="604997945"/>
                    </a:ext>
                  </a:extLst>
                </a:gridCol>
                <a:gridCol w="2259497">
                  <a:extLst>
                    <a:ext uri="{9D8B030D-6E8A-4147-A177-3AD203B41FA5}">
                      <a16:colId xmlns:a16="http://schemas.microsoft.com/office/drawing/2014/main" val="2112933789"/>
                    </a:ext>
                  </a:extLst>
                </a:gridCol>
              </a:tblGrid>
              <a:tr h="76712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各層の入出力関係</a:t>
                      </a:r>
                      <a:endParaRPr kumimoji="1" lang="en-US" altLang="ja-JP" dirty="0"/>
                    </a:p>
                    <a:p>
                      <a:pPr algn="ctr"/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特徴マップの数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入出力関係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計算関係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カーネル行列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4779"/>
                  </a:ext>
                </a:extLst>
              </a:tr>
              <a:tr h="767124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rgbClr val="FF0000"/>
                          </a:solidFill>
                        </a:rPr>
                        <a:t>Input1[100]</a:t>
                      </a:r>
                      <a:endParaRPr kumimoji="1" lang="ja-JP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rgbClr val="FBE3D6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行列積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074904"/>
                  </a:ext>
                </a:extLst>
              </a:tr>
              <a:tr h="767124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output1[1]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2CFEE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計算結果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6198093"/>
                  </a:ext>
                </a:extLst>
              </a:tr>
            </a:tbl>
          </a:graphicData>
        </a:graphic>
      </p:graphicFrame>
      <p:sp>
        <p:nvSpPr>
          <p:cNvPr id="70" name="四角形: 角を丸くする 69">
            <a:extLst>
              <a:ext uri="{FF2B5EF4-FFF2-40B4-BE49-F238E27FC236}">
                <a16:creationId xmlns:a16="http://schemas.microsoft.com/office/drawing/2014/main" id="{6A469B27-835C-5A1F-8E11-6F5882B3301F}"/>
              </a:ext>
            </a:extLst>
          </p:cNvPr>
          <p:cNvSpPr/>
          <p:nvPr/>
        </p:nvSpPr>
        <p:spPr>
          <a:xfrm rot="5400000">
            <a:off x="3706388" y="3637385"/>
            <a:ext cx="691842" cy="160021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E66CBCDF-F24B-BB90-B98F-FFDF9515D6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6505864"/>
              </p:ext>
            </p:extLst>
          </p:nvPr>
        </p:nvGraphicFramePr>
        <p:xfrm>
          <a:off x="1582992" y="119421"/>
          <a:ext cx="9379648" cy="230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048">
                  <a:extLst>
                    <a:ext uri="{9D8B030D-6E8A-4147-A177-3AD203B41FA5}">
                      <a16:colId xmlns:a16="http://schemas.microsoft.com/office/drawing/2014/main" val="2139760220"/>
                    </a:ext>
                  </a:extLst>
                </a:gridCol>
                <a:gridCol w="2153920">
                  <a:extLst>
                    <a:ext uri="{9D8B030D-6E8A-4147-A177-3AD203B41FA5}">
                      <a16:colId xmlns:a16="http://schemas.microsoft.com/office/drawing/2014/main" val="1907356628"/>
                    </a:ext>
                  </a:extLst>
                </a:gridCol>
                <a:gridCol w="1941965">
                  <a:extLst>
                    <a:ext uri="{9D8B030D-6E8A-4147-A177-3AD203B41FA5}">
                      <a16:colId xmlns:a16="http://schemas.microsoft.com/office/drawing/2014/main" val="1354571587"/>
                    </a:ext>
                  </a:extLst>
                </a:gridCol>
                <a:gridCol w="1620218">
                  <a:extLst>
                    <a:ext uri="{9D8B030D-6E8A-4147-A177-3AD203B41FA5}">
                      <a16:colId xmlns:a16="http://schemas.microsoft.com/office/drawing/2014/main" val="604997945"/>
                    </a:ext>
                  </a:extLst>
                </a:gridCol>
                <a:gridCol w="2259497">
                  <a:extLst>
                    <a:ext uri="{9D8B030D-6E8A-4147-A177-3AD203B41FA5}">
                      <a16:colId xmlns:a16="http://schemas.microsoft.com/office/drawing/2014/main" val="2112933789"/>
                    </a:ext>
                  </a:extLst>
                </a:gridCol>
              </a:tblGrid>
              <a:tr h="76712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各層の入出力関係</a:t>
                      </a:r>
                      <a:endParaRPr kumimoji="1" lang="en-US" altLang="ja-JP" dirty="0"/>
                    </a:p>
                    <a:p>
                      <a:pPr algn="ctr"/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特徴マップの数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入出力関係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計算関係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カーネル行列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4779"/>
                  </a:ext>
                </a:extLst>
              </a:tr>
              <a:tr h="767124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Input1[100]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BE3D6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行列積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074904"/>
                  </a:ext>
                </a:extLst>
              </a:tr>
              <a:tr h="767124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output1[512]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2CFEE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列ごとの結果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6198093"/>
                  </a:ext>
                </a:extLst>
              </a:tr>
            </a:tbl>
          </a:graphicData>
        </a:graphic>
      </p:graphicFrame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C7EE2BC-556F-4C9A-1502-4AD395825616}"/>
              </a:ext>
            </a:extLst>
          </p:cNvPr>
          <p:cNvSpPr/>
          <p:nvPr/>
        </p:nvSpPr>
        <p:spPr>
          <a:xfrm>
            <a:off x="3364843" y="97876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D3926FE-16D6-CD6E-A355-AD0554803C77}"/>
              </a:ext>
            </a:extLst>
          </p:cNvPr>
          <p:cNvSpPr/>
          <p:nvPr/>
        </p:nvSpPr>
        <p:spPr>
          <a:xfrm>
            <a:off x="3667185" y="97876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6055273-B20D-4B19-2E9E-279DA67CBC94}"/>
              </a:ext>
            </a:extLst>
          </p:cNvPr>
          <p:cNvSpPr/>
          <p:nvPr/>
        </p:nvSpPr>
        <p:spPr>
          <a:xfrm>
            <a:off x="4481625" y="978761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3965157-29BD-A870-DDE9-B9D82AE40322}"/>
              </a:ext>
            </a:extLst>
          </p:cNvPr>
          <p:cNvSpPr txBox="1"/>
          <p:nvPr/>
        </p:nvSpPr>
        <p:spPr>
          <a:xfrm>
            <a:off x="3950230" y="900775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C3F0DEC-E73E-91C6-295C-C4DE59741270}"/>
              </a:ext>
            </a:extLst>
          </p:cNvPr>
          <p:cNvSpPr/>
          <p:nvPr/>
        </p:nvSpPr>
        <p:spPr>
          <a:xfrm>
            <a:off x="3309537" y="1737811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07A3711-7836-CC9E-D984-4CDEA912EA84}"/>
              </a:ext>
            </a:extLst>
          </p:cNvPr>
          <p:cNvSpPr/>
          <p:nvPr/>
        </p:nvSpPr>
        <p:spPr>
          <a:xfrm>
            <a:off x="3798213" y="1736410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4099FD5-F390-B96B-0328-DBE345CE83F0}"/>
              </a:ext>
            </a:extLst>
          </p:cNvPr>
          <p:cNvSpPr/>
          <p:nvPr/>
        </p:nvSpPr>
        <p:spPr>
          <a:xfrm>
            <a:off x="4550371" y="1743417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628AD0C-2CF7-D013-8180-14D3DE16B982}"/>
              </a:ext>
            </a:extLst>
          </p:cNvPr>
          <p:cNvSpPr txBox="1"/>
          <p:nvPr/>
        </p:nvSpPr>
        <p:spPr>
          <a:xfrm>
            <a:off x="4098995" y="1672931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DAEE300-F17A-3CEE-A28A-6DD5483733D8}"/>
              </a:ext>
            </a:extLst>
          </p:cNvPr>
          <p:cNvSpPr txBox="1"/>
          <p:nvPr/>
        </p:nvSpPr>
        <p:spPr>
          <a:xfrm>
            <a:off x="3725241" y="1258939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sp>
        <p:nvSpPr>
          <p:cNvPr id="28" name="左中かっこ 27">
            <a:extLst>
              <a:ext uri="{FF2B5EF4-FFF2-40B4-BE49-F238E27FC236}">
                <a16:creationId xmlns:a16="http://schemas.microsoft.com/office/drawing/2014/main" id="{600D3593-491D-8EB6-6B10-EE92A6A4C776}"/>
              </a:ext>
            </a:extLst>
          </p:cNvPr>
          <p:cNvSpPr/>
          <p:nvPr/>
        </p:nvSpPr>
        <p:spPr>
          <a:xfrm rot="16200000">
            <a:off x="3944483" y="692187"/>
            <a:ext cx="130905" cy="1115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A7C6F5C-DF3D-2755-3EAD-378CF74FF154}"/>
              </a:ext>
            </a:extLst>
          </p:cNvPr>
          <p:cNvSpPr txBox="1"/>
          <p:nvPr/>
        </p:nvSpPr>
        <p:spPr>
          <a:xfrm>
            <a:off x="3765519" y="213026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5" name="左中かっこ 4">
            <a:extLst>
              <a:ext uri="{FF2B5EF4-FFF2-40B4-BE49-F238E27FC236}">
                <a16:creationId xmlns:a16="http://schemas.microsoft.com/office/drawing/2014/main" id="{B455D175-B273-9079-09FD-4EE7C76AB924}"/>
              </a:ext>
            </a:extLst>
          </p:cNvPr>
          <p:cNvSpPr/>
          <p:nvPr/>
        </p:nvSpPr>
        <p:spPr>
          <a:xfrm rot="16200000">
            <a:off x="3983629" y="1515410"/>
            <a:ext cx="130906" cy="118461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75673421-9CFF-BFC2-0F72-39E8FE86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844" y="1209301"/>
            <a:ext cx="1268782" cy="102108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14233BF-DDEA-237A-4D00-BEDB4AE91421}"/>
              </a:ext>
            </a:extLst>
          </p:cNvPr>
          <p:cNvSpPr txBox="1"/>
          <p:nvPr/>
        </p:nvSpPr>
        <p:spPr>
          <a:xfrm>
            <a:off x="9524891" y="87231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BFC0C7E-2FE2-9A13-BF48-88D4079AB584}"/>
              </a:ext>
            </a:extLst>
          </p:cNvPr>
          <p:cNvSpPr txBox="1"/>
          <p:nvPr/>
        </p:nvSpPr>
        <p:spPr>
          <a:xfrm rot="16200000">
            <a:off x="8799750" y="148183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100</a:t>
            </a:r>
            <a:endParaRPr kumimoji="1" lang="ja-JP" altLang="en-US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A38611EB-F2B7-C4DF-1D8E-B1D76A1CD844}"/>
              </a:ext>
            </a:extLst>
          </p:cNvPr>
          <p:cNvCxnSpPr>
            <a:cxnSpLocks/>
          </p:cNvCxnSpPr>
          <p:nvPr/>
        </p:nvCxnSpPr>
        <p:spPr>
          <a:xfrm>
            <a:off x="7122160" y="1453813"/>
            <a:ext cx="1503680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2810F75A-F790-F497-0DE3-DAC6C2CC0F8C}"/>
              </a:ext>
            </a:extLst>
          </p:cNvPr>
          <p:cNvCxnSpPr>
            <a:cxnSpLocks/>
          </p:cNvCxnSpPr>
          <p:nvPr/>
        </p:nvCxnSpPr>
        <p:spPr>
          <a:xfrm flipH="1">
            <a:off x="7172960" y="2230381"/>
            <a:ext cx="1452880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32871D99-7F9F-E4C2-B39D-75903EDE654A}"/>
              </a:ext>
            </a:extLst>
          </p:cNvPr>
          <p:cNvSpPr/>
          <p:nvPr/>
        </p:nvSpPr>
        <p:spPr>
          <a:xfrm>
            <a:off x="9224504" y="4435808"/>
            <a:ext cx="288233" cy="109474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801065EE-97D1-4EF1-F11B-4E4F6C6BCBDA}"/>
              </a:ext>
            </a:extLst>
          </p:cNvPr>
          <p:cNvSpPr/>
          <p:nvPr/>
        </p:nvSpPr>
        <p:spPr>
          <a:xfrm>
            <a:off x="3364843" y="4157029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3710DB49-008C-7A73-3622-938D08D3750B}"/>
              </a:ext>
            </a:extLst>
          </p:cNvPr>
          <p:cNvSpPr/>
          <p:nvPr/>
        </p:nvSpPr>
        <p:spPr>
          <a:xfrm>
            <a:off x="3667185" y="4157029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C274645A-8E81-16BD-A4FE-8DB2CBF90478}"/>
              </a:ext>
            </a:extLst>
          </p:cNvPr>
          <p:cNvSpPr/>
          <p:nvPr/>
        </p:nvSpPr>
        <p:spPr>
          <a:xfrm>
            <a:off x="4481625" y="4157029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B84A11EE-9D30-1706-0659-006BAD9CDF6B}"/>
              </a:ext>
            </a:extLst>
          </p:cNvPr>
          <p:cNvSpPr txBox="1"/>
          <p:nvPr/>
        </p:nvSpPr>
        <p:spPr>
          <a:xfrm>
            <a:off x="3950230" y="407904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18D08EE3-9AE0-9068-88CF-976D9EFF6B54}"/>
              </a:ext>
            </a:extLst>
          </p:cNvPr>
          <p:cNvSpPr/>
          <p:nvPr/>
        </p:nvSpPr>
        <p:spPr>
          <a:xfrm>
            <a:off x="3330775" y="5065241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DA42998A-5BF0-BD4C-3A5A-FC2FFCDA6CF1}"/>
              </a:ext>
            </a:extLst>
          </p:cNvPr>
          <p:cNvSpPr txBox="1"/>
          <p:nvPr/>
        </p:nvSpPr>
        <p:spPr>
          <a:xfrm>
            <a:off x="3725241" y="443720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sp>
        <p:nvSpPr>
          <p:cNvPr id="62" name="左中かっこ 61">
            <a:extLst>
              <a:ext uri="{FF2B5EF4-FFF2-40B4-BE49-F238E27FC236}">
                <a16:creationId xmlns:a16="http://schemas.microsoft.com/office/drawing/2014/main" id="{69913F04-7F52-B7DA-B789-2D009242C7B4}"/>
              </a:ext>
            </a:extLst>
          </p:cNvPr>
          <p:cNvSpPr/>
          <p:nvPr/>
        </p:nvSpPr>
        <p:spPr>
          <a:xfrm rot="16200000">
            <a:off x="3944483" y="3870455"/>
            <a:ext cx="130905" cy="1115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5" name="図 64">
            <a:extLst>
              <a:ext uri="{FF2B5EF4-FFF2-40B4-BE49-F238E27FC236}">
                <a16:creationId xmlns:a16="http://schemas.microsoft.com/office/drawing/2014/main" id="{D0E75208-1838-04C9-1AA8-2EF3F350E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844" y="4509473"/>
            <a:ext cx="1268782" cy="1021080"/>
          </a:xfrm>
          <a:prstGeom prst="rect">
            <a:avLst/>
          </a:prstGeom>
        </p:spPr>
      </p:pic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E1F16E0F-0869-1748-C53D-F58D04FE2381}"/>
              </a:ext>
            </a:extLst>
          </p:cNvPr>
          <p:cNvSpPr txBox="1"/>
          <p:nvPr/>
        </p:nvSpPr>
        <p:spPr>
          <a:xfrm>
            <a:off x="9096750" y="4085234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0000"/>
                </a:solidFill>
              </a:rPr>
              <a:t>1</a:t>
            </a:r>
            <a:r>
              <a:rPr lang="ja-JP" altLang="en-US" b="1" dirty="0">
                <a:solidFill>
                  <a:srgbClr val="FF0000"/>
                </a:solidFill>
              </a:rPr>
              <a:t>列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91F41377-5AE2-240D-ADD3-7C799EBA4B37}"/>
              </a:ext>
            </a:extLst>
          </p:cNvPr>
          <p:cNvSpPr txBox="1"/>
          <p:nvPr/>
        </p:nvSpPr>
        <p:spPr>
          <a:xfrm rot="16200000">
            <a:off x="8799750" y="478200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100</a:t>
            </a:r>
            <a:endParaRPr kumimoji="1" lang="ja-JP" altLang="en-US" dirty="0"/>
          </a:p>
        </p:txBody>
      </p: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E36730E7-D0BC-9A02-7964-5C0038E98941}"/>
              </a:ext>
            </a:extLst>
          </p:cNvPr>
          <p:cNvCxnSpPr>
            <a:cxnSpLocks/>
          </p:cNvCxnSpPr>
          <p:nvPr/>
        </p:nvCxnSpPr>
        <p:spPr>
          <a:xfrm>
            <a:off x="7122160" y="4632081"/>
            <a:ext cx="1503680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4B488F32-BAA9-0216-D824-439980ED58E6}"/>
              </a:ext>
            </a:extLst>
          </p:cNvPr>
          <p:cNvCxnSpPr>
            <a:cxnSpLocks/>
          </p:cNvCxnSpPr>
          <p:nvPr/>
        </p:nvCxnSpPr>
        <p:spPr>
          <a:xfrm flipH="1">
            <a:off x="7172960" y="5408649"/>
            <a:ext cx="1452880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7543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F9831-91BA-223C-C3AA-34DF1402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表 19">
            <a:extLst>
              <a:ext uri="{FF2B5EF4-FFF2-40B4-BE49-F238E27FC236}">
                <a16:creationId xmlns:a16="http://schemas.microsoft.com/office/drawing/2014/main" id="{D6C1C85C-BA32-7061-0E95-4D88A53ED943}"/>
              </a:ext>
            </a:extLst>
          </p:cNvPr>
          <p:cNvGraphicFramePr>
            <a:graphicFrameLocks/>
          </p:cNvGraphicFramePr>
          <p:nvPr/>
        </p:nvGraphicFramePr>
        <p:xfrm>
          <a:off x="1582992" y="3297689"/>
          <a:ext cx="9379648" cy="230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048">
                  <a:extLst>
                    <a:ext uri="{9D8B030D-6E8A-4147-A177-3AD203B41FA5}">
                      <a16:colId xmlns:a16="http://schemas.microsoft.com/office/drawing/2014/main" val="2139760220"/>
                    </a:ext>
                  </a:extLst>
                </a:gridCol>
                <a:gridCol w="2153920">
                  <a:extLst>
                    <a:ext uri="{9D8B030D-6E8A-4147-A177-3AD203B41FA5}">
                      <a16:colId xmlns:a16="http://schemas.microsoft.com/office/drawing/2014/main" val="1907356628"/>
                    </a:ext>
                  </a:extLst>
                </a:gridCol>
                <a:gridCol w="1941965">
                  <a:extLst>
                    <a:ext uri="{9D8B030D-6E8A-4147-A177-3AD203B41FA5}">
                      <a16:colId xmlns:a16="http://schemas.microsoft.com/office/drawing/2014/main" val="1354571587"/>
                    </a:ext>
                  </a:extLst>
                </a:gridCol>
                <a:gridCol w="1620218">
                  <a:extLst>
                    <a:ext uri="{9D8B030D-6E8A-4147-A177-3AD203B41FA5}">
                      <a16:colId xmlns:a16="http://schemas.microsoft.com/office/drawing/2014/main" val="604997945"/>
                    </a:ext>
                  </a:extLst>
                </a:gridCol>
                <a:gridCol w="2259497">
                  <a:extLst>
                    <a:ext uri="{9D8B030D-6E8A-4147-A177-3AD203B41FA5}">
                      <a16:colId xmlns:a16="http://schemas.microsoft.com/office/drawing/2014/main" val="2112933789"/>
                    </a:ext>
                  </a:extLst>
                </a:gridCol>
              </a:tblGrid>
              <a:tr h="767124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各層の入出力関係</a:t>
                      </a:r>
                      <a:endParaRPr kumimoji="1" lang="en-US" altLang="ja-JP" dirty="0"/>
                    </a:p>
                    <a:p>
                      <a:pPr algn="ctr"/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特徴マップの数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入出力関係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計算関係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カーネル行列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4779"/>
                  </a:ext>
                </a:extLst>
              </a:tr>
              <a:tr h="767124">
                <a:tc rowSpan="2"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Deconv1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rgbClr val="FF0000"/>
                          </a:solidFill>
                        </a:rPr>
                        <a:t>Input1[100]</a:t>
                      </a:r>
                      <a:endParaRPr kumimoji="1" lang="ja-JP" altLang="en-US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rgbClr val="FBE3D6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/>
                        <a:t>行列積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solidFill>
                      <a:srgbClr val="E7EA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074904"/>
                  </a:ext>
                </a:extLst>
              </a:tr>
              <a:tr h="767124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output1[1]</a:t>
                      </a:r>
                      <a:endParaRPr kumimoji="1" lang="ja-JP" altLang="en-US" dirty="0"/>
                    </a:p>
                  </a:txBody>
                  <a:tcPr anchor="ctr">
                    <a:solidFill>
                      <a:srgbClr val="F2CFEE">
                        <a:alpha val="5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計算結果</a:t>
                      </a:r>
                    </a:p>
                  </a:txBody>
                  <a:tcPr anchor="ctr">
                    <a:solidFill>
                      <a:srgbClr val="E7EAED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6198093"/>
                  </a:ext>
                </a:extLst>
              </a:tr>
            </a:tbl>
          </a:graphicData>
        </a:graphic>
      </p:graphicFrame>
      <p:sp>
        <p:nvSpPr>
          <p:cNvPr id="70" name="四角形: 角を丸くする 69">
            <a:extLst>
              <a:ext uri="{FF2B5EF4-FFF2-40B4-BE49-F238E27FC236}">
                <a16:creationId xmlns:a16="http://schemas.microsoft.com/office/drawing/2014/main" id="{8FE96015-C63F-42D2-1A10-E4CD0C1FFB60}"/>
              </a:ext>
            </a:extLst>
          </p:cNvPr>
          <p:cNvSpPr/>
          <p:nvPr/>
        </p:nvSpPr>
        <p:spPr>
          <a:xfrm rot="5400000">
            <a:off x="3706388" y="3637385"/>
            <a:ext cx="691842" cy="160021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7EA061AF-4030-9FD9-14F0-5C99036C7E9A}"/>
              </a:ext>
            </a:extLst>
          </p:cNvPr>
          <p:cNvSpPr/>
          <p:nvPr/>
        </p:nvSpPr>
        <p:spPr>
          <a:xfrm>
            <a:off x="9224504" y="4435808"/>
            <a:ext cx="288233" cy="1094745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0591BF20-E7D8-767E-53FC-794BC4056DF7}"/>
              </a:ext>
            </a:extLst>
          </p:cNvPr>
          <p:cNvSpPr/>
          <p:nvPr/>
        </p:nvSpPr>
        <p:spPr>
          <a:xfrm>
            <a:off x="3364843" y="4157029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394F9030-9BDD-2413-C396-52BA6A5A4770}"/>
              </a:ext>
            </a:extLst>
          </p:cNvPr>
          <p:cNvSpPr/>
          <p:nvPr/>
        </p:nvSpPr>
        <p:spPr>
          <a:xfrm>
            <a:off x="3667185" y="4157029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846FA0D8-D237-6975-226F-EF7AAF9AB5CF}"/>
              </a:ext>
            </a:extLst>
          </p:cNvPr>
          <p:cNvSpPr/>
          <p:nvPr/>
        </p:nvSpPr>
        <p:spPr>
          <a:xfrm>
            <a:off x="4481625" y="4157029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8EC84E80-2B1B-2C75-9E82-C13E8E897397}"/>
              </a:ext>
            </a:extLst>
          </p:cNvPr>
          <p:cNvSpPr txBox="1"/>
          <p:nvPr/>
        </p:nvSpPr>
        <p:spPr>
          <a:xfrm>
            <a:off x="3950230" y="407904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50C5459-8747-B2EF-E4E2-89C5F6D9E742}"/>
              </a:ext>
            </a:extLst>
          </p:cNvPr>
          <p:cNvSpPr/>
          <p:nvPr/>
        </p:nvSpPr>
        <p:spPr>
          <a:xfrm>
            <a:off x="3330775" y="5065241"/>
            <a:ext cx="252000" cy="25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B5C6E117-0C55-E248-3554-EC3D6D8FDF80}"/>
              </a:ext>
            </a:extLst>
          </p:cNvPr>
          <p:cNvSpPr txBox="1"/>
          <p:nvPr/>
        </p:nvSpPr>
        <p:spPr>
          <a:xfrm>
            <a:off x="3725241" y="443720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100</a:t>
            </a:r>
            <a:endParaRPr kumimoji="1" lang="ja-JP" altLang="en-US" dirty="0"/>
          </a:p>
        </p:txBody>
      </p:sp>
      <p:sp>
        <p:nvSpPr>
          <p:cNvPr id="62" name="左中かっこ 61">
            <a:extLst>
              <a:ext uri="{FF2B5EF4-FFF2-40B4-BE49-F238E27FC236}">
                <a16:creationId xmlns:a16="http://schemas.microsoft.com/office/drawing/2014/main" id="{435F99AD-6BCD-702B-CB39-CDFB9E6C4A57}"/>
              </a:ext>
            </a:extLst>
          </p:cNvPr>
          <p:cNvSpPr/>
          <p:nvPr/>
        </p:nvSpPr>
        <p:spPr>
          <a:xfrm rot="16200000">
            <a:off x="3944483" y="3870455"/>
            <a:ext cx="130905" cy="111547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5" name="図 64">
            <a:extLst>
              <a:ext uri="{FF2B5EF4-FFF2-40B4-BE49-F238E27FC236}">
                <a16:creationId xmlns:a16="http://schemas.microsoft.com/office/drawing/2014/main" id="{384FA1F3-0A88-784F-4CD1-98C12A4351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844" y="4509473"/>
            <a:ext cx="1268782" cy="1021080"/>
          </a:xfrm>
          <a:prstGeom prst="rect">
            <a:avLst/>
          </a:prstGeom>
        </p:spPr>
      </p:pic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C13BE66A-8FDA-FACE-57FE-6F031D3D44A1}"/>
              </a:ext>
            </a:extLst>
          </p:cNvPr>
          <p:cNvSpPr txBox="1"/>
          <p:nvPr/>
        </p:nvSpPr>
        <p:spPr>
          <a:xfrm>
            <a:off x="9096750" y="4085234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solidFill>
                  <a:srgbClr val="FF0000"/>
                </a:solidFill>
              </a:rPr>
              <a:t>1</a:t>
            </a:r>
            <a:r>
              <a:rPr lang="ja-JP" altLang="en-US" b="1" dirty="0">
                <a:solidFill>
                  <a:srgbClr val="FF0000"/>
                </a:solidFill>
              </a:rPr>
              <a:t>列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97A1CE6B-2932-CAD9-6B8D-876C1E86DE09}"/>
              </a:ext>
            </a:extLst>
          </p:cNvPr>
          <p:cNvSpPr txBox="1"/>
          <p:nvPr/>
        </p:nvSpPr>
        <p:spPr>
          <a:xfrm rot="16200000">
            <a:off x="8799750" y="4782008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100</a:t>
            </a:r>
            <a:endParaRPr kumimoji="1" lang="ja-JP" altLang="en-US" dirty="0"/>
          </a:p>
        </p:txBody>
      </p: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029C7D84-0E33-B661-8CB0-EB35186C210C}"/>
              </a:ext>
            </a:extLst>
          </p:cNvPr>
          <p:cNvCxnSpPr>
            <a:cxnSpLocks/>
          </p:cNvCxnSpPr>
          <p:nvPr/>
        </p:nvCxnSpPr>
        <p:spPr>
          <a:xfrm>
            <a:off x="7122160" y="4632081"/>
            <a:ext cx="1503680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A9845138-912B-09B4-1454-D5EC72CA3828}"/>
              </a:ext>
            </a:extLst>
          </p:cNvPr>
          <p:cNvCxnSpPr>
            <a:cxnSpLocks/>
          </p:cNvCxnSpPr>
          <p:nvPr/>
        </p:nvCxnSpPr>
        <p:spPr>
          <a:xfrm flipH="1">
            <a:off x="7172960" y="5408649"/>
            <a:ext cx="1452880" cy="0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A3E8565-E5D5-D268-C486-220416668566}"/>
              </a:ext>
            </a:extLst>
          </p:cNvPr>
          <p:cNvSpPr/>
          <p:nvPr/>
        </p:nvSpPr>
        <p:spPr>
          <a:xfrm>
            <a:off x="2959510" y="786581"/>
            <a:ext cx="4162650" cy="15043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4310D64A-77CE-7F9B-65C0-7D2592B775A3}"/>
              </a:ext>
            </a:extLst>
          </p:cNvPr>
          <p:cNvCxnSpPr>
            <a:cxnSpLocks/>
          </p:cNvCxnSpPr>
          <p:nvPr/>
        </p:nvCxnSpPr>
        <p:spPr>
          <a:xfrm flipH="1">
            <a:off x="9368619" y="2785292"/>
            <a:ext cx="17266" cy="1306277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D6819BBC-1E2C-54AF-A0D0-3FD45B11576A}"/>
              </a:ext>
            </a:extLst>
          </p:cNvPr>
          <p:cNvCxnSpPr>
            <a:cxnSpLocks/>
          </p:cNvCxnSpPr>
          <p:nvPr/>
        </p:nvCxnSpPr>
        <p:spPr>
          <a:xfrm flipH="1">
            <a:off x="3649919" y="2803313"/>
            <a:ext cx="17266" cy="1306277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F86CD00-04CE-C7D3-17AD-E1BC4E1269ED}"/>
              </a:ext>
            </a:extLst>
          </p:cNvPr>
          <p:cNvCxnSpPr>
            <a:cxnSpLocks/>
          </p:cNvCxnSpPr>
          <p:nvPr/>
        </p:nvCxnSpPr>
        <p:spPr>
          <a:xfrm flipH="1">
            <a:off x="3667185" y="2828622"/>
            <a:ext cx="5718700" cy="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3597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四角形: 角を丸くする 82">
            <a:extLst>
              <a:ext uri="{FF2B5EF4-FFF2-40B4-BE49-F238E27FC236}">
                <a16:creationId xmlns:a16="http://schemas.microsoft.com/office/drawing/2014/main" id="{2931D8E3-1010-102A-1A1D-3DCCD14A4CC4}"/>
              </a:ext>
            </a:extLst>
          </p:cNvPr>
          <p:cNvSpPr/>
          <p:nvPr/>
        </p:nvSpPr>
        <p:spPr>
          <a:xfrm>
            <a:off x="5080036" y="4097406"/>
            <a:ext cx="284763" cy="30431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2" name="四角形: 角を丸くする 81">
            <a:extLst>
              <a:ext uri="{FF2B5EF4-FFF2-40B4-BE49-F238E27FC236}">
                <a16:creationId xmlns:a16="http://schemas.microsoft.com/office/drawing/2014/main" id="{6159628C-7EDE-D3D3-39C4-933F4D396F01}"/>
              </a:ext>
            </a:extLst>
          </p:cNvPr>
          <p:cNvSpPr/>
          <p:nvPr/>
        </p:nvSpPr>
        <p:spPr>
          <a:xfrm>
            <a:off x="2825061" y="3714656"/>
            <a:ext cx="288233" cy="109474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1" name="四角形: 角を丸くする 80">
            <a:extLst>
              <a:ext uri="{FF2B5EF4-FFF2-40B4-BE49-F238E27FC236}">
                <a16:creationId xmlns:a16="http://schemas.microsoft.com/office/drawing/2014/main" id="{C609049D-9116-5B3B-7915-C47C9B8CC7E5}"/>
              </a:ext>
            </a:extLst>
          </p:cNvPr>
          <p:cNvSpPr/>
          <p:nvPr/>
        </p:nvSpPr>
        <p:spPr>
          <a:xfrm>
            <a:off x="5083901" y="2075024"/>
            <a:ext cx="286225" cy="31579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CF53566-8FCB-EDBD-035C-4A3CE66DFF47}"/>
              </a:ext>
            </a:extLst>
          </p:cNvPr>
          <p:cNvSpPr/>
          <p:nvPr/>
        </p:nvSpPr>
        <p:spPr>
          <a:xfrm>
            <a:off x="2831006" y="1687182"/>
            <a:ext cx="288233" cy="109474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1FACEA-11A5-9BF9-5175-CC1AED56F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102" y="1760414"/>
            <a:ext cx="1268782" cy="102108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D20C35-C40D-0A13-55F0-D7E65B0BF2D6}"/>
              </a:ext>
            </a:extLst>
          </p:cNvPr>
          <p:cNvSpPr txBox="1"/>
          <p:nvPr/>
        </p:nvSpPr>
        <p:spPr>
          <a:xfrm>
            <a:off x="3127149" y="1423425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512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D4BDF03-AC14-9615-DB4A-E3767F3CDF03}"/>
              </a:ext>
            </a:extLst>
          </p:cNvPr>
          <p:cNvSpPr txBox="1"/>
          <p:nvPr/>
        </p:nvSpPr>
        <p:spPr>
          <a:xfrm rot="5400000">
            <a:off x="3979269" y="2053011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100</a:t>
            </a:r>
            <a:endParaRPr kumimoji="1" lang="ja-JP" altLang="en-US" dirty="0"/>
          </a:p>
        </p:txBody>
      </p:sp>
      <p:sp>
        <p:nvSpPr>
          <p:cNvPr id="7" name="左大かっこ 6">
            <a:extLst>
              <a:ext uri="{FF2B5EF4-FFF2-40B4-BE49-F238E27FC236}">
                <a16:creationId xmlns:a16="http://schemas.microsoft.com/office/drawing/2014/main" id="{CE76AF4A-C77E-0E07-4E46-6C220A5E27E5}"/>
              </a:ext>
            </a:extLst>
          </p:cNvPr>
          <p:cNvSpPr/>
          <p:nvPr/>
        </p:nvSpPr>
        <p:spPr>
          <a:xfrm>
            <a:off x="2789685" y="1670792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左大かっこ 7">
            <a:extLst>
              <a:ext uri="{FF2B5EF4-FFF2-40B4-BE49-F238E27FC236}">
                <a16:creationId xmlns:a16="http://schemas.microsoft.com/office/drawing/2014/main" id="{237B7485-B3AE-B7EB-8B8B-E710CFB01831}"/>
              </a:ext>
            </a:extLst>
          </p:cNvPr>
          <p:cNvSpPr/>
          <p:nvPr/>
        </p:nvSpPr>
        <p:spPr>
          <a:xfrm flipH="1">
            <a:off x="4010808" y="1686749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20783EB-FC4E-56E7-1A93-CD27EC44F697}"/>
              </a:ext>
            </a:extLst>
          </p:cNvPr>
          <p:cNvSpPr/>
          <p:nvPr/>
        </p:nvSpPr>
        <p:spPr>
          <a:xfrm>
            <a:off x="9504683" y="964896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A684E35-6579-6F15-1763-F46362FEBEFF}"/>
              </a:ext>
            </a:extLst>
          </p:cNvPr>
          <p:cNvSpPr/>
          <p:nvPr/>
        </p:nvSpPr>
        <p:spPr>
          <a:xfrm>
            <a:off x="9504682" y="1204122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4A0CD5A-B700-6010-DA56-EB4CADC60E1F}"/>
              </a:ext>
            </a:extLst>
          </p:cNvPr>
          <p:cNvSpPr/>
          <p:nvPr/>
        </p:nvSpPr>
        <p:spPr>
          <a:xfrm>
            <a:off x="9504682" y="1811610"/>
            <a:ext cx="167149" cy="1573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77946A9-7D73-57F7-2A79-D1C77ABB2BFF}"/>
              </a:ext>
            </a:extLst>
          </p:cNvPr>
          <p:cNvSpPr txBox="1"/>
          <p:nvPr/>
        </p:nvSpPr>
        <p:spPr>
          <a:xfrm rot="5400000">
            <a:off x="1558581" y="2052802"/>
            <a:ext cx="461665" cy="32316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13" name="左大かっこ 12">
            <a:extLst>
              <a:ext uri="{FF2B5EF4-FFF2-40B4-BE49-F238E27FC236}">
                <a16:creationId xmlns:a16="http://schemas.microsoft.com/office/drawing/2014/main" id="{B6EE9DAA-08A0-83E8-0CC4-B14693FEFEF5}"/>
              </a:ext>
            </a:extLst>
          </p:cNvPr>
          <p:cNvSpPr/>
          <p:nvPr/>
        </p:nvSpPr>
        <p:spPr>
          <a:xfrm rot="16200000" flipH="1">
            <a:off x="1567917" y="1539822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左大かっこ 13">
            <a:extLst>
              <a:ext uri="{FF2B5EF4-FFF2-40B4-BE49-F238E27FC236}">
                <a16:creationId xmlns:a16="http://schemas.microsoft.com/office/drawing/2014/main" id="{8130630E-37F5-3F85-98E4-1500D1503E53}"/>
              </a:ext>
            </a:extLst>
          </p:cNvPr>
          <p:cNvSpPr/>
          <p:nvPr/>
        </p:nvSpPr>
        <p:spPr>
          <a:xfrm>
            <a:off x="9366862" y="903178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FFF0FCE-D19C-8E66-5D64-4CE2D70BA67B}"/>
              </a:ext>
            </a:extLst>
          </p:cNvPr>
          <p:cNvSpPr txBox="1"/>
          <p:nvPr/>
        </p:nvSpPr>
        <p:spPr>
          <a:xfrm>
            <a:off x="741301" y="2061154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6B268C65-E706-E293-5EA9-3B2D5723B46D}"/>
              </a:ext>
            </a:extLst>
          </p:cNvPr>
          <p:cNvSpPr txBox="1"/>
          <p:nvPr/>
        </p:nvSpPr>
        <p:spPr>
          <a:xfrm>
            <a:off x="1364898" y="175840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100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D2C8A578-3BC5-B910-366B-F6731E3B344C}"/>
                  </a:ext>
                </a:extLst>
              </p:cNvPr>
              <p:cNvSpPr txBox="1"/>
              <p:nvPr/>
            </p:nvSpPr>
            <p:spPr>
              <a:xfrm>
                <a:off x="4481481" y="2075024"/>
                <a:ext cx="317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D2C8A578-3BC5-B910-366B-F6731E3B3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1481" y="2075024"/>
                <a:ext cx="317395" cy="369332"/>
              </a:xfrm>
              <a:prstGeom prst="rect">
                <a:avLst/>
              </a:prstGeom>
              <a:blipFill>
                <a:blip r:embed="rId3"/>
                <a:stretch>
                  <a:fillRect l="-7692" r="-57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1FDE3ADF-0D2F-B4D4-47A8-5C16FEF9B472}"/>
                  </a:ext>
                </a:extLst>
              </p:cNvPr>
              <p:cNvSpPr txBox="1"/>
              <p:nvPr/>
            </p:nvSpPr>
            <p:spPr>
              <a:xfrm>
                <a:off x="2320927" y="2049890"/>
                <a:ext cx="3946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e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1FDE3ADF-0D2F-B4D4-47A8-5C16FEF9B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927" y="2049890"/>
                <a:ext cx="394659" cy="369332"/>
              </a:xfrm>
              <a:prstGeom prst="rect">
                <a:avLst/>
              </a:prstGeom>
              <a:blipFill>
                <a:blip r:embed="rId4"/>
                <a:stretch>
                  <a:fillRect l="-7813" r="-468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図 23">
            <a:extLst>
              <a:ext uri="{FF2B5EF4-FFF2-40B4-BE49-F238E27FC236}">
                <a16:creationId xmlns:a16="http://schemas.microsoft.com/office/drawing/2014/main" id="{2BE93B52-554C-F11A-9DF0-FFA421CF5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1552029" y="1725496"/>
            <a:ext cx="182896" cy="1018120"/>
          </a:xfrm>
          <a:prstGeom prst="rect">
            <a:avLst/>
          </a:prstGeom>
        </p:spPr>
      </p:pic>
      <p:sp>
        <p:nvSpPr>
          <p:cNvPr id="25" name="左大かっこ 24">
            <a:extLst>
              <a:ext uri="{FF2B5EF4-FFF2-40B4-BE49-F238E27FC236}">
                <a16:creationId xmlns:a16="http://schemas.microsoft.com/office/drawing/2014/main" id="{C98AA9EE-8697-9164-DCBA-1636BF3BD2E3}"/>
              </a:ext>
            </a:extLst>
          </p:cNvPr>
          <p:cNvSpPr/>
          <p:nvPr/>
        </p:nvSpPr>
        <p:spPr>
          <a:xfrm rot="16200000">
            <a:off x="1570928" y="1795276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BC6776E-C67C-CA95-D2AC-E522A21E224F}"/>
              </a:ext>
            </a:extLst>
          </p:cNvPr>
          <p:cNvSpPr txBox="1"/>
          <p:nvPr/>
        </p:nvSpPr>
        <p:spPr>
          <a:xfrm>
            <a:off x="3127149" y="3425764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256</a:t>
            </a:r>
            <a:endParaRPr kumimoji="1" lang="ja-JP" altLang="en-US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ED38D3C-5B47-E95B-ABE7-6A3DF09F3008}"/>
              </a:ext>
            </a:extLst>
          </p:cNvPr>
          <p:cNvSpPr txBox="1"/>
          <p:nvPr/>
        </p:nvSpPr>
        <p:spPr>
          <a:xfrm rot="5400000">
            <a:off x="3979269" y="4055350"/>
            <a:ext cx="56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512</a:t>
            </a:r>
            <a:endParaRPr kumimoji="1" lang="ja-JP" altLang="en-US" dirty="0"/>
          </a:p>
        </p:txBody>
      </p:sp>
      <p:sp>
        <p:nvSpPr>
          <p:cNvPr id="29" name="左大かっこ 28">
            <a:extLst>
              <a:ext uri="{FF2B5EF4-FFF2-40B4-BE49-F238E27FC236}">
                <a16:creationId xmlns:a16="http://schemas.microsoft.com/office/drawing/2014/main" id="{851FC96C-355A-F6C9-F783-AF50E4AD9A7E}"/>
              </a:ext>
            </a:extLst>
          </p:cNvPr>
          <p:cNvSpPr/>
          <p:nvPr/>
        </p:nvSpPr>
        <p:spPr>
          <a:xfrm>
            <a:off x="2789685" y="3673131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左大かっこ 29">
            <a:extLst>
              <a:ext uri="{FF2B5EF4-FFF2-40B4-BE49-F238E27FC236}">
                <a16:creationId xmlns:a16="http://schemas.microsoft.com/office/drawing/2014/main" id="{5AA0EC2E-E248-5436-C32A-95804609273E}"/>
              </a:ext>
            </a:extLst>
          </p:cNvPr>
          <p:cNvSpPr/>
          <p:nvPr/>
        </p:nvSpPr>
        <p:spPr>
          <a:xfrm flipH="1">
            <a:off x="4010808" y="3689088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左大かっこ 31">
            <a:extLst>
              <a:ext uri="{FF2B5EF4-FFF2-40B4-BE49-F238E27FC236}">
                <a16:creationId xmlns:a16="http://schemas.microsoft.com/office/drawing/2014/main" id="{A86D6781-42F5-682C-ECCD-C091A4DA6335}"/>
              </a:ext>
            </a:extLst>
          </p:cNvPr>
          <p:cNvSpPr/>
          <p:nvPr/>
        </p:nvSpPr>
        <p:spPr>
          <a:xfrm rot="16200000" flipH="1">
            <a:off x="1567917" y="3542161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70A75855-1B1E-35B1-025D-2EB1176C8D89}"/>
              </a:ext>
            </a:extLst>
          </p:cNvPr>
          <p:cNvSpPr txBox="1"/>
          <p:nvPr/>
        </p:nvSpPr>
        <p:spPr>
          <a:xfrm>
            <a:off x="741301" y="4063493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C827947-2BB8-66EB-9150-D0172832764C}"/>
              </a:ext>
            </a:extLst>
          </p:cNvPr>
          <p:cNvSpPr txBox="1"/>
          <p:nvPr/>
        </p:nvSpPr>
        <p:spPr>
          <a:xfrm>
            <a:off x="1364898" y="3760745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512</a:t>
            </a:r>
            <a:endParaRPr kumimoji="1" lang="ja-JP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E3935014-55C5-0DC1-1368-F641BE0B2C72}"/>
                  </a:ext>
                </a:extLst>
              </p:cNvPr>
              <p:cNvSpPr txBox="1"/>
              <p:nvPr/>
            </p:nvSpPr>
            <p:spPr>
              <a:xfrm>
                <a:off x="4481481" y="4077363"/>
                <a:ext cx="3173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E3935014-55C5-0DC1-1368-F641BE0B2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1481" y="4077363"/>
                <a:ext cx="317395" cy="369332"/>
              </a:xfrm>
              <a:prstGeom prst="rect">
                <a:avLst/>
              </a:prstGeom>
              <a:blipFill>
                <a:blip r:embed="rId6"/>
                <a:stretch>
                  <a:fillRect l="-7692" r="-57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4B64707F-F2FA-21DC-4175-E36EE27D97B6}"/>
                  </a:ext>
                </a:extLst>
              </p:cNvPr>
              <p:cNvSpPr txBox="1"/>
              <p:nvPr/>
            </p:nvSpPr>
            <p:spPr>
              <a:xfrm>
                <a:off x="2320927" y="4052229"/>
                <a:ext cx="3946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e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4B64707F-F2FA-21DC-4175-E36EE27D9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927" y="4052229"/>
                <a:ext cx="394659" cy="369332"/>
              </a:xfrm>
              <a:prstGeom prst="rect">
                <a:avLst/>
              </a:prstGeom>
              <a:blipFill>
                <a:blip r:embed="rId7"/>
                <a:stretch>
                  <a:fillRect l="-7813" t="-1667" r="-468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左大かっこ 42">
            <a:extLst>
              <a:ext uri="{FF2B5EF4-FFF2-40B4-BE49-F238E27FC236}">
                <a16:creationId xmlns:a16="http://schemas.microsoft.com/office/drawing/2014/main" id="{2C8EDEF5-4B20-8919-42EA-E5CB6CCBAE4F}"/>
              </a:ext>
            </a:extLst>
          </p:cNvPr>
          <p:cNvSpPr/>
          <p:nvPr/>
        </p:nvSpPr>
        <p:spPr>
          <a:xfrm rot="16200000">
            <a:off x="1570928" y="3797615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4" name="図 43">
            <a:extLst>
              <a:ext uri="{FF2B5EF4-FFF2-40B4-BE49-F238E27FC236}">
                <a16:creationId xmlns:a16="http://schemas.microsoft.com/office/drawing/2014/main" id="{C85B3982-CB83-43BE-1FB5-CB2B49200E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9688"/>
          <a:stretch>
            <a:fillRect/>
          </a:stretch>
        </p:blipFill>
        <p:spPr>
          <a:xfrm rot="16200000">
            <a:off x="1528549" y="3726354"/>
            <a:ext cx="257719" cy="1021080"/>
          </a:xfrm>
          <a:prstGeom prst="rect">
            <a:avLst/>
          </a:prstGeom>
        </p:spPr>
      </p:pic>
      <p:pic>
        <p:nvPicPr>
          <p:cNvPr id="45" name="図 44">
            <a:extLst>
              <a:ext uri="{FF2B5EF4-FFF2-40B4-BE49-F238E27FC236}">
                <a16:creationId xmlns:a16="http://schemas.microsoft.com/office/drawing/2014/main" id="{78C8E0AD-72FD-A492-736F-6655000B1F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4102" y="3760745"/>
            <a:ext cx="1268782" cy="1021080"/>
          </a:xfrm>
          <a:prstGeom prst="rect">
            <a:avLst/>
          </a:prstGeom>
        </p:spPr>
      </p:pic>
      <p:sp>
        <p:nvSpPr>
          <p:cNvPr id="46" name="左大かっこ 45">
            <a:extLst>
              <a:ext uri="{FF2B5EF4-FFF2-40B4-BE49-F238E27FC236}">
                <a16:creationId xmlns:a16="http://schemas.microsoft.com/office/drawing/2014/main" id="{91436F0D-C4A7-2FAB-C7D7-A8133B3333EF}"/>
              </a:ext>
            </a:extLst>
          </p:cNvPr>
          <p:cNvSpPr/>
          <p:nvPr/>
        </p:nvSpPr>
        <p:spPr>
          <a:xfrm rot="16200000" flipH="1">
            <a:off x="5529120" y="1539822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9F36290F-D48A-D013-77C8-1C42D2FFDE83}"/>
              </a:ext>
            </a:extLst>
          </p:cNvPr>
          <p:cNvSpPr txBox="1"/>
          <p:nvPr/>
        </p:nvSpPr>
        <p:spPr>
          <a:xfrm>
            <a:off x="4702504" y="2061154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B2F2A2D0-DFE4-BAFC-3E44-66DA6AA823C5}"/>
              </a:ext>
            </a:extLst>
          </p:cNvPr>
          <p:cNvSpPr txBox="1"/>
          <p:nvPr/>
        </p:nvSpPr>
        <p:spPr>
          <a:xfrm>
            <a:off x="5326101" y="1758406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512</a:t>
            </a:r>
            <a:endParaRPr kumimoji="1" lang="ja-JP" altLang="en-US" dirty="0"/>
          </a:p>
        </p:txBody>
      </p:sp>
      <p:sp>
        <p:nvSpPr>
          <p:cNvPr id="49" name="左大かっこ 48">
            <a:extLst>
              <a:ext uri="{FF2B5EF4-FFF2-40B4-BE49-F238E27FC236}">
                <a16:creationId xmlns:a16="http://schemas.microsoft.com/office/drawing/2014/main" id="{D1BBBED7-207E-C1F5-3B19-414F03CA5BB5}"/>
              </a:ext>
            </a:extLst>
          </p:cNvPr>
          <p:cNvSpPr/>
          <p:nvPr/>
        </p:nvSpPr>
        <p:spPr>
          <a:xfrm rot="16200000">
            <a:off x="5532131" y="1795276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0" name="図 49">
            <a:extLst>
              <a:ext uri="{FF2B5EF4-FFF2-40B4-BE49-F238E27FC236}">
                <a16:creationId xmlns:a16="http://schemas.microsoft.com/office/drawing/2014/main" id="{2CCEBF6D-2008-8AD5-BAAF-EFFFAA5454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9688"/>
          <a:stretch>
            <a:fillRect/>
          </a:stretch>
        </p:blipFill>
        <p:spPr>
          <a:xfrm rot="16200000">
            <a:off x="5489752" y="1724015"/>
            <a:ext cx="257719" cy="1021080"/>
          </a:xfrm>
          <a:prstGeom prst="rect">
            <a:avLst/>
          </a:prstGeom>
        </p:spPr>
      </p:pic>
      <p:sp>
        <p:nvSpPr>
          <p:cNvPr id="51" name="左大かっこ 50">
            <a:extLst>
              <a:ext uri="{FF2B5EF4-FFF2-40B4-BE49-F238E27FC236}">
                <a16:creationId xmlns:a16="http://schemas.microsoft.com/office/drawing/2014/main" id="{D7B3A797-1C2E-BBB1-1FEF-CE8FBAC95D6C}"/>
              </a:ext>
            </a:extLst>
          </p:cNvPr>
          <p:cNvSpPr/>
          <p:nvPr/>
        </p:nvSpPr>
        <p:spPr>
          <a:xfrm rot="16200000" flipH="1">
            <a:off x="5525332" y="3547526"/>
            <a:ext cx="127404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3854EA97-C78B-A8CA-18CC-FBADBD720F29}"/>
              </a:ext>
            </a:extLst>
          </p:cNvPr>
          <p:cNvSpPr txBox="1"/>
          <p:nvPr/>
        </p:nvSpPr>
        <p:spPr>
          <a:xfrm>
            <a:off x="4698716" y="4068858"/>
            <a:ext cx="312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7DD5448C-CEF8-732E-0A15-AD1220C65F24}"/>
              </a:ext>
            </a:extLst>
          </p:cNvPr>
          <p:cNvSpPr txBox="1"/>
          <p:nvPr/>
        </p:nvSpPr>
        <p:spPr>
          <a:xfrm>
            <a:off x="5322313" y="376611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256</a:t>
            </a:r>
            <a:endParaRPr kumimoji="1" lang="ja-JP" altLang="en-US" dirty="0"/>
          </a:p>
        </p:txBody>
      </p:sp>
      <p:sp>
        <p:nvSpPr>
          <p:cNvPr id="54" name="左大かっこ 53">
            <a:extLst>
              <a:ext uri="{FF2B5EF4-FFF2-40B4-BE49-F238E27FC236}">
                <a16:creationId xmlns:a16="http://schemas.microsoft.com/office/drawing/2014/main" id="{138CE75D-178C-DC62-07B5-2AED144B5A43}"/>
              </a:ext>
            </a:extLst>
          </p:cNvPr>
          <p:cNvSpPr/>
          <p:nvPr/>
        </p:nvSpPr>
        <p:spPr>
          <a:xfrm rot="16200000">
            <a:off x="5528343" y="3802980"/>
            <a:ext cx="113807" cy="1145883"/>
          </a:xfrm>
          <a:prstGeom prst="lef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5FA547B-EE03-95E4-BC08-6EAF0CA9B0A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2633" t="53298" r="76230" b="28194"/>
          <a:stretch>
            <a:fillRect/>
          </a:stretch>
        </p:blipFill>
        <p:spPr>
          <a:xfrm rot="16200000">
            <a:off x="5586258" y="4150364"/>
            <a:ext cx="334981" cy="188979"/>
          </a:xfrm>
          <a:prstGeom prst="rect">
            <a:avLst/>
          </a:prstGeom>
        </p:spPr>
      </p:pic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C6E4933-B98D-E72E-0B3A-9E4934C07C8B}"/>
              </a:ext>
            </a:extLst>
          </p:cNvPr>
          <p:cNvSpPr txBox="1"/>
          <p:nvPr/>
        </p:nvSpPr>
        <p:spPr>
          <a:xfrm>
            <a:off x="1134417" y="2825703"/>
            <a:ext cx="865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Input1</a:t>
            </a:r>
            <a:endParaRPr kumimoji="1" lang="ja-JP" altLang="en-US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682AB4ED-8276-FAE4-F998-F9E934B116F6}"/>
              </a:ext>
            </a:extLst>
          </p:cNvPr>
          <p:cNvSpPr txBox="1"/>
          <p:nvPr/>
        </p:nvSpPr>
        <p:spPr>
          <a:xfrm>
            <a:off x="3003424" y="2862260"/>
            <a:ext cx="970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kernel1</a:t>
            </a:r>
            <a:endParaRPr kumimoji="1" lang="ja-JP" altLang="en-US" dirty="0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6E769A2E-FDEB-EA26-267B-CC4264F1230C}"/>
              </a:ext>
            </a:extLst>
          </p:cNvPr>
          <p:cNvSpPr txBox="1"/>
          <p:nvPr/>
        </p:nvSpPr>
        <p:spPr>
          <a:xfrm>
            <a:off x="5101899" y="2862260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output1</a:t>
            </a:r>
            <a:endParaRPr kumimoji="1" lang="ja-JP" altLang="en-US" dirty="0"/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1F956BD4-1D83-BAC4-F888-2DFE5363BA80}"/>
              </a:ext>
            </a:extLst>
          </p:cNvPr>
          <p:cNvSpPr txBox="1"/>
          <p:nvPr/>
        </p:nvSpPr>
        <p:spPr>
          <a:xfrm>
            <a:off x="883475" y="4765765"/>
            <a:ext cx="13564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/>
              <a:t>Input2</a:t>
            </a:r>
          </a:p>
          <a:p>
            <a:pPr algn="ctr"/>
            <a:r>
              <a:rPr lang="en-US" altLang="ja-JP" dirty="0"/>
              <a:t>(=output2)</a:t>
            </a:r>
            <a:endParaRPr kumimoji="1" lang="ja-JP" altLang="en-US" dirty="0"/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EB417812-A007-CD3B-F511-6AF06711E7D4}"/>
              </a:ext>
            </a:extLst>
          </p:cNvPr>
          <p:cNvSpPr txBox="1"/>
          <p:nvPr/>
        </p:nvSpPr>
        <p:spPr>
          <a:xfrm>
            <a:off x="3027476" y="4904265"/>
            <a:ext cx="970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kernel2</a:t>
            </a:r>
            <a:endParaRPr kumimoji="1" lang="ja-JP" altLang="en-US" dirty="0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73866FC7-ED48-8FBD-0C46-7A8C0D48DFE9}"/>
              </a:ext>
            </a:extLst>
          </p:cNvPr>
          <p:cNvSpPr txBox="1"/>
          <p:nvPr/>
        </p:nvSpPr>
        <p:spPr>
          <a:xfrm>
            <a:off x="5125951" y="4904265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output2</a:t>
            </a:r>
            <a:endParaRPr kumimoji="1" lang="ja-JP" altLang="en-US" dirty="0"/>
          </a:p>
        </p:txBody>
      </p:sp>
      <p:graphicFrame>
        <p:nvGraphicFramePr>
          <p:cNvPr id="73" name="表 72">
            <a:extLst>
              <a:ext uri="{FF2B5EF4-FFF2-40B4-BE49-F238E27FC236}">
                <a16:creationId xmlns:a16="http://schemas.microsoft.com/office/drawing/2014/main" id="{CD8F684C-4628-A7C4-E93C-3B089273A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734537"/>
              </p:ext>
            </p:extLst>
          </p:nvPr>
        </p:nvGraphicFramePr>
        <p:xfrm>
          <a:off x="7549790" y="2713432"/>
          <a:ext cx="504000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39092351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19814318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51232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kumimoji="1" lang="ja-JP" altLang="en-US" sz="110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100" dirty="0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1082949"/>
                  </a:ext>
                </a:extLst>
              </a:tr>
            </a:tbl>
          </a:graphicData>
        </a:graphic>
      </p:graphicFrame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A5FDCDD8-821B-2F0D-4236-F87434EACB22}"/>
              </a:ext>
            </a:extLst>
          </p:cNvPr>
          <p:cNvCxnSpPr>
            <a:cxnSpLocks/>
          </p:cNvCxnSpPr>
          <p:nvPr/>
        </p:nvCxnSpPr>
        <p:spPr>
          <a:xfrm flipV="1">
            <a:off x="7919645" y="2713432"/>
            <a:ext cx="0" cy="518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線コネクタ 74">
            <a:extLst>
              <a:ext uri="{FF2B5EF4-FFF2-40B4-BE49-F238E27FC236}">
                <a16:creationId xmlns:a16="http://schemas.microsoft.com/office/drawing/2014/main" id="{154ACDA7-2CCC-986E-BEF6-0EA6C02A5C23}"/>
              </a:ext>
            </a:extLst>
          </p:cNvPr>
          <p:cNvCxnSpPr>
            <a:cxnSpLocks/>
          </p:cNvCxnSpPr>
          <p:nvPr/>
        </p:nvCxnSpPr>
        <p:spPr>
          <a:xfrm flipV="1">
            <a:off x="7677710" y="2713432"/>
            <a:ext cx="0" cy="518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コネクタ 75">
            <a:extLst>
              <a:ext uri="{FF2B5EF4-FFF2-40B4-BE49-F238E27FC236}">
                <a16:creationId xmlns:a16="http://schemas.microsoft.com/office/drawing/2014/main" id="{0C6D73B5-301A-FEF7-4979-811826AF9643}"/>
              </a:ext>
            </a:extLst>
          </p:cNvPr>
          <p:cNvCxnSpPr>
            <a:cxnSpLocks/>
          </p:cNvCxnSpPr>
          <p:nvPr/>
        </p:nvCxnSpPr>
        <p:spPr>
          <a:xfrm flipH="1">
            <a:off x="7557109" y="3100147"/>
            <a:ext cx="49668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15A790C4-14E3-66B3-7FD9-DE49A767F662}"/>
              </a:ext>
            </a:extLst>
          </p:cNvPr>
          <p:cNvCxnSpPr>
            <a:cxnSpLocks/>
          </p:cNvCxnSpPr>
          <p:nvPr/>
        </p:nvCxnSpPr>
        <p:spPr>
          <a:xfrm flipH="1">
            <a:off x="7549790" y="2850592"/>
            <a:ext cx="49668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8" name="図 77">
            <a:extLst>
              <a:ext uri="{FF2B5EF4-FFF2-40B4-BE49-F238E27FC236}">
                <a16:creationId xmlns:a16="http://schemas.microsoft.com/office/drawing/2014/main" id="{57ABAC4A-12ED-29DB-BEB1-FD0B4E6BBE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13724" y="4151406"/>
            <a:ext cx="204887" cy="209597"/>
          </a:xfrm>
          <a:prstGeom prst="rect">
            <a:avLst/>
          </a:prstGeom>
        </p:spPr>
      </p:pic>
      <p:pic>
        <p:nvPicPr>
          <p:cNvPr id="79" name="図 78">
            <a:extLst>
              <a:ext uri="{FF2B5EF4-FFF2-40B4-BE49-F238E27FC236}">
                <a16:creationId xmlns:a16="http://schemas.microsoft.com/office/drawing/2014/main" id="{5A1A7FC5-FEFA-CDB2-FF57-C4859607BFD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32117" y="4152982"/>
            <a:ext cx="193480" cy="197928"/>
          </a:xfrm>
          <a:prstGeom prst="rect">
            <a:avLst/>
          </a:prstGeom>
        </p:spPr>
      </p:pic>
      <p:pic>
        <p:nvPicPr>
          <p:cNvPr id="80" name="図 79">
            <a:extLst>
              <a:ext uri="{FF2B5EF4-FFF2-40B4-BE49-F238E27FC236}">
                <a16:creationId xmlns:a16="http://schemas.microsoft.com/office/drawing/2014/main" id="{EFDDF643-1B17-0E4D-403F-71BA631608D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69957" y="4146795"/>
            <a:ext cx="204887" cy="209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6205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0D82F5B-0D3A-3021-743B-8903E1FF5243}"/>
              </a:ext>
            </a:extLst>
          </p:cNvPr>
          <p:cNvSpPr/>
          <p:nvPr/>
        </p:nvSpPr>
        <p:spPr>
          <a:xfrm>
            <a:off x="1517301" y="1305726"/>
            <a:ext cx="2401556" cy="44112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DE38E53-857E-F604-8C3F-A9E2115EB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045" y="1993073"/>
            <a:ext cx="907128" cy="730031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669CC37-FEE3-D0E1-0835-0BB78C4C4EA4}"/>
              </a:ext>
            </a:extLst>
          </p:cNvPr>
          <p:cNvSpPr txBox="1"/>
          <p:nvPr/>
        </p:nvSpPr>
        <p:spPr>
          <a:xfrm>
            <a:off x="1640894" y="844061"/>
            <a:ext cx="20874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重みパラメータ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Int8(Q0.7)</a:t>
            </a:r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で保存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E9C1D93-79BD-43A6-BEE4-1313324473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1045" y="2918460"/>
            <a:ext cx="907128" cy="730031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6E39949B-7144-B2D4-4CBB-6A68FA39E9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1045" y="3843848"/>
            <a:ext cx="907128" cy="730032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4B17B51-8A7D-6D76-6098-03008F32B7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9797" y="4769237"/>
            <a:ext cx="229624" cy="73003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3CEF245-D0B5-9C9F-0722-43BE94B12366}"/>
              </a:ext>
            </a:extLst>
          </p:cNvPr>
          <p:cNvSpPr txBox="1"/>
          <p:nvPr/>
        </p:nvSpPr>
        <p:spPr>
          <a:xfrm>
            <a:off x="1573493" y="2133630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net1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34FE29E-F437-9BB1-4447-8CF8B70D948F}"/>
              </a:ext>
            </a:extLst>
          </p:cNvPr>
          <p:cNvSpPr txBox="1"/>
          <p:nvPr/>
        </p:nvSpPr>
        <p:spPr>
          <a:xfrm>
            <a:off x="1557805" y="3098809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net2</a:t>
            </a:r>
            <a:endParaRPr kumimoji="1"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0BE1A27-2EA8-11C7-61FB-E454A1D1E303}"/>
              </a:ext>
            </a:extLst>
          </p:cNvPr>
          <p:cNvSpPr txBox="1"/>
          <p:nvPr/>
        </p:nvSpPr>
        <p:spPr>
          <a:xfrm>
            <a:off x="1545397" y="402419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net3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A4F807C-61D7-8784-A6F2-56ABC2FEDE33}"/>
              </a:ext>
            </a:extLst>
          </p:cNvPr>
          <p:cNvSpPr txBox="1"/>
          <p:nvPr/>
        </p:nvSpPr>
        <p:spPr>
          <a:xfrm>
            <a:off x="1573493" y="4949587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net4</a:t>
            </a:r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88D79AE-253D-77BF-A34B-B4DE6D8245D2}"/>
              </a:ext>
            </a:extLst>
          </p:cNvPr>
          <p:cNvSpPr/>
          <p:nvPr/>
        </p:nvSpPr>
        <p:spPr>
          <a:xfrm>
            <a:off x="5680862" y="1210299"/>
            <a:ext cx="4360598" cy="129266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64C3889-DA44-7A18-0A43-ADD6577A7427}"/>
              </a:ext>
            </a:extLst>
          </p:cNvPr>
          <p:cNvSpPr txBox="1"/>
          <p:nvPr/>
        </p:nvSpPr>
        <p:spPr>
          <a:xfrm>
            <a:off x="5680862" y="1302633"/>
            <a:ext cx="43605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1  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入力の生成　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z     	(Q7.8)</a:t>
            </a:r>
          </a:p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  kernel1=net*2	(Q7.8)</a:t>
            </a:r>
          </a:p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3  acc = kernel1*z    	(Q14.16)</a:t>
            </a:r>
          </a:p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4  output1 = acc/256    (Q7.8)</a:t>
            </a:r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49D02FA8-76C6-D3AC-A1A7-9A0DC35DF8DA}"/>
              </a:ext>
            </a:extLst>
          </p:cNvPr>
          <p:cNvCxnSpPr>
            <a:cxnSpLocks/>
          </p:cNvCxnSpPr>
          <p:nvPr/>
        </p:nvCxnSpPr>
        <p:spPr>
          <a:xfrm>
            <a:off x="4330840" y="1720805"/>
            <a:ext cx="126951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37DA4D3-8214-EDBF-7B6F-B53FE22829C0}"/>
              </a:ext>
            </a:extLst>
          </p:cNvPr>
          <p:cNvSpPr txBox="1"/>
          <p:nvPr/>
        </p:nvSpPr>
        <p:spPr>
          <a:xfrm>
            <a:off x="4250187" y="1351473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Q0.7</a:t>
            </a:r>
            <a:r>
              <a:rPr kumimoji="1" lang="ja-JP" altLang="en-US" dirty="0"/>
              <a:t>→</a:t>
            </a:r>
            <a:r>
              <a:rPr kumimoji="1" lang="en-US" altLang="ja-JP" dirty="0"/>
              <a:t>Q7.8</a:t>
            </a:r>
            <a:endParaRPr kumimoji="1" lang="ja-JP" altLang="en-US" dirty="0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90B1596D-459F-77DF-AC23-4EE042679603}"/>
              </a:ext>
            </a:extLst>
          </p:cNvPr>
          <p:cNvCxnSpPr>
            <a:cxnSpLocks/>
          </p:cNvCxnSpPr>
          <p:nvPr/>
        </p:nvCxnSpPr>
        <p:spPr>
          <a:xfrm>
            <a:off x="4330840" y="1720805"/>
            <a:ext cx="0" cy="49630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387C2935-9C8D-55BE-CFAC-D2DC9BF85D3C}"/>
              </a:ext>
            </a:extLst>
          </p:cNvPr>
          <p:cNvCxnSpPr>
            <a:cxnSpLocks/>
          </p:cNvCxnSpPr>
          <p:nvPr/>
        </p:nvCxnSpPr>
        <p:spPr>
          <a:xfrm flipV="1">
            <a:off x="3138173" y="2217110"/>
            <a:ext cx="1192667" cy="1510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478C48E9-79E9-DC10-DA42-D70DC0AED424}"/>
              </a:ext>
            </a:extLst>
          </p:cNvPr>
          <p:cNvSpPr/>
          <p:nvPr/>
        </p:nvSpPr>
        <p:spPr>
          <a:xfrm>
            <a:off x="5680862" y="2750295"/>
            <a:ext cx="4360598" cy="60419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6828657-1E12-129C-FE98-64604DAAD44F}"/>
              </a:ext>
            </a:extLst>
          </p:cNvPr>
          <p:cNvSpPr txBox="1"/>
          <p:nvPr/>
        </p:nvSpPr>
        <p:spPr>
          <a:xfrm>
            <a:off x="6705692" y="2918547"/>
            <a:ext cx="2190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同様の計算フロー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64E767A-6906-147E-109F-38EDF4C0FBF0}"/>
              </a:ext>
            </a:extLst>
          </p:cNvPr>
          <p:cNvCxnSpPr>
            <a:cxnSpLocks/>
          </p:cNvCxnSpPr>
          <p:nvPr/>
        </p:nvCxnSpPr>
        <p:spPr>
          <a:xfrm>
            <a:off x="3285811" y="3057150"/>
            <a:ext cx="234808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9ABCC98-7B10-2E93-3CA7-22D0433E665A}"/>
              </a:ext>
            </a:extLst>
          </p:cNvPr>
          <p:cNvSpPr txBox="1"/>
          <p:nvPr/>
        </p:nvSpPr>
        <p:spPr>
          <a:xfrm>
            <a:off x="4216645" y="2699249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Q0.7</a:t>
            </a:r>
            <a:r>
              <a:rPr kumimoji="1" lang="ja-JP" altLang="en-US" dirty="0"/>
              <a:t>→</a:t>
            </a:r>
            <a:r>
              <a:rPr kumimoji="1" lang="en-US" altLang="ja-JP" dirty="0"/>
              <a:t>Q7.8</a:t>
            </a:r>
            <a:endParaRPr kumimoji="1" lang="ja-JP" altLang="en-US" dirty="0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1E5DD0A-50B6-0CD3-FEB1-8EFFC9813D9E}"/>
              </a:ext>
            </a:extLst>
          </p:cNvPr>
          <p:cNvSpPr/>
          <p:nvPr/>
        </p:nvSpPr>
        <p:spPr>
          <a:xfrm>
            <a:off x="5680862" y="3569328"/>
            <a:ext cx="4360598" cy="5389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B2BD25D4-4BBD-5798-6660-502A2A06AB30}"/>
              </a:ext>
            </a:extLst>
          </p:cNvPr>
          <p:cNvCxnSpPr>
            <a:cxnSpLocks/>
          </p:cNvCxnSpPr>
          <p:nvPr/>
        </p:nvCxnSpPr>
        <p:spPr>
          <a:xfrm>
            <a:off x="3285811" y="3904949"/>
            <a:ext cx="234808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D88B9BD-F8A9-3AA9-6F46-86886BA0D37C}"/>
              </a:ext>
            </a:extLst>
          </p:cNvPr>
          <p:cNvSpPr txBox="1"/>
          <p:nvPr/>
        </p:nvSpPr>
        <p:spPr>
          <a:xfrm>
            <a:off x="4250187" y="3485223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Q0.7</a:t>
            </a:r>
            <a:r>
              <a:rPr kumimoji="1" lang="ja-JP" altLang="en-US" dirty="0"/>
              <a:t>→</a:t>
            </a:r>
            <a:r>
              <a:rPr kumimoji="1" lang="en-US" altLang="ja-JP" dirty="0"/>
              <a:t>Q7.8</a:t>
            </a:r>
            <a:endParaRPr kumimoji="1" lang="ja-JP" altLang="en-US" dirty="0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99E57AB6-BFA8-F5FF-79E8-B3DFA4B1F90D}"/>
              </a:ext>
            </a:extLst>
          </p:cNvPr>
          <p:cNvSpPr/>
          <p:nvPr/>
        </p:nvSpPr>
        <p:spPr>
          <a:xfrm>
            <a:off x="5633944" y="4413240"/>
            <a:ext cx="4360598" cy="1292663"/>
          </a:xfrm>
          <a:prstGeom prst="rect">
            <a:avLst/>
          </a:prstGeom>
          <a:solidFill>
            <a:srgbClr val="FFFF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D022B7AA-19C7-66A2-5459-2DF00E475BFD}"/>
              </a:ext>
            </a:extLst>
          </p:cNvPr>
          <p:cNvSpPr txBox="1"/>
          <p:nvPr/>
        </p:nvSpPr>
        <p:spPr>
          <a:xfrm>
            <a:off x="5633944" y="4505574"/>
            <a:ext cx="4360598" cy="1200329"/>
          </a:xfrm>
          <a:prstGeom prst="rect">
            <a:avLst/>
          </a:prstGeom>
          <a:solidFill>
            <a:srgbClr val="FFFFCC"/>
          </a:solidFill>
        </p:spPr>
        <p:txBody>
          <a:bodyPr wrap="square" rtlCol="0">
            <a:spAutoFit/>
          </a:bodyPr>
          <a:lstStyle/>
          <a:p>
            <a:r>
              <a:rPr lang="ja-JP" altLang="en-US" dirty="0">
                <a:solidFill>
                  <a:srgbClr val="CCD2D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1</a:t>
            </a:r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～４は省略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rgbClr val="CCD2D8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5  output4 = acc/64     	(Q5.2)</a:t>
            </a:r>
          </a:p>
          <a:p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6  picture = tanh_table	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8250233-5385-C698-8E42-E71F21129107}"/>
              </a:ext>
            </a:extLst>
          </p:cNvPr>
          <p:cNvSpPr txBox="1"/>
          <p:nvPr/>
        </p:nvSpPr>
        <p:spPr>
          <a:xfrm>
            <a:off x="6705692" y="3703752"/>
            <a:ext cx="21906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同様の計算フロー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二等辺三角形 37">
            <a:extLst>
              <a:ext uri="{FF2B5EF4-FFF2-40B4-BE49-F238E27FC236}">
                <a16:creationId xmlns:a16="http://schemas.microsoft.com/office/drawing/2014/main" id="{9CA54D2E-8B0B-C860-D1CC-922E8AB47B1C}"/>
              </a:ext>
            </a:extLst>
          </p:cNvPr>
          <p:cNvSpPr/>
          <p:nvPr/>
        </p:nvSpPr>
        <p:spPr>
          <a:xfrm rot="10800000">
            <a:off x="7706968" y="2535460"/>
            <a:ext cx="221181" cy="179616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二等辺三角形 38">
            <a:extLst>
              <a:ext uri="{FF2B5EF4-FFF2-40B4-BE49-F238E27FC236}">
                <a16:creationId xmlns:a16="http://schemas.microsoft.com/office/drawing/2014/main" id="{0622E1EB-BE48-FCAE-1B62-EF98CAD5C68C}"/>
              </a:ext>
            </a:extLst>
          </p:cNvPr>
          <p:cNvSpPr/>
          <p:nvPr/>
        </p:nvSpPr>
        <p:spPr>
          <a:xfrm rot="10800000">
            <a:off x="7706968" y="3389712"/>
            <a:ext cx="221181" cy="179616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二等辺三角形 39">
            <a:extLst>
              <a:ext uri="{FF2B5EF4-FFF2-40B4-BE49-F238E27FC236}">
                <a16:creationId xmlns:a16="http://schemas.microsoft.com/office/drawing/2014/main" id="{0BF59BC9-9D03-D257-0AF5-3D58E7C70330}"/>
              </a:ext>
            </a:extLst>
          </p:cNvPr>
          <p:cNvSpPr/>
          <p:nvPr/>
        </p:nvSpPr>
        <p:spPr>
          <a:xfrm rot="10800000">
            <a:off x="7706968" y="4143522"/>
            <a:ext cx="221181" cy="179616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2593567D-14C3-2BB5-D2CC-737AD3EBC085}"/>
              </a:ext>
            </a:extLst>
          </p:cNvPr>
          <p:cNvCxnSpPr>
            <a:cxnSpLocks/>
          </p:cNvCxnSpPr>
          <p:nvPr/>
        </p:nvCxnSpPr>
        <p:spPr>
          <a:xfrm>
            <a:off x="3252269" y="4820981"/>
            <a:ext cx="234808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C240B84-B744-9DAF-E92E-E368BDCEB63D}"/>
              </a:ext>
            </a:extLst>
          </p:cNvPr>
          <p:cNvSpPr txBox="1"/>
          <p:nvPr/>
        </p:nvSpPr>
        <p:spPr>
          <a:xfrm>
            <a:off x="4216645" y="4401255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Q0.7</a:t>
            </a:r>
            <a:r>
              <a:rPr kumimoji="1" lang="ja-JP" altLang="en-US" dirty="0"/>
              <a:t>→</a:t>
            </a:r>
            <a:r>
              <a:rPr kumimoji="1" lang="en-US" altLang="ja-JP" dirty="0"/>
              <a:t>Q7.8</a:t>
            </a:r>
            <a:endParaRPr kumimoji="1" lang="ja-JP" altLang="en-US" dirty="0"/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6381E17B-FFFB-5947-28B8-35414A3CD526}"/>
              </a:ext>
            </a:extLst>
          </p:cNvPr>
          <p:cNvCxnSpPr/>
          <p:nvPr/>
        </p:nvCxnSpPr>
        <p:spPr>
          <a:xfrm>
            <a:off x="1517301" y="1767391"/>
            <a:ext cx="24015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5C77D3C2-E85A-399F-2F2D-69734D03C50D}"/>
              </a:ext>
            </a:extLst>
          </p:cNvPr>
          <p:cNvCxnSpPr/>
          <p:nvPr/>
        </p:nvCxnSpPr>
        <p:spPr>
          <a:xfrm>
            <a:off x="1517301" y="2750295"/>
            <a:ext cx="2401556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コネクタ 46">
            <a:extLst>
              <a:ext uri="{FF2B5EF4-FFF2-40B4-BE49-F238E27FC236}">
                <a16:creationId xmlns:a16="http://schemas.microsoft.com/office/drawing/2014/main" id="{DCDC8701-CC65-3F70-038A-28FFB715958E}"/>
              </a:ext>
            </a:extLst>
          </p:cNvPr>
          <p:cNvCxnSpPr/>
          <p:nvPr/>
        </p:nvCxnSpPr>
        <p:spPr>
          <a:xfrm>
            <a:off x="1517301" y="3703752"/>
            <a:ext cx="2401556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8B54A7A5-D142-2ED4-3BF8-2246C5399458}"/>
              </a:ext>
            </a:extLst>
          </p:cNvPr>
          <p:cNvCxnSpPr/>
          <p:nvPr/>
        </p:nvCxnSpPr>
        <p:spPr>
          <a:xfrm>
            <a:off x="1517301" y="4690165"/>
            <a:ext cx="2401556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98465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60F08DA8-03B6-C48A-3876-CCB7BEF3EF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0"/>
          <a:stretch>
            <a:fillRect/>
          </a:stretch>
        </p:blipFill>
        <p:spPr>
          <a:xfrm>
            <a:off x="1333500" y="1828800"/>
            <a:ext cx="7740162" cy="35052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0EEDC2-B35B-B9AE-AAD0-486E9BCA1295}"/>
              </a:ext>
            </a:extLst>
          </p:cNvPr>
          <p:cNvSpPr txBox="1"/>
          <p:nvPr/>
        </p:nvSpPr>
        <p:spPr>
          <a:xfrm>
            <a:off x="1454080" y="182880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127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0987880-916D-8E14-A523-4B8552DC67B2}"/>
              </a:ext>
            </a:extLst>
          </p:cNvPr>
          <p:cNvSpPr txBox="1"/>
          <p:nvPr/>
        </p:nvSpPr>
        <p:spPr>
          <a:xfrm>
            <a:off x="1353091" y="4475203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-128</a:t>
            </a:r>
            <a:endParaRPr kumimoji="1" lang="ja-JP" altLang="en-US" dirty="0"/>
          </a:p>
        </p:txBody>
      </p:sp>
      <p:pic>
        <p:nvPicPr>
          <p:cNvPr id="9" name="図 8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7A079043-71A5-86CA-5135-7F164C6CAF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1" b="7077"/>
          <a:stretch>
            <a:fillRect/>
          </a:stretch>
        </p:blipFill>
        <p:spPr>
          <a:xfrm>
            <a:off x="1815821" y="1811215"/>
            <a:ext cx="7257841" cy="323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5486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20E3AA6A-7D8D-1FAB-84F0-54580892AF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5" t="8001" b="7077"/>
          <a:stretch>
            <a:fillRect/>
          </a:stretch>
        </p:blipFill>
        <p:spPr>
          <a:xfrm>
            <a:off x="2140299" y="1811215"/>
            <a:ext cx="6963508" cy="323557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53C09E7-7364-51B5-5093-EEF2ED327A7C}"/>
              </a:ext>
            </a:extLst>
          </p:cNvPr>
          <p:cNvSpPr txBox="1"/>
          <p:nvPr/>
        </p:nvSpPr>
        <p:spPr>
          <a:xfrm>
            <a:off x="5215094" y="5046785"/>
            <a:ext cx="8306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b="1" dirty="0"/>
              <a:t>input</a:t>
            </a:r>
            <a:endParaRPr kumimoji="1" lang="ja-JP" altLang="en-US" sz="2000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0815F02-6485-F687-CC42-BCD03C6520A2}"/>
              </a:ext>
            </a:extLst>
          </p:cNvPr>
          <p:cNvSpPr txBox="1"/>
          <p:nvPr/>
        </p:nvSpPr>
        <p:spPr>
          <a:xfrm rot="16200000">
            <a:off x="1549120" y="3058886"/>
            <a:ext cx="10070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b="1" dirty="0"/>
              <a:t>out</a:t>
            </a:r>
            <a:r>
              <a:rPr kumimoji="1" lang="en-US" altLang="ja-JP" sz="2000" b="1" dirty="0"/>
              <a:t>put</a:t>
            </a:r>
            <a:endParaRPr kumimoji="1" lang="ja-JP" altLang="en-US" sz="2000" b="1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D45298-7F62-39BF-50A7-AEBBF9FDA3B5}"/>
              </a:ext>
            </a:extLst>
          </p:cNvPr>
          <p:cNvSpPr txBox="1"/>
          <p:nvPr/>
        </p:nvSpPr>
        <p:spPr>
          <a:xfrm>
            <a:off x="8476712" y="4838282"/>
            <a:ext cx="627095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ja-JP" sz="2000" b="1" dirty="0"/>
              <a:t>127</a:t>
            </a:r>
            <a:endParaRPr kumimoji="1" lang="ja-JP" altLang="en-US" sz="2000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23A169D-B460-580F-3334-11418767B26B}"/>
              </a:ext>
            </a:extLst>
          </p:cNvPr>
          <p:cNvSpPr txBox="1"/>
          <p:nvPr/>
        </p:nvSpPr>
        <p:spPr>
          <a:xfrm>
            <a:off x="2157058" y="4846730"/>
            <a:ext cx="737702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ja-JP" sz="2000" b="1" dirty="0"/>
              <a:t>-128</a:t>
            </a:r>
            <a:endParaRPr kumimoji="1" lang="ja-JP" altLang="en-US" sz="2000" b="1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C88B83A-7738-700A-3F4B-719A534B0F7F}"/>
              </a:ext>
            </a:extLst>
          </p:cNvPr>
          <p:cNvSpPr txBox="1"/>
          <p:nvPr/>
        </p:nvSpPr>
        <p:spPr>
          <a:xfrm>
            <a:off x="1683772" y="4357487"/>
            <a:ext cx="737702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ja-JP" sz="2000" b="1" dirty="0"/>
              <a:t>-128</a:t>
            </a:r>
            <a:endParaRPr kumimoji="1" lang="ja-JP" altLang="en-US" sz="2000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F6D755C-98FB-44C7-3702-D3DEC0020F5A}"/>
              </a:ext>
            </a:extLst>
          </p:cNvPr>
          <p:cNvSpPr txBox="1"/>
          <p:nvPr/>
        </p:nvSpPr>
        <p:spPr>
          <a:xfrm>
            <a:off x="1794379" y="1760285"/>
            <a:ext cx="627095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ja-JP" sz="2000" b="1" dirty="0"/>
              <a:t>127</a:t>
            </a:r>
            <a:endParaRPr kumimoji="1" lang="ja-JP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600469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図 15">
            <a:extLst>
              <a:ext uri="{FF2B5EF4-FFF2-40B4-BE49-F238E27FC236}">
                <a16:creationId xmlns:a16="http://schemas.microsoft.com/office/drawing/2014/main" id="{C88578E8-66F6-8D4A-D266-34EA0E528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253" y="2966699"/>
            <a:ext cx="1223463" cy="1223463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25E9621E-96D0-B91A-613E-BE1C8613D1ED}"/>
              </a:ext>
            </a:extLst>
          </p:cNvPr>
          <p:cNvSpPr/>
          <p:nvPr/>
        </p:nvSpPr>
        <p:spPr>
          <a:xfrm>
            <a:off x="1366576" y="845229"/>
            <a:ext cx="1800000" cy="1800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scene3d>
            <a:camera prst="orthographicFront"/>
            <a:lightRig rig="threePt" dir="t"/>
          </a:scene3d>
          <a:sp3d prstMaterial="matte">
            <a:bevelT w="889000" h="1079500"/>
            <a:bevelB w="1080000" h="1079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3F78086-7C16-3738-09BC-C3446D0533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832" y="4080185"/>
            <a:ext cx="1223466" cy="1223466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D2B246D5-0643-102F-E08C-7157C18D58CC}"/>
              </a:ext>
            </a:extLst>
          </p:cNvPr>
          <p:cNvCxnSpPr/>
          <p:nvPr/>
        </p:nvCxnSpPr>
        <p:spPr>
          <a:xfrm>
            <a:off x="6798089" y="3578430"/>
            <a:ext cx="214029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27078937-79D1-4940-4243-3CC68415F6BF}"/>
              </a:ext>
            </a:extLst>
          </p:cNvPr>
          <p:cNvCxnSpPr>
            <a:cxnSpLocks/>
          </p:cNvCxnSpPr>
          <p:nvPr/>
        </p:nvCxnSpPr>
        <p:spPr>
          <a:xfrm flipV="1">
            <a:off x="6802734" y="1587640"/>
            <a:ext cx="0" cy="199079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807C950C-61FA-B1B9-AEFD-7BBE2CDCF84E}"/>
              </a:ext>
            </a:extLst>
          </p:cNvPr>
          <p:cNvCxnSpPr>
            <a:cxnSpLocks/>
          </p:cNvCxnSpPr>
          <p:nvPr/>
        </p:nvCxnSpPr>
        <p:spPr>
          <a:xfrm flipH="1">
            <a:off x="5449935" y="3578430"/>
            <a:ext cx="1348154" cy="9115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B47FEC06-1AA2-5ED3-19D8-CD860E89C1DE}"/>
              </a:ext>
            </a:extLst>
          </p:cNvPr>
          <p:cNvCxnSpPr/>
          <p:nvPr/>
        </p:nvCxnSpPr>
        <p:spPr>
          <a:xfrm flipV="1">
            <a:off x="6798089" y="2645229"/>
            <a:ext cx="919045" cy="933201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図 11">
            <a:extLst>
              <a:ext uri="{FF2B5EF4-FFF2-40B4-BE49-F238E27FC236}">
                <a16:creationId xmlns:a16="http://schemas.microsoft.com/office/drawing/2014/main" id="{E6CE417D-89D2-AD78-FBF7-FDA4BDB6C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2601" y="1602483"/>
            <a:ext cx="1223466" cy="1223466"/>
          </a:xfrm>
          <a:prstGeom prst="rect">
            <a:avLst/>
          </a:prstGeom>
        </p:spPr>
      </p:pic>
      <p:sp>
        <p:nvSpPr>
          <p:cNvPr id="13" name="楕円 12">
            <a:extLst>
              <a:ext uri="{FF2B5EF4-FFF2-40B4-BE49-F238E27FC236}">
                <a16:creationId xmlns:a16="http://schemas.microsoft.com/office/drawing/2014/main" id="{EFD405CA-95CE-57E2-0127-721074EDCD40}"/>
              </a:ext>
            </a:extLst>
          </p:cNvPr>
          <p:cNvSpPr/>
          <p:nvPr/>
        </p:nvSpPr>
        <p:spPr>
          <a:xfrm>
            <a:off x="1077203" y="2170710"/>
            <a:ext cx="1800000" cy="180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scene3d>
            <a:camera prst="orthographicFront"/>
            <a:lightRig rig="threePt" dir="t"/>
          </a:scene3d>
          <a:sp3d prstMaterial="matte">
            <a:bevelT w="889000" h="1079500"/>
            <a:bevelB w="1080000" h="1079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AAC0A378-F0FE-2961-6CBA-E385CBDCDFDE}"/>
              </a:ext>
            </a:extLst>
          </p:cNvPr>
          <p:cNvSpPr/>
          <p:nvPr/>
        </p:nvSpPr>
        <p:spPr>
          <a:xfrm>
            <a:off x="787830" y="4171283"/>
            <a:ext cx="1800000" cy="1800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scene3d>
            <a:camera prst="orthographicFront"/>
            <a:lightRig rig="threePt" dir="t"/>
          </a:scene3d>
          <a:sp3d prstMaterial="matte">
            <a:bevelT w="889000" h="1079500"/>
            <a:bevelB w="1080000" h="1079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8E9E5138-77FD-1AFD-49AC-FFF42A40F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7230" y="1531741"/>
            <a:ext cx="1294208" cy="1294208"/>
          </a:xfrm>
          <a:prstGeom prst="rect">
            <a:avLst/>
          </a:prstGeom>
        </p:spPr>
      </p:pic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F9505F86-D691-A81F-17AC-DEB327DA8779}"/>
              </a:ext>
            </a:extLst>
          </p:cNvPr>
          <p:cNvCxnSpPr>
            <a:cxnSpLocks/>
          </p:cNvCxnSpPr>
          <p:nvPr/>
        </p:nvCxnSpPr>
        <p:spPr>
          <a:xfrm flipH="1">
            <a:off x="6348992" y="3556023"/>
            <a:ext cx="441773" cy="890346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BE8A677D-DC8A-30CD-8CD7-3D0E961048D6}"/>
                  </a:ext>
                </a:extLst>
              </p:cNvPr>
              <p:cNvSpPr txBox="1"/>
              <p:nvPr/>
            </p:nvSpPr>
            <p:spPr>
              <a:xfrm>
                <a:off x="7644317" y="1963528"/>
                <a:ext cx="106003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BE8A677D-DC8A-30CD-8CD7-3D0E96104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4317" y="1963528"/>
                <a:ext cx="106003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FD18A2B-7BAF-E839-2666-E47147C7E974}"/>
                  </a:ext>
                </a:extLst>
              </p:cNvPr>
              <p:cNvSpPr txBox="1"/>
              <p:nvPr/>
            </p:nvSpPr>
            <p:spPr>
              <a:xfrm>
                <a:off x="5814839" y="4381575"/>
                <a:ext cx="106830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FD18A2B-7BAF-E839-2666-E47147C7E9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4839" y="4381575"/>
                <a:ext cx="1068306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BE144485-003A-7915-D7E6-10DD17F207BF}"/>
                  </a:ext>
                </a:extLst>
              </p:cNvPr>
              <p:cNvSpPr txBox="1"/>
              <p:nvPr/>
            </p:nvSpPr>
            <p:spPr>
              <a:xfrm>
                <a:off x="6742209" y="3469013"/>
                <a:ext cx="28187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BE144485-003A-7915-D7E6-10DD17F207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2209" y="3469013"/>
                <a:ext cx="281872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85173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1347D-1B7D-24F0-480B-C65859BD6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4">
            <a:extLst>
              <a:ext uri="{FF2B5EF4-FFF2-40B4-BE49-F238E27FC236}">
                <a16:creationId xmlns:a16="http://schemas.microsoft.com/office/drawing/2014/main" id="{43667358-4007-1A8B-1F94-4558043C8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985" y="2983852"/>
            <a:ext cx="1294208" cy="1294208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0D5A6762-57F8-F36F-20D4-E7BFD4236708}"/>
              </a:ext>
            </a:extLst>
          </p:cNvPr>
          <p:cNvSpPr/>
          <p:nvPr/>
        </p:nvSpPr>
        <p:spPr>
          <a:xfrm>
            <a:off x="1366576" y="845229"/>
            <a:ext cx="1800000" cy="1800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  <a:scene3d>
            <a:camera prst="orthographicFront"/>
            <a:lightRig rig="threePt" dir="t"/>
          </a:scene3d>
          <a:sp3d prstMaterial="matte">
            <a:bevelT w="889000" h="1079500"/>
            <a:bevelB w="1080000" h="1079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64A4950-B54C-1ADF-CC32-7F4CFDE4C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654" y="4747817"/>
            <a:ext cx="1223466" cy="1223466"/>
          </a:xfrm>
          <a:prstGeom prst="rect">
            <a:avLst/>
          </a:prstGeom>
        </p:spPr>
      </p:pic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CC29945D-A6BF-BB26-DAB6-F090D87DEB96}"/>
              </a:ext>
            </a:extLst>
          </p:cNvPr>
          <p:cNvCxnSpPr/>
          <p:nvPr/>
        </p:nvCxnSpPr>
        <p:spPr>
          <a:xfrm>
            <a:off x="6798089" y="3578430"/>
            <a:ext cx="214029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FECFD9AC-21E6-4EB5-769E-D60A0E5A0721}"/>
              </a:ext>
            </a:extLst>
          </p:cNvPr>
          <p:cNvCxnSpPr>
            <a:cxnSpLocks/>
          </p:cNvCxnSpPr>
          <p:nvPr/>
        </p:nvCxnSpPr>
        <p:spPr>
          <a:xfrm flipV="1">
            <a:off x="6802734" y="1587640"/>
            <a:ext cx="0" cy="199079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0E034153-2DF3-EB11-F1D3-A8A0C63A704B}"/>
              </a:ext>
            </a:extLst>
          </p:cNvPr>
          <p:cNvCxnSpPr>
            <a:cxnSpLocks/>
          </p:cNvCxnSpPr>
          <p:nvPr/>
        </p:nvCxnSpPr>
        <p:spPr>
          <a:xfrm flipH="1">
            <a:off x="5449935" y="3578430"/>
            <a:ext cx="1348154" cy="9115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F8469B9F-1217-1AF0-D2D0-A4DB899268FC}"/>
              </a:ext>
            </a:extLst>
          </p:cNvPr>
          <p:cNvSpPr/>
          <p:nvPr/>
        </p:nvSpPr>
        <p:spPr>
          <a:xfrm>
            <a:off x="1077203" y="2170710"/>
            <a:ext cx="1800000" cy="180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scene3d>
            <a:camera prst="orthographicFront"/>
            <a:lightRig rig="threePt" dir="t"/>
          </a:scene3d>
          <a:sp3d prstMaterial="matte">
            <a:bevelT w="889000" h="1079500"/>
            <a:bevelB w="1080000" h="1079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A1A87134-0393-2CEE-6EB1-E29E6612B010}"/>
              </a:ext>
            </a:extLst>
          </p:cNvPr>
          <p:cNvSpPr/>
          <p:nvPr/>
        </p:nvSpPr>
        <p:spPr>
          <a:xfrm>
            <a:off x="787830" y="4171283"/>
            <a:ext cx="1800000" cy="1800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scene3d>
            <a:camera prst="orthographicFront"/>
            <a:lightRig rig="threePt" dir="t"/>
          </a:scene3d>
          <a:sp3d prstMaterial="matte">
            <a:bevelT w="889000" h="1079500"/>
            <a:bevelB w="1080000" h="1079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6ABC2BF4-EE92-45E9-C63A-4C4EB117FC08}"/>
              </a:ext>
            </a:extLst>
          </p:cNvPr>
          <p:cNvCxnSpPr>
            <a:cxnSpLocks/>
          </p:cNvCxnSpPr>
          <p:nvPr/>
        </p:nvCxnSpPr>
        <p:spPr>
          <a:xfrm flipH="1">
            <a:off x="5709967" y="4192937"/>
            <a:ext cx="441773" cy="890346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E51C83ED-7917-49CF-8A7A-D43C60612FAA}"/>
                  </a:ext>
                </a:extLst>
              </p:cNvPr>
              <p:cNvSpPr txBox="1"/>
              <p:nvPr/>
            </p:nvSpPr>
            <p:spPr>
              <a:xfrm>
                <a:off x="5930853" y="2526518"/>
                <a:ext cx="2087431" cy="43088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E51C83ED-7917-49CF-8A7A-D43C60612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0853" y="2526518"/>
                <a:ext cx="2087431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799C0480-67DD-8804-3C2C-7FB19F316528}"/>
              </a:ext>
            </a:extLst>
          </p:cNvPr>
          <p:cNvCxnSpPr>
            <a:cxnSpLocks/>
          </p:cNvCxnSpPr>
          <p:nvPr/>
        </p:nvCxnSpPr>
        <p:spPr>
          <a:xfrm flipH="1">
            <a:off x="6104640" y="3525537"/>
            <a:ext cx="700526" cy="682034"/>
          </a:xfrm>
          <a:prstGeom prst="straightConnector1">
            <a:avLst/>
          </a:prstGeom>
          <a:ln w="5715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853F3257-840C-131D-009A-F37B3FF44289}"/>
                  </a:ext>
                </a:extLst>
              </p:cNvPr>
              <p:cNvSpPr txBox="1"/>
              <p:nvPr/>
            </p:nvSpPr>
            <p:spPr>
              <a:xfrm>
                <a:off x="4878866" y="5311839"/>
                <a:ext cx="2103974" cy="43088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853F3257-840C-131D-009A-F37B3FF44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8866" y="5311839"/>
                <a:ext cx="210397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楕円 9">
            <a:extLst>
              <a:ext uri="{FF2B5EF4-FFF2-40B4-BE49-F238E27FC236}">
                <a16:creationId xmlns:a16="http://schemas.microsoft.com/office/drawing/2014/main" id="{394EE709-0701-98D9-8135-A91C1D6DEEBF}"/>
              </a:ext>
            </a:extLst>
          </p:cNvPr>
          <p:cNvSpPr/>
          <p:nvPr/>
        </p:nvSpPr>
        <p:spPr>
          <a:xfrm>
            <a:off x="2936217" y="2625537"/>
            <a:ext cx="1800000" cy="180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scene3d>
            <a:camera prst="orthographicFront"/>
            <a:lightRig rig="threePt" dir="t"/>
          </a:scene3d>
          <a:sp3d prstMaterial="matte">
            <a:bevelT w="889000" h="1079500"/>
            <a:bevelB w="1080000" h="1079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3260790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5F6DEE6-C03D-5CA1-1397-7888C386524E}"/>
              </a:ext>
            </a:extLst>
          </p:cNvPr>
          <p:cNvSpPr/>
          <p:nvPr/>
        </p:nvSpPr>
        <p:spPr>
          <a:xfrm>
            <a:off x="4377178" y="2572628"/>
            <a:ext cx="874715" cy="523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1453995-6D64-FC09-0512-37B7DD77A17A}"/>
              </a:ext>
            </a:extLst>
          </p:cNvPr>
          <p:cNvSpPr/>
          <p:nvPr/>
        </p:nvSpPr>
        <p:spPr>
          <a:xfrm>
            <a:off x="6019549" y="3678129"/>
            <a:ext cx="1026488" cy="52324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/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BD32654C-9533-F2CD-5A78-BF6C7598BC7D}"/>
              </a:ext>
            </a:extLst>
          </p:cNvPr>
          <p:cNvCxnSpPr/>
          <p:nvPr/>
        </p:nvCxnSpPr>
        <p:spPr>
          <a:xfrm>
            <a:off x="3971733" y="2827762"/>
            <a:ext cx="34544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1">
                <a:extLst>
                  <a:ext uri="{FF2B5EF4-FFF2-40B4-BE49-F238E27FC236}">
                    <a16:creationId xmlns:a16="http://schemas.microsoft.com/office/drawing/2014/main" id="{FA3FC371-1C09-0C59-6667-3C6202033468}"/>
                  </a:ext>
                </a:extLst>
              </p:cNvPr>
              <p:cNvSpPr txBox="1"/>
              <p:nvPr/>
            </p:nvSpPr>
            <p:spPr>
              <a:xfrm>
                <a:off x="3313599" y="2602755"/>
                <a:ext cx="364908" cy="5102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kumimoji="1" lang="en-US" altLang="ja-JP" sz="9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kumimoji="1" lang="en-US" altLang="ja-JP" sz="90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kumimoji="1" lang="en-US" altLang="ja-JP" sz="900" b="0" i="1" smtClean="0">
                                <a:latin typeface="Cambria Math" panose="02040503050406030204" pitchFamily="18" charset="0"/>
                              </a:rPr>
                              <m:t>0.1</m:t>
                            </m:r>
                          </m:e>
                          <m:e>
                            <m:r>
                              <a:rPr lang="en-US" altLang="ja-JP" sz="900" b="0" i="1" smtClean="0">
                                <a:latin typeface="Cambria Math" panose="02040503050406030204" pitchFamily="18" charset="0"/>
                              </a:rPr>
                              <m:t>0.4</m:t>
                            </m:r>
                          </m:e>
                          <m:e>
                            <m:r>
                              <a:rPr lang="en-US" altLang="ja-JP" sz="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e>
                          <m:e>
                            <m:r>
                              <a:rPr lang="en-US" altLang="ja-JP" sz="900" b="0" i="1" smtClean="0">
                                <a:latin typeface="Cambria Math" panose="02040503050406030204" pitchFamily="18" charset="0"/>
                              </a:rPr>
                              <m:t>0.2</m:t>
                            </m:r>
                          </m:e>
                        </m:eqArr>
                      </m:e>
                    </m:d>
                  </m:oMath>
                </a14:m>
                <a:r>
                  <a:rPr kumimoji="1" lang="ja-JP" altLang="en-US" sz="900" dirty="0"/>
                  <a:t>＋</a:t>
                </a:r>
              </a:p>
            </p:txBody>
          </p:sp>
        </mc:Choice>
        <mc:Fallback>
          <p:sp>
            <p:nvSpPr>
              <p:cNvPr id="5" name="テキスト ボックス 41">
                <a:extLst>
                  <a:ext uri="{FF2B5EF4-FFF2-40B4-BE49-F238E27FC236}">
                    <a16:creationId xmlns:a16="http://schemas.microsoft.com/office/drawing/2014/main" id="{FA3FC371-1C09-0C59-6667-3C6202033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3599" y="2602755"/>
                <a:ext cx="364908" cy="510268"/>
              </a:xfrm>
              <a:prstGeom prst="rect">
                <a:avLst/>
              </a:prstGeom>
              <a:blipFill>
                <a:blip r:embed="rId2"/>
                <a:stretch>
                  <a:fillRect t="-1190" r="-22034" b="-595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テキスト ボックス 43">
            <a:extLst>
              <a:ext uri="{FF2B5EF4-FFF2-40B4-BE49-F238E27FC236}">
                <a16:creationId xmlns:a16="http://schemas.microsoft.com/office/drawing/2014/main" id="{AC595407-CF01-6A41-F16C-97A045F26ADD}"/>
              </a:ext>
            </a:extLst>
          </p:cNvPr>
          <p:cNvSpPr txBox="1"/>
          <p:nvPr/>
        </p:nvSpPr>
        <p:spPr>
          <a:xfrm>
            <a:off x="4377178" y="2618804"/>
            <a:ext cx="83548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1100" dirty="0"/>
              <a:t>Generator</a:t>
            </a:r>
          </a:p>
          <a:p>
            <a:pPr algn="ctr"/>
            <a:r>
              <a:rPr lang="en-US" altLang="ja-JP" sz="1100" dirty="0"/>
              <a:t>Network </a:t>
            </a:r>
            <a:endParaRPr kumimoji="1" lang="ja-JP" altLang="en-US" sz="1100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8849B91C-50E6-F831-6BAE-3F68ABAAFBD0}"/>
              </a:ext>
            </a:extLst>
          </p:cNvPr>
          <p:cNvCxnSpPr/>
          <p:nvPr/>
        </p:nvCxnSpPr>
        <p:spPr>
          <a:xfrm>
            <a:off x="5390273" y="2827762"/>
            <a:ext cx="3454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45">
            <a:extLst>
              <a:ext uri="{FF2B5EF4-FFF2-40B4-BE49-F238E27FC236}">
                <a16:creationId xmlns:a16="http://schemas.microsoft.com/office/drawing/2014/main" id="{16B37F13-E5F7-4C89-C902-6BD22F8E2472}"/>
              </a:ext>
            </a:extLst>
          </p:cNvPr>
          <p:cNvSpPr txBox="1"/>
          <p:nvPr/>
        </p:nvSpPr>
        <p:spPr>
          <a:xfrm>
            <a:off x="6003643" y="3724305"/>
            <a:ext cx="10583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ja-JP" sz="1100" dirty="0"/>
              <a:t>Discriminator</a:t>
            </a:r>
          </a:p>
          <a:p>
            <a:pPr algn="ctr"/>
            <a:r>
              <a:rPr lang="en-US" altLang="ja-JP" sz="1100" dirty="0"/>
              <a:t>Network </a:t>
            </a:r>
            <a:endParaRPr kumimoji="1" lang="ja-JP" altLang="en-US" sz="1100" dirty="0"/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AAED414A-A699-C6AD-B91B-4113A9C8FE25}"/>
              </a:ext>
            </a:extLst>
          </p:cNvPr>
          <p:cNvCxnSpPr/>
          <p:nvPr/>
        </p:nvCxnSpPr>
        <p:spPr>
          <a:xfrm>
            <a:off x="7114207" y="3920526"/>
            <a:ext cx="3454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47">
            <a:extLst>
              <a:ext uri="{FF2B5EF4-FFF2-40B4-BE49-F238E27FC236}">
                <a16:creationId xmlns:a16="http://schemas.microsoft.com/office/drawing/2014/main" id="{75D86FC7-CDFB-D808-1E1A-5F9ACDDD5F16}"/>
              </a:ext>
            </a:extLst>
          </p:cNvPr>
          <p:cNvSpPr txBox="1"/>
          <p:nvPr/>
        </p:nvSpPr>
        <p:spPr>
          <a:xfrm>
            <a:off x="7435378" y="3537261"/>
            <a:ext cx="1443024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ja-JP" altLang="en-US" sz="1100" dirty="0"/>
              <a:t>正解</a:t>
            </a:r>
            <a:r>
              <a:rPr kumimoji="1" lang="en-US" altLang="ja-JP" sz="1100" dirty="0"/>
              <a:t>or</a:t>
            </a:r>
            <a:r>
              <a:rPr kumimoji="1" lang="ja-JP" altLang="en-US" sz="1100" dirty="0"/>
              <a:t>偽画像</a:t>
            </a:r>
            <a:r>
              <a:rPr lang="ja-JP" altLang="en-US" sz="1100" dirty="0"/>
              <a:t>を判別</a:t>
            </a:r>
            <a:endParaRPr kumimoji="1" lang="en-US" altLang="ja-JP" sz="1100" dirty="0"/>
          </a:p>
          <a:p>
            <a:pPr algn="ctr"/>
            <a:r>
              <a:rPr kumimoji="1" lang="en-US" altLang="ja-JP" sz="1100" dirty="0"/>
              <a:t>Fa</a:t>
            </a:r>
            <a:r>
              <a:rPr lang="en-US" altLang="ja-JP" sz="1100" dirty="0"/>
              <a:t>ke  0</a:t>
            </a:r>
          </a:p>
          <a:p>
            <a:pPr algn="ctr"/>
            <a:r>
              <a:rPr kumimoji="1" lang="en-US" altLang="ja-JP" sz="1100" dirty="0"/>
              <a:t>True </a:t>
            </a:r>
            <a:r>
              <a:rPr lang="en-US" altLang="ja-JP" sz="1100" dirty="0"/>
              <a:t> 1</a:t>
            </a:r>
            <a:endParaRPr kumimoji="1" lang="ja-JP" altLang="en-US" sz="1100" dirty="0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369210B0-0AF8-9D2A-C7AC-432008515FCF}"/>
              </a:ext>
            </a:extLst>
          </p:cNvPr>
          <p:cNvCxnSpPr/>
          <p:nvPr/>
        </p:nvCxnSpPr>
        <p:spPr>
          <a:xfrm>
            <a:off x="5584572" y="3950557"/>
            <a:ext cx="34544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50">
            <a:extLst>
              <a:ext uri="{FF2B5EF4-FFF2-40B4-BE49-F238E27FC236}">
                <a16:creationId xmlns:a16="http://schemas.microsoft.com/office/drawing/2014/main" id="{23914EE3-9591-6335-65F6-A6BBD2AE91E8}"/>
              </a:ext>
            </a:extLst>
          </p:cNvPr>
          <p:cNvSpPr txBox="1"/>
          <p:nvPr/>
        </p:nvSpPr>
        <p:spPr>
          <a:xfrm>
            <a:off x="4809518" y="4243464"/>
            <a:ext cx="76495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ja-JP" altLang="en-US" sz="1100" dirty="0"/>
              <a:t>正解画像</a:t>
            </a:r>
            <a:endParaRPr kumimoji="1" lang="en-US" altLang="ja-JP" sz="1100" dirty="0"/>
          </a:p>
          <a:p>
            <a:r>
              <a:rPr lang="en-US" altLang="ja-JP" sz="1100" dirty="0"/>
              <a:t>64×64</a:t>
            </a:r>
            <a:endParaRPr kumimoji="1" lang="ja-JP" altLang="en-US" sz="1100" dirty="0"/>
          </a:p>
        </p:txBody>
      </p:sp>
      <p:sp>
        <p:nvSpPr>
          <p:cNvPr id="13" name="テキスト ボックス 52">
            <a:extLst>
              <a:ext uri="{FF2B5EF4-FFF2-40B4-BE49-F238E27FC236}">
                <a16:creationId xmlns:a16="http://schemas.microsoft.com/office/drawing/2014/main" id="{5A479281-5948-FC28-04A3-197F879E2070}"/>
              </a:ext>
            </a:extLst>
          </p:cNvPr>
          <p:cNvSpPr txBox="1"/>
          <p:nvPr/>
        </p:nvSpPr>
        <p:spPr>
          <a:xfrm>
            <a:off x="5820853" y="3114951"/>
            <a:ext cx="153279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100" dirty="0"/>
              <a:t>偽物</a:t>
            </a:r>
            <a:r>
              <a:rPr kumimoji="1" lang="ja-JP" altLang="en-US" sz="1100" dirty="0"/>
              <a:t>画像</a:t>
            </a:r>
            <a:r>
              <a:rPr kumimoji="1" lang="en-US" altLang="ja-JP" sz="1100" dirty="0"/>
              <a:t>(32×32)×4</a:t>
            </a:r>
            <a:endParaRPr kumimoji="1" lang="ja-JP" altLang="en-US" sz="1100" dirty="0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B5597227-0F56-3F67-E2C9-C4CC9ED6D9FB}"/>
              </a:ext>
            </a:extLst>
          </p:cNvPr>
          <p:cNvCxnSpPr>
            <a:cxnSpLocks/>
          </p:cNvCxnSpPr>
          <p:nvPr/>
        </p:nvCxnSpPr>
        <p:spPr>
          <a:xfrm>
            <a:off x="6462064" y="3410390"/>
            <a:ext cx="0" cy="2537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テキスト ボックス 54">
                <a:extLst>
                  <a:ext uri="{FF2B5EF4-FFF2-40B4-BE49-F238E27FC236}">
                    <a16:creationId xmlns:a16="http://schemas.microsoft.com/office/drawing/2014/main" id="{6ED98E3B-9ADF-DDC4-49FC-13619E0B36F9}"/>
                  </a:ext>
                </a:extLst>
              </p:cNvPr>
              <p:cNvSpPr txBox="1"/>
              <p:nvPr/>
            </p:nvSpPr>
            <p:spPr>
              <a:xfrm>
                <a:off x="3688160" y="2602755"/>
                <a:ext cx="283154" cy="5102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kumimoji="1" lang="en-US" altLang="ja-JP" sz="9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kumimoji="1" lang="en-US" altLang="ja-JP" sz="9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kumimoji="1" lang="en-US" altLang="ja-JP" sz="900" b="0" i="1" smtClean="0">
                                  <a:latin typeface="Cambria Math" panose="02040503050406030204" pitchFamily="18" charset="0"/>
                                </a:rPr>
                                <m:t>0.1</m:t>
                              </m:r>
                            </m:e>
                            <m:e>
                              <m:r>
                                <a:rPr lang="en-US" altLang="ja-JP" sz="900" b="0" i="1" smtClean="0">
                                  <a:latin typeface="Cambria Math" panose="02040503050406030204" pitchFamily="18" charset="0"/>
                                </a:rPr>
                                <m:t>0.4</m:t>
                              </m:r>
                            </m:e>
                            <m:e>
                              <m:r>
                                <a:rPr lang="en-US" altLang="ja-JP" sz="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ja-JP" sz="900" b="0" i="1" smtClean="0">
                                  <a:latin typeface="Cambria Math" panose="02040503050406030204" pitchFamily="18" charset="0"/>
                                </a:rPr>
                                <m:t>0.2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ja-JP" altLang="en-US" sz="900" dirty="0"/>
              </a:p>
            </p:txBody>
          </p:sp>
        </mc:Choice>
        <mc:Fallback>
          <p:sp>
            <p:nvSpPr>
              <p:cNvPr id="15" name="テキスト ボックス 54">
                <a:extLst>
                  <a:ext uri="{FF2B5EF4-FFF2-40B4-BE49-F238E27FC236}">
                    <a16:creationId xmlns:a16="http://schemas.microsoft.com/office/drawing/2014/main" id="{6ED98E3B-9ADF-DDC4-49FC-13619E0B3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8160" y="2602755"/>
                <a:ext cx="283154" cy="510268"/>
              </a:xfrm>
              <a:prstGeom prst="rect">
                <a:avLst/>
              </a:prstGeom>
              <a:blipFill>
                <a:blip r:embed="rId3"/>
                <a:stretch>
                  <a:fillRect t="-1190" b="-595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図 15">
            <a:extLst>
              <a:ext uri="{FF2B5EF4-FFF2-40B4-BE49-F238E27FC236}">
                <a16:creationId xmlns:a16="http://schemas.microsoft.com/office/drawing/2014/main" id="{68D6B69B-CC85-2392-8A4F-9D237874910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/>
          <a:stretch>
            <a:fillRect/>
          </a:stretch>
        </p:blipFill>
        <p:spPr>
          <a:xfrm>
            <a:off x="6003643" y="2183649"/>
            <a:ext cx="873651" cy="466274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788E80DD-C1D9-A231-CBC2-2958C434A4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9895" r="-2376"/>
          <a:stretch>
            <a:fillRect/>
          </a:stretch>
        </p:blipFill>
        <p:spPr>
          <a:xfrm>
            <a:off x="6003643" y="2645316"/>
            <a:ext cx="911751" cy="463608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AC0A828E-BAD2-FB68-4727-B564EFDAF0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5855" y="3450725"/>
            <a:ext cx="847138" cy="831707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C1DE1E1C-022A-4B4D-EA41-7A7BA38D65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9434" y="2952992"/>
            <a:ext cx="847138" cy="847138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B8C6F6A-415C-2820-E23F-1EE140AC9685}"/>
              </a:ext>
            </a:extLst>
          </p:cNvPr>
          <p:cNvSpPr txBox="1"/>
          <p:nvPr/>
        </p:nvSpPr>
        <p:spPr>
          <a:xfrm>
            <a:off x="3269259" y="3108924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z</a:t>
            </a:r>
            <a:endParaRPr kumimoji="1" lang="ja-JP" altLang="en-US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CC03AAB-EEAB-87D4-6859-616C11B0B8B9}"/>
              </a:ext>
            </a:extLst>
          </p:cNvPr>
          <p:cNvSpPr txBox="1"/>
          <p:nvPr/>
        </p:nvSpPr>
        <p:spPr>
          <a:xfrm>
            <a:off x="3504967" y="3133440"/>
            <a:ext cx="6864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v1~v3</a:t>
            </a:r>
            <a:endParaRPr kumimoji="1" lang="ja-JP" altLang="en-US" sz="1400" dirty="0"/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BD5B7237-5FA0-3374-B848-958A6332F6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8261" y="1928688"/>
            <a:ext cx="905559" cy="905559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4A3A934E-7B5C-0B23-9406-D4B01E02AB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36610" y="1951852"/>
            <a:ext cx="905560" cy="905560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1EED8213-249C-BF26-DDF4-78E8B2414D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8261" y="2918333"/>
            <a:ext cx="888486" cy="888486"/>
          </a:xfrm>
          <a:prstGeom prst="rect">
            <a:avLst/>
          </a:prstGeom>
        </p:spPr>
      </p:pic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EC317D9E-D318-0595-1816-0D2F532D7A35}"/>
              </a:ext>
            </a:extLst>
          </p:cNvPr>
          <p:cNvCxnSpPr/>
          <p:nvPr/>
        </p:nvCxnSpPr>
        <p:spPr>
          <a:xfrm>
            <a:off x="1930400" y="2373688"/>
            <a:ext cx="467360" cy="77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D45BC0CD-1B7B-C886-C9AE-42C7F3DAB038}"/>
              </a:ext>
            </a:extLst>
          </p:cNvPr>
          <p:cNvCxnSpPr>
            <a:cxnSpLocks/>
          </p:cNvCxnSpPr>
          <p:nvPr/>
        </p:nvCxnSpPr>
        <p:spPr>
          <a:xfrm>
            <a:off x="1799243" y="2572628"/>
            <a:ext cx="529490" cy="5938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678FA486-B621-778A-97FA-4722A0326CC6}"/>
              </a:ext>
            </a:extLst>
          </p:cNvPr>
          <p:cNvCxnSpPr>
            <a:cxnSpLocks/>
          </p:cNvCxnSpPr>
          <p:nvPr/>
        </p:nvCxnSpPr>
        <p:spPr>
          <a:xfrm>
            <a:off x="1586821" y="2602755"/>
            <a:ext cx="0" cy="563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5506EC22-9252-7681-D53F-BDD98A25A0AF}"/>
                  </a:ext>
                </a:extLst>
              </p:cNvPr>
              <p:cNvSpPr txBox="1"/>
              <p:nvPr/>
            </p:nvSpPr>
            <p:spPr>
              <a:xfrm>
                <a:off x="2391519" y="1717772"/>
                <a:ext cx="6824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5506EC22-9252-7681-D53F-BDD98A25A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1519" y="1717772"/>
                <a:ext cx="682431" cy="276999"/>
              </a:xfrm>
              <a:prstGeom prst="rect">
                <a:avLst/>
              </a:prstGeom>
              <a:blipFill>
                <a:blip r:embed="rId10"/>
                <a:stretch>
                  <a:fillRect l="-3571" r="-1786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86B47932-FEB3-748E-E8FE-B0445835890C}"/>
                  </a:ext>
                </a:extLst>
              </p:cNvPr>
              <p:cNvSpPr txBox="1"/>
              <p:nvPr/>
            </p:nvSpPr>
            <p:spPr>
              <a:xfrm>
                <a:off x="1205082" y="3751776"/>
                <a:ext cx="6877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86B47932-FEB3-748E-E8FE-B044583589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5082" y="3751776"/>
                <a:ext cx="687752" cy="276999"/>
              </a:xfrm>
              <a:prstGeom prst="rect">
                <a:avLst/>
              </a:prstGeom>
              <a:blipFill>
                <a:blip r:embed="rId11"/>
                <a:stretch>
                  <a:fillRect l="-3540" r="-1770" b="-1304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986F13B5-BE42-2DD0-F60A-B04A61B224A9}"/>
                  </a:ext>
                </a:extLst>
              </p:cNvPr>
              <p:cNvSpPr txBox="1"/>
              <p:nvPr/>
            </p:nvSpPr>
            <p:spPr>
              <a:xfrm>
                <a:off x="2331807" y="3728078"/>
                <a:ext cx="68775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986F13B5-BE42-2DD0-F60A-B04A61B22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1807" y="3728078"/>
                <a:ext cx="687752" cy="276999"/>
              </a:xfrm>
              <a:prstGeom prst="rect">
                <a:avLst/>
              </a:prstGeom>
              <a:blipFill>
                <a:blip r:embed="rId12"/>
                <a:stretch>
                  <a:fillRect l="-3571" r="-2679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864B389F-6621-B711-FAF7-2A37944B4C29}"/>
                  </a:ext>
                </a:extLst>
              </p:cNvPr>
              <p:cNvSpPr txBox="1"/>
              <p:nvPr/>
            </p:nvSpPr>
            <p:spPr>
              <a:xfrm>
                <a:off x="1495866" y="1663859"/>
                <a:ext cx="1819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864B389F-6621-B711-FAF7-2A37944B4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5866" y="1663859"/>
                <a:ext cx="181909" cy="276999"/>
              </a:xfrm>
              <a:prstGeom prst="rect">
                <a:avLst/>
              </a:prstGeom>
              <a:blipFill>
                <a:blip r:embed="rId13"/>
                <a:stretch>
                  <a:fillRect l="-16667" r="-10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7" name="図 36">
            <a:extLst>
              <a:ext uri="{FF2B5EF4-FFF2-40B4-BE49-F238E27FC236}">
                <a16:creationId xmlns:a16="http://schemas.microsoft.com/office/drawing/2014/main" id="{E14E09EE-9382-B445-06A9-39BD3FBAF46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8163" b="46422"/>
          <a:stretch>
            <a:fillRect/>
          </a:stretch>
        </p:blipFill>
        <p:spPr>
          <a:xfrm>
            <a:off x="1367256" y="2115097"/>
            <a:ext cx="439128" cy="445615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B02A3BA9-C4D4-ACDD-2A74-0DB943CB719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9323" t="190" r="-1160" b="46232"/>
          <a:stretch>
            <a:fillRect/>
          </a:stretch>
        </p:blipFill>
        <p:spPr>
          <a:xfrm>
            <a:off x="2485238" y="2163836"/>
            <a:ext cx="439128" cy="445615"/>
          </a:xfrm>
          <a:prstGeom prst="rect">
            <a:avLst/>
          </a:prstGeom>
        </p:spPr>
      </p:pic>
      <p:pic>
        <p:nvPicPr>
          <p:cNvPr id="39" name="図 38">
            <a:extLst>
              <a:ext uri="{FF2B5EF4-FFF2-40B4-BE49-F238E27FC236}">
                <a16:creationId xmlns:a16="http://schemas.microsoft.com/office/drawing/2014/main" id="{EA58FD41-79A3-E5F7-512C-06A8BFBD93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9325" t="46596" r="-1162" b="-174"/>
          <a:stretch>
            <a:fillRect/>
          </a:stretch>
        </p:blipFill>
        <p:spPr>
          <a:xfrm>
            <a:off x="2445701" y="3151495"/>
            <a:ext cx="439128" cy="445615"/>
          </a:xfrm>
          <a:prstGeom prst="rect">
            <a:avLst/>
          </a:prstGeom>
        </p:spPr>
      </p:pic>
      <p:pic>
        <p:nvPicPr>
          <p:cNvPr id="40" name="図 39">
            <a:extLst>
              <a:ext uri="{FF2B5EF4-FFF2-40B4-BE49-F238E27FC236}">
                <a16:creationId xmlns:a16="http://schemas.microsoft.com/office/drawing/2014/main" id="{65A2B885-A7E2-E1F6-5F2C-266E1D95C4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1005" t="46295" r="49168" b="127"/>
          <a:stretch>
            <a:fillRect/>
          </a:stretch>
        </p:blipFill>
        <p:spPr>
          <a:xfrm>
            <a:off x="1374923" y="3146044"/>
            <a:ext cx="439128" cy="445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670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5686</TotalTime>
  <Words>2115</Words>
  <Application>Microsoft Office PowerPoint</Application>
  <PresentationFormat>ワイド画面</PresentationFormat>
  <Paragraphs>1266</Paragraphs>
  <Slides>42</Slides>
  <Notes>10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42</vt:i4>
      </vt:variant>
    </vt:vector>
  </HeadingPairs>
  <TitlesOfParts>
    <vt:vector size="48" baseType="lpstr">
      <vt:lpstr>メイリオ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yoshihiro mitani</dc:creator>
  <cp:lastModifiedBy>yoshihiro mitani</cp:lastModifiedBy>
  <cp:revision>11</cp:revision>
  <dcterms:created xsi:type="dcterms:W3CDTF">2026-01-12T06:37:09Z</dcterms:created>
  <dcterms:modified xsi:type="dcterms:W3CDTF">2026-01-24T06:05:55Z</dcterms:modified>
</cp:coreProperties>
</file>