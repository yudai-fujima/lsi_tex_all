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D78B54C-CD55-54AA-B542-E7CCED368D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03427B31-2251-24AB-9B8B-B30B060D48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EFADD55-F368-5A5A-7B3E-F5AC3C4728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3107C6-C473-4CAA-A5BE-14DD527DB99D}" type="datetimeFigureOut">
              <a:rPr kumimoji="1" lang="ja-JP" altLang="en-US" smtClean="0"/>
              <a:t>2026/1/12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28201B6-E4D1-5388-FDDA-3D795BF0D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DBCB0E6-72C2-F70C-7A52-68C6C0F20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76E2B-9850-451F-B287-20FB03887AD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023405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876815A-7C84-6D51-B8FF-7B69F12926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77C7F1F-95A7-DCEF-9046-B038B2818B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C04D923-8FC5-83DB-9144-2B8BA84437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3107C6-C473-4CAA-A5BE-14DD527DB99D}" type="datetimeFigureOut">
              <a:rPr kumimoji="1" lang="ja-JP" altLang="en-US" smtClean="0"/>
              <a:t>2026/1/12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F076C8A-DEC8-8888-A7A2-893222551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EF21E22-D189-5A56-55DD-D87432C98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76E2B-9850-451F-B287-20FB03887AD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253851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15F0A8A-5653-D8C8-0CE1-732D3EC5AB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AD78125-89FC-E66C-6910-1CA6A25C4B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D05692B-C9A2-B57F-D57A-E915AB9D10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3107C6-C473-4CAA-A5BE-14DD527DB99D}" type="datetimeFigureOut">
              <a:rPr kumimoji="1" lang="ja-JP" altLang="en-US" smtClean="0"/>
              <a:t>2026/1/12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E7D2AB6-88D7-A5A0-FAE3-112444B14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1375F4E-8D0E-8EB8-08FB-DAC422DA7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76E2B-9850-451F-B287-20FB03887AD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37707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F85455B-A494-9F24-6915-1566EB0895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9E1A2FA-2024-6FC8-FF19-EABB463594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19AF1E7-81B2-39CF-C96F-A4991FBD5A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3A08945-4818-51BE-C403-4AE8BABFA5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3107C6-C473-4CAA-A5BE-14DD527DB99D}" type="datetimeFigureOut">
              <a:rPr kumimoji="1" lang="ja-JP" altLang="en-US" smtClean="0"/>
              <a:t>2026/1/12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426C5AD-99D0-199B-9378-A0718EC33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28CD04D-65F3-4778-EBDC-5B33ABE293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76E2B-9850-451F-B287-20FB03887AD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669304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CF6D36E-3AA9-51AE-8AD7-EC86F39851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2505301-4707-C826-2D26-438D41FD84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5E973FEB-4E9E-DE4F-A2D1-B5285A2E0C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C32007-FB72-A9DB-3C23-90FA1C709C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CAE019CF-3F54-8054-C699-5BCFEB48CF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B7510C8B-EF58-5945-DA49-1780BA8EE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3107C6-C473-4CAA-A5BE-14DD527DB99D}" type="datetimeFigureOut">
              <a:rPr kumimoji="1" lang="ja-JP" altLang="en-US" smtClean="0"/>
              <a:t>2026/1/12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4F6BABFA-5AE8-D832-399D-C05BB33A82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E2B74ADC-6397-B706-9B94-8EA1D9361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76E2B-9850-451F-B287-20FB03887AD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70779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FFF1F93-8E03-7BF9-6453-84FF5C1D50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71AE9A0A-C9B3-954D-5D01-7303646D10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3107C6-C473-4CAA-A5BE-14DD527DB99D}" type="datetimeFigureOut">
              <a:rPr kumimoji="1" lang="ja-JP" altLang="en-US" smtClean="0"/>
              <a:t>2026/1/12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64303AD3-949F-4D55-FD7F-4797A567DB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FC96A515-2CEF-6D74-9C14-0238F51CD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76E2B-9850-451F-B287-20FB03887AD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555805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6368045E-B06E-C444-0A31-C8DABF1F5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3107C6-C473-4CAA-A5BE-14DD527DB99D}" type="datetimeFigureOut">
              <a:rPr kumimoji="1" lang="ja-JP" altLang="en-US" smtClean="0"/>
              <a:t>2026/1/12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885B324F-8638-6C81-AE3E-91297EFEA1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0912193-72A5-52FA-C9A3-391B5C6B6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76E2B-9850-451F-B287-20FB03887AD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460946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1922FF4-F63D-5671-7BC6-0A3300C2C6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52FB8DF-7A98-1DAA-00DF-4B139C1152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37B605A-6FBA-74D9-8FCF-974014CF31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36234BE-123F-94AC-8122-964F11BCC0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3107C6-C473-4CAA-A5BE-14DD527DB99D}" type="datetimeFigureOut">
              <a:rPr kumimoji="1" lang="ja-JP" altLang="en-US" smtClean="0"/>
              <a:t>2026/1/12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E45F516-EC0C-EB65-060A-E5EC03E197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871477B-974E-34F3-3536-97BBF5475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76E2B-9850-451F-B287-20FB03887AD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419232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D65D649-A9AC-33E2-815D-D49DF0B2DF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7280ADD1-E447-308C-9734-D4CCBAAAF93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9D4ABF7A-5296-56E4-E09A-C353C3BD58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4C1C802-DC9B-27AA-BD4F-6D952BC7F4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3107C6-C473-4CAA-A5BE-14DD527DB99D}" type="datetimeFigureOut">
              <a:rPr kumimoji="1" lang="ja-JP" altLang="en-US" smtClean="0"/>
              <a:t>2026/1/12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F1ACAF9-25F9-B7B7-92E4-F8302F8A3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2EB2FD2-0A0C-2BCD-B87D-3CF18F108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76E2B-9850-451F-B287-20FB03887AD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83329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B67F1F0-9BBB-1F2D-AC5B-DF9AF47382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E1CF7231-172E-7F96-060D-ACC70F0F09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D17BF0C-B610-BD55-A078-6C74F38084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3107C6-C473-4CAA-A5BE-14DD527DB99D}" type="datetimeFigureOut">
              <a:rPr kumimoji="1" lang="ja-JP" altLang="en-US" smtClean="0"/>
              <a:t>2026/1/12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335B00D-7269-F68D-2C20-D7946010FD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5D1CA9B-9D1E-4990-0BC0-141DB6692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76E2B-9850-451F-B287-20FB03887AD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523749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23EDD1DD-FD94-87E7-F1D6-9A65C0B414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EC527E4F-3538-8043-F8B0-B64477EDFB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8DF9F85-A367-D360-9F18-D82893778A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3107C6-C473-4CAA-A5BE-14DD527DB99D}" type="datetimeFigureOut">
              <a:rPr kumimoji="1" lang="ja-JP" altLang="en-US" smtClean="0"/>
              <a:t>2026/1/12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DC5EF50-3890-67CA-1D4E-3A79A3E8A9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7786F13-6DCA-ACA3-1FAB-18941D4A2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76E2B-9850-451F-B287-20FB03887AD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329768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663A2140-958B-59C6-3D0A-01E8CB24F4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2CB0649-989C-2B54-20E3-84EF9129E7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F786325-2E4C-C012-D9E4-2892A7FB47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3107C6-C473-4CAA-A5BE-14DD527DB99D}" type="datetimeFigureOut">
              <a:rPr kumimoji="1" lang="ja-JP" altLang="en-US" smtClean="0"/>
              <a:t>2026/1/12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2D7958-E984-564A-A953-7A7F2E9A07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978CFB7-0A31-4DD2-4FA3-884266C330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F76E2B-9850-451F-B287-20FB03887AD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35819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8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7" Type="http://schemas.openxmlformats.org/officeDocument/2006/relationships/image" Target="../media/image5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BF7A95F-DA62-8AB7-B7CB-916927132C0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7A00DCEF-7C00-F41A-AF6B-A810BD137D8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422811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3A8F1367-A365-8828-B55C-908BCB57FE04}"/>
              </a:ext>
            </a:extLst>
          </p:cNvPr>
          <p:cNvSpPr/>
          <p:nvPr/>
        </p:nvSpPr>
        <p:spPr>
          <a:xfrm>
            <a:off x="871722" y="2788418"/>
            <a:ext cx="1165608" cy="17082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矢印: 右 2">
            <a:extLst>
              <a:ext uri="{FF2B5EF4-FFF2-40B4-BE49-F238E27FC236}">
                <a16:creationId xmlns:a16="http://schemas.microsoft.com/office/drawing/2014/main" id="{5B170448-1EB7-5E7E-52D6-7B63E09219C9}"/>
              </a:ext>
            </a:extLst>
          </p:cNvPr>
          <p:cNvSpPr/>
          <p:nvPr/>
        </p:nvSpPr>
        <p:spPr>
          <a:xfrm>
            <a:off x="2172930" y="2850969"/>
            <a:ext cx="167148" cy="45719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3B43580A-6E64-0EFE-DB68-E2083394D8F0}"/>
              </a:ext>
            </a:extLst>
          </p:cNvPr>
          <p:cNvSpPr/>
          <p:nvPr/>
        </p:nvSpPr>
        <p:spPr>
          <a:xfrm>
            <a:off x="2340078" y="2653218"/>
            <a:ext cx="709974" cy="612044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scene3d>
            <a:camera prst="isometricLeftDown">
              <a:rot lat="1200000" lon="4200000" rev="21593776"/>
            </a:camera>
            <a:lightRig rig="balanced" dir="t"/>
          </a:scene3d>
          <a:sp3d extrusionH="1270000" contourW="12700">
            <a:extrusionClr>
              <a:schemeClr val="tx2">
                <a:lumMod val="25000"/>
                <a:lumOff val="75000"/>
              </a:schemeClr>
            </a:extrusionClr>
            <a:contourClr>
              <a:schemeClr val="tx2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C6BB7FD6-19ED-57F7-CA3A-592D743AA985}"/>
              </a:ext>
            </a:extLst>
          </p:cNvPr>
          <p:cNvSpPr txBox="1"/>
          <p:nvPr/>
        </p:nvSpPr>
        <p:spPr>
          <a:xfrm>
            <a:off x="2408789" y="4044935"/>
            <a:ext cx="16979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サイズ：</a:t>
            </a:r>
            <a:r>
              <a:rPr kumimoji="1" lang="en-US" altLang="ja-JP" dirty="0"/>
              <a:t>4×</a:t>
            </a:r>
            <a:r>
              <a:rPr kumimoji="1" lang="ja-JP" altLang="en-US" dirty="0"/>
              <a:t>４</a:t>
            </a:r>
            <a:endParaRPr lang="en-US" altLang="ja-JP" dirty="0"/>
          </a:p>
          <a:p>
            <a:r>
              <a:rPr lang="ja-JP" altLang="en-US" dirty="0"/>
              <a:t>枚数　：</a:t>
            </a:r>
            <a:r>
              <a:rPr lang="en-US" altLang="ja-JP" dirty="0"/>
              <a:t>512</a:t>
            </a:r>
            <a:endParaRPr kumimoji="1" lang="ja-JP" altLang="en-US" dirty="0"/>
          </a:p>
        </p:txBody>
      </p:sp>
      <p:sp>
        <p:nvSpPr>
          <p:cNvPr id="7" name="矢印: 右 6">
            <a:extLst>
              <a:ext uri="{FF2B5EF4-FFF2-40B4-BE49-F238E27FC236}">
                <a16:creationId xmlns:a16="http://schemas.microsoft.com/office/drawing/2014/main" id="{424D5E82-E8B1-F6E6-8916-E0EB25227528}"/>
              </a:ext>
            </a:extLst>
          </p:cNvPr>
          <p:cNvSpPr/>
          <p:nvPr/>
        </p:nvSpPr>
        <p:spPr>
          <a:xfrm>
            <a:off x="4383792" y="2873828"/>
            <a:ext cx="855182" cy="85412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515F6624-D223-8C21-74D9-D3117C930885}"/>
              </a:ext>
            </a:extLst>
          </p:cNvPr>
          <p:cNvSpPr txBox="1"/>
          <p:nvPr/>
        </p:nvSpPr>
        <p:spPr>
          <a:xfrm>
            <a:off x="853239" y="3016858"/>
            <a:ext cx="12025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z 100</a:t>
            </a:r>
            <a:r>
              <a:rPr lang="ja-JP" altLang="en-US" dirty="0"/>
              <a:t>次元</a:t>
            </a:r>
            <a:endParaRPr lang="en-US" altLang="ja-JP" dirty="0"/>
          </a:p>
          <a:p>
            <a:endParaRPr kumimoji="1" lang="en-US" altLang="ja-JP" dirty="0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25C802AC-E7DF-2E42-CD72-C61DF1781B53}"/>
              </a:ext>
            </a:extLst>
          </p:cNvPr>
          <p:cNvSpPr/>
          <p:nvPr/>
        </p:nvSpPr>
        <p:spPr>
          <a:xfrm>
            <a:off x="4989152" y="2556796"/>
            <a:ext cx="1106848" cy="896346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scene3d>
            <a:camera prst="isometricLeftDown">
              <a:rot lat="1200000" lon="4200000" rev="21593776"/>
            </a:camera>
            <a:lightRig rig="balanced" dir="t"/>
          </a:scene3d>
          <a:sp3d extrusionH="1016000" contourW="12700">
            <a:extrusionClr>
              <a:schemeClr val="tx2">
                <a:lumMod val="25000"/>
                <a:lumOff val="75000"/>
              </a:schemeClr>
            </a:extrusionClr>
            <a:contourClr>
              <a:schemeClr val="tx2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885EBF76-7D54-69BE-FA7C-982872359739}"/>
              </a:ext>
            </a:extLst>
          </p:cNvPr>
          <p:cNvSpPr txBox="1"/>
          <p:nvPr/>
        </p:nvSpPr>
        <p:spPr>
          <a:xfrm>
            <a:off x="4388325" y="2527356"/>
            <a:ext cx="7745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ReLU</a:t>
            </a:r>
            <a:endParaRPr kumimoji="1" lang="ja-JP" altLang="en-US" dirty="0"/>
          </a:p>
        </p:txBody>
      </p:sp>
      <p:sp>
        <p:nvSpPr>
          <p:cNvPr id="14" name="矢印: 右 13">
            <a:extLst>
              <a:ext uri="{FF2B5EF4-FFF2-40B4-BE49-F238E27FC236}">
                <a16:creationId xmlns:a16="http://schemas.microsoft.com/office/drawing/2014/main" id="{45CF7329-4017-A7D2-7C6D-B9D767DA7D71}"/>
              </a:ext>
            </a:extLst>
          </p:cNvPr>
          <p:cNvSpPr/>
          <p:nvPr/>
        </p:nvSpPr>
        <p:spPr>
          <a:xfrm>
            <a:off x="6881359" y="2896688"/>
            <a:ext cx="855182" cy="85412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760E2621-D56B-3403-C31D-488421DE9FD5}"/>
              </a:ext>
            </a:extLst>
          </p:cNvPr>
          <p:cNvSpPr/>
          <p:nvPr/>
        </p:nvSpPr>
        <p:spPr>
          <a:xfrm>
            <a:off x="7594295" y="2304895"/>
            <a:ext cx="1106848" cy="1400148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scene3d>
            <a:camera prst="isometricLeftDown">
              <a:rot lat="1200000" lon="4200000" rev="21593776"/>
            </a:camera>
            <a:lightRig rig="balanced" dir="t"/>
          </a:scene3d>
          <a:sp3d extrusionH="381000" contourW="12700">
            <a:extrusionClr>
              <a:schemeClr val="tx2">
                <a:lumMod val="25000"/>
                <a:lumOff val="75000"/>
              </a:schemeClr>
            </a:extrusionClr>
            <a:contourClr>
              <a:schemeClr val="tx2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630F6206-7E6A-E32A-A5DA-1C16F6A4C529}"/>
              </a:ext>
            </a:extLst>
          </p:cNvPr>
          <p:cNvSpPr txBox="1"/>
          <p:nvPr/>
        </p:nvSpPr>
        <p:spPr>
          <a:xfrm>
            <a:off x="6895802" y="2570062"/>
            <a:ext cx="7745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ReLU</a:t>
            </a:r>
            <a:endParaRPr kumimoji="1" lang="ja-JP" altLang="en-US" dirty="0"/>
          </a:p>
        </p:txBody>
      </p:sp>
      <p:sp>
        <p:nvSpPr>
          <p:cNvPr id="17" name="矢印: 右 16">
            <a:extLst>
              <a:ext uri="{FF2B5EF4-FFF2-40B4-BE49-F238E27FC236}">
                <a16:creationId xmlns:a16="http://schemas.microsoft.com/office/drawing/2014/main" id="{29BAE3D5-C349-FB25-D392-66A458FCAD20}"/>
              </a:ext>
            </a:extLst>
          </p:cNvPr>
          <p:cNvSpPr/>
          <p:nvPr/>
        </p:nvSpPr>
        <p:spPr>
          <a:xfrm>
            <a:off x="8807245" y="2934528"/>
            <a:ext cx="855182" cy="85412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9009C4B7-00D8-A292-57DD-76588A3FAD5D}"/>
              </a:ext>
            </a:extLst>
          </p:cNvPr>
          <p:cNvSpPr txBox="1"/>
          <p:nvPr/>
        </p:nvSpPr>
        <p:spPr>
          <a:xfrm>
            <a:off x="8858887" y="2570062"/>
            <a:ext cx="7280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Tanh</a:t>
            </a:r>
            <a:endParaRPr kumimoji="1" lang="ja-JP" altLang="en-US" dirty="0"/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67D87F61-CAE9-5AE2-C953-8682AE65B7F5}"/>
              </a:ext>
            </a:extLst>
          </p:cNvPr>
          <p:cNvSpPr txBox="1"/>
          <p:nvPr/>
        </p:nvSpPr>
        <p:spPr>
          <a:xfrm>
            <a:off x="5162896" y="4044935"/>
            <a:ext cx="159530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サイズ：</a:t>
            </a:r>
            <a:r>
              <a:rPr kumimoji="1" lang="en-US" altLang="ja-JP" dirty="0"/>
              <a:t>8×</a:t>
            </a:r>
            <a:r>
              <a:rPr lang="en-US" altLang="ja-JP" dirty="0"/>
              <a:t>8</a:t>
            </a:r>
            <a:endParaRPr kumimoji="1" lang="en-US" altLang="ja-JP" dirty="0"/>
          </a:p>
          <a:p>
            <a:r>
              <a:rPr lang="ja-JP" altLang="en-US" dirty="0"/>
              <a:t>枚数　：</a:t>
            </a:r>
            <a:r>
              <a:rPr lang="en-US" altLang="ja-JP" dirty="0"/>
              <a:t>256</a:t>
            </a:r>
            <a:endParaRPr kumimoji="1" lang="ja-JP" altLang="en-US" dirty="0"/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AEC1D95D-C2C0-FBBA-FE3F-81F53CEAB731}"/>
              </a:ext>
            </a:extLst>
          </p:cNvPr>
          <p:cNvSpPr txBox="1"/>
          <p:nvPr/>
        </p:nvSpPr>
        <p:spPr>
          <a:xfrm>
            <a:off x="7383047" y="4044935"/>
            <a:ext cx="185178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サイズ：</a:t>
            </a:r>
            <a:r>
              <a:rPr kumimoji="1" lang="en-US" altLang="ja-JP" dirty="0"/>
              <a:t>16×16</a:t>
            </a:r>
          </a:p>
          <a:p>
            <a:r>
              <a:rPr lang="ja-JP" altLang="en-US" dirty="0"/>
              <a:t>枚数　：</a:t>
            </a:r>
            <a:r>
              <a:rPr lang="en-US" altLang="ja-JP" dirty="0"/>
              <a:t>128</a:t>
            </a:r>
            <a:endParaRPr kumimoji="1" lang="ja-JP" altLang="en-US" dirty="0"/>
          </a:p>
        </p:txBody>
      </p:sp>
      <p:graphicFrame>
        <p:nvGraphicFramePr>
          <p:cNvPr id="25" name="表 24">
            <a:extLst>
              <a:ext uri="{FF2B5EF4-FFF2-40B4-BE49-F238E27FC236}">
                <a16:creationId xmlns:a16="http://schemas.microsoft.com/office/drawing/2014/main" id="{9EA5AD3C-8FD2-7018-7BB1-DC9768D9EB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2746982"/>
              </p:ext>
            </p:extLst>
          </p:nvPr>
        </p:nvGraphicFramePr>
        <p:xfrm>
          <a:off x="1356585" y="4051515"/>
          <a:ext cx="8027716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9216">
                  <a:extLst>
                    <a:ext uri="{9D8B030D-6E8A-4147-A177-3AD203B41FA5}">
                      <a16:colId xmlns:a16="http://schemas.microsoft.com/office/drawing/2014/main" val="2895031422"/>
                    </a:ext>
                  </a:extLst>
                </a:gridCol>
                <a:gridCol w="2326918">
                  <a:extLst>
                    <a:ext uri="{9D8B030D-6E8A-4147-A177-3AD203B41FA5}">
                      <a16:colId xmlns:a16="http://schemas.microsoft.com/office/drawing/2014/main" val="2872803199"/>
                    </a:ext>
                  </a:extLst>
                </a:gridCol>
                <a:gridCol w="2289786">
                  <a:extLst>
                    <a:ext uri="{9D8B030D-6E8A-4147-A177-3AD203B41FA5}">
                      <a16:colId xmlns:a16="http://schemas.microsoft.com/office/drawing/2014/main" val="3318974129"/>
                    </a:ext>
                  </a:extLst>
                </a:gridCol>
                <a:gridCol w="2281796">
                  <a:extLst>
                    <a:ext uri="{9D8B030D-6E8A-4147-A177-3AD203B41FA5}">
                      <a16:colId xmlns:a16="http://schemas.microsoft.com/office/drawing/2014/main" val="32573840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b="0" dirty="0"/>
                        <a:t>特徴マップ１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b="0" dirty="0"/>
                        <a:t>特徴マップ２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b="0" dirty="0"/>
                        <a:t>特徴マップ３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4573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サイズ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dirty="0"/>
                        <a:t>4×</a:t>
                      </a:r>
                      <a:r>
                        <a:rPr kumimoji="1" lang="ja-JP" altLang="en-US" dirty="0"/>
                        <a:t>４</a:t>
                      </a:r>
                      <a:endParaRPr lang="en-US" altLang="ja-JP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dirty="0"/>
                        <a:t>8×</a:t>
                      </a:r>
                      <a:r>
                        <a:rPr lang="en-US" altLang="ja-JP" dirty="0"/>
                        <a:t>8</a:t>
                      </a:r>
                      <a:endParaRPr kumimoji="1" lang="en-US" altLang="ja-JP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dirty="0"/>
                        <a:t>16×16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71282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枚数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512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256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dirty="0"/>
                        <a:t>128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0065046"/>
                  </a:ext>
                </a:extLst>
              </a:tr>
            </a:tbl>
          </a:graphicData>
        </a:graphic>
      </p:graphicFrame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3E2AD45B-8678-1A75-4B2C-4D3927873E45}"/>
              </a:ext>
            </a:extLst>
          </p:cNvPr>
          <p:cNvSpPr txBox="1"/>
          <p:nvPr/>
        </p:nvSpPr>
        <p:spPr>
          <a:xfrm>
            <a:off x="10384407" y="1730747"/>
            <a:ext cx="9204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O</a:t>
            </a:r>
            <a:r>
              <a:rPr lang="en-US" altLang="ja-JP" dirty="0"/>
              <a:t>utput</a:t>
            </a:r>
            <a:endParaRPr kumimoji="1" lang="ja-JP" altLang="en-US" dirty="0"/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2A5F4567-9130-760F-BFCD-6C7AEDFE5967}"/>
              </a:ext>
            </a:extLst>
          </p:cNvPr>
          <p:cNvSpPr txBox="1"/>
          <p:nvPr/>
        </p:nvSpPr>
        <p:spPr>
          <a:xfrm>
            <a:off x="1054306" y="2424554"/>
            <a:ext cx="7377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Input</a:t>
            </a:r>
            <a:endParaRPr kumimoji="1" lang="ja-JP" altLang="en-US" dirty="0"/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D0DC5BC5-93C9-74B6-0883-84E0BEAE2968}"/>
              </a:ext>
            </a:extLst>
          </p:cNvPr>
          <p:cNvSpPr txBox="1"/>
          <p:nvPr/>
        </p:nvSpPr>
        <p:spPr>
          <a:xfrm>
            <a:off x="10257427" y="4100213"/>
            <a:ext cx="9284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32×32</a:t>
            </a:r>
          </a:p>
          <a:p>
            <a:endParaRPr kumimoji="1" lang="en-US" altLang="ja-JP" dirty="0"/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4BBA8B43-B827-A944-D84B-046E330D43AB}"/>
              </a:ext>
            </a:extLst>
          </p:cNvPr>
          <p:cNvSpPr txBox="1"/>
          <p:nvPr/>
        </p:nvSpPr>
        <p:spPr>
          <a:xfrm>
            <a:off x="1668745" y="1484591"/>
            <a:ext cx="1816523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ja-JP" b="1" dirty="0"/>
              <a:t>Deconv 1</a:t>
            </a:r>
            <a:endParaRPr lang="en-US" altLang="ja-JP" dirty="0"/>
          </a:p>
          <a:p>
            <a:pPr algn="ctr"/>
            <a:r>
              <a:rPr lang="en-US" altLang="ja-JP" sz="1600" dirty="0"/>
              <a:t>(s</a:t>
            </a:r>
            <a:r>
              <a:rPr kumimoji="1" lang="en-US" altLang="ja-JP" sz="1600" dirty="0"/>
              <a:t>tride=1 pad=0)</a:t>
            </a:r>
            <a:endParaRPr kumimoji="1" lang="ja-JP" altLang="en-US" sz="1600" dirty="0"/>
          </a:p>
        </p:txBody>
      </p:sp>
      <p:pic>
        <p:nvPicPr>
          <p:cNvPr id="34" name="図 33" descr="QR コード&#10;&#10;AI 生成コンテンツは誤りを含む可能性があります。">
            <a:extLst>
              <a:ext uri="{FF2B5EF4-FFF2-40B4-BE49-F238E27FC236}">
                <a16:creationId xmlns:a16="http://schemas.microsoft.com/office/drawing/2014/main" id="{311D6F4A-4CE9-39E4-8748-9A80CE20D7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2663" y="2255226"/>
            <a:ext cx="1697989" cy="1741528"/>
          </a:xfrm>
          <a:prstGeom prst="rect">
            <a:avLst/>
          </a:prstGeom>
          <a:scene3d>
            <a:camera prst="isometricLeftDown"/>
            <a:lightRig rig="threePt" dir="t"/>
          </a:scene3d>
        </p:spPr>
      </p:pic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AFE82E14-0DD7-E12F-7999-DD372FC00603}"/>
              </a:ext>
            </a:extLst>
          </p:cNvPr>
          <p:cNvSpPr txBox="1"/>
          <p:nvPr/>
        </p:nvSpPr>
        <p:spPr>
          <a:xfrm>
            <a:off x="3951110" y="1484526"/>
            <a:ext cx="1816523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ja-JP" b="1" dirty="0"/>
              <a:t>Deconv 2</a:t>
            </a:r>
            <a:endParaRPr lang="en-US" altLang="ja-JP" dirty="0"/>
          </a:p>
          <a:p>
            <a:pPr algn="ctr"/>
            <a:r>
              <a:rPr lang="en-US" altLang="ja-JP" sz="1600" dirty="0"/>
              <a:t>(s</a:t>
            </a:r>
            <a:r>
              <a:rPr kumimoji="1" lang="en-US" altLang="ja-JP" sz="1600" dirty="0"/>
              <a:t>tride=2 pad=1)</a:t>
            </a:r>
            <a:endParaRPr kumimoji="1" lang="ja-JP" altLang="en-US" sz="1600" dirty="0"/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B474BE01-42D2-4851-F046-2935D375BF78}"/>
              </a:ext>
            </a:extLst>
          </p:cNvPr>
          <p:cNvSpPr txBox="1"/>
          <p:nvPr/>
        </p:nvSpPr>
        <p:spPr>
          <a:xfrm>
            <a:off x="6233475" y="1484527"/>
            <a:ext cx="1816523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ja-JP" b="1" dirty="0"/>
              <a:t>Deconv 3</a:t>
            </a:r>
            <a:endParaRPr lang="en-US" altLang="ja-JP" dirty="0"/>
          </a:p>
          <a:p>
            <a:pPr algn="ctr"/>
            <a:r>
              <a:rPr lang="en-US" altLang="ja-JP" sz="1600" dirty="0"/>
              <a:t>(s</a:t>
            </a:r>
            <a:r>
              <a:rPr kumimoji="1" lang="en-US" altLang="ja-JP" sz="1600" dirty="0"/>
              <a:t>tride=2 pad=1)</a:t>
            </a:r>
            <a:endParaRPr kumimoji="1" lang="ja-JP" altLang="en-US" sz="1600" dirty="0"/>
          </a:p>
        </p:txBody>
      </p: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607D4C96-1B12-B2A9-6703-283C09CD637B}"/>
              </a:ext>
            </a:extLst>
          </p:cNvPr>
          <p:cNvSpPr txBox="1"/>
          <p:nvPr/>
        </p:nvSpPr>
        <p:spPr>
          <a:xfrm>
            <a:off x="8308941" y="1484528"/>
            <a:ext cx="1816523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ja-JP" b="1" dirty="0"/>
              <a:t>Deconv 4</a:t>
            </a:r>
            <a:endParaRPr lang="en-US" altLang="ja-JP" dirty="0"/>
          </a:p>
          <a:p>
            <a:pPr algn="ctr"/>
            <a:r>
              <a:rPr lang="en-US" altLang="ja-JP" sz="1600" dirty="0"/>
              <a:t>(s</a:t>
            </a:r>
            <a:r>
              <a:rPr kumimoji="1" lang="en-US" altLang="ja-JP" sz="1600" dirty="0"/>
              <a:t>tride=2 pad=1)</a:t>
            </a:r>
            <a:endParaRPr kumimoji="1" lang="ja-JP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8469992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 descr="QR コード&#10;&#10;AI 生成コンテンツは誤りを含む可能性があります。">
            <a:extLst>
              <a:ext uri="{FF2B5EF4-FFF2-40B4-BE49-F238E27FC236}">
                <a16:creationId xmlns:a16="http://schemas.microsoft.com/office/drawing/2014/main" id="{6B62E619-7B33-C290-83B1-F2213C39F9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073" y="2560203"/>
            <a:ext cx="1312121" cy="1345766"/>
          </a:xfrm>
          <a:prstGeom prst="rect">
            <a:avLst/>
          </a:prstGeom>
          <a:scene3d>
            <a:camera prst="isometricLeftDown"/>
            <a:lightRig rig="threePt" dir="t"/>
          </a:scene3d>
        </p:spPr>
      </p:pic>
      <p:sp>
        <p:nvSpPr>
          <p:cNvPr id="3" name="矢印: 右 2">
            <a:extLst>
              <a:ext uri="{FF2B5EF4-FFF2-40B4-BE49-F238E27FC236}">
                <a16:creationId xmlns:a16="http://schemas.microsoft.com/office/drawing/2014/main" id="{14D7A410-1F84-544C-FECD-1FA3EC826F02}"/>
              </a:ext>
            </a:extLst>
          </p:cNvPr>
          <p:cNvSpPr/>
          <p:nvPr/>
        </p:nvSpPr>
        <p:spPr>
          <a:xfrm flipV="1">
            <a:off x="1382980" y="3250708"/>
            <a:ext cx="310014" cy="45719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DB8677D4-CEB1-C0A0-6561-119EC51E8A30}"/>
              </a:ext>
            </a:extLst>
          </p:cNvPr>
          <p:cNvSpPr txBox="1"/>
          <p:nvPr/>
        </p:nvSpPr>
        <p:spPr>
          <a:xfrm>
            <a:off x="767404" y="1753405"/>
            <a:ext cx="1816523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ja-JP" b="1" dirty="0"/>
              <a:t>conv 1</a:t>
            </a:r>
            <a:endParaRPr lang="en-US" altLang="ja-JP" dirty="0"/>
          </a:p>
          <a:p>
            <a:pPr algn="ctr"/>
            <a:r>
              <a:rPr lang="en-US" altLang="ja-JP" sz="1600" dirty="0"/>
              <a:t>(s</a:t>
            </a:r>
            <a:r>
              <a:rPr kumimoji="1" lang="en-US" altLang="ja-JP" sz="1600" dirty="0"/>
              <a:t>tride=2 pad=1)</a:t>
            </a:r>
            <a:endParaRPr kumimoji="1" lang="ja-JP" altLang="en-US" sz="1600" dirty="0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DCF37664-D169-0BFB-256D-529A6A2BE249}"/>
              </a:ext>
            </a:extLst>
          </p:cNvPr>
          <p:cNvSpPr/>
          <p:nvPr/>
        </p:nvSpPr>
        <p:spPr>
          <a:xfrm>
            <a:off x="1431880" y="2560203"/>
            <a:ext cx="1106848" cy="1400148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scene3d>
            <a:camera prst="isometricLeftDown">
              <a:rot lat="1200000" lon="4200000" rev="21593776"/>
            </a:camera>
            <a:lightRig rig="balanced" dir="t"/>
          </a:scene3d>
          <a:sp3d extrusionH="381000" contourW="12700">
            <a:extrusionClr>
              <a:schemeClr val="tx2">
                <a:lumMod val="25000"/>
                <a:lumOff val="75000"/>
              </a:schemeClr>
            </a:extrusionClr>
            <a:contourClr>
              <a:schemeClr val="tx2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211EABB1-ACD0-185C-F95E-AFC1FFFD0093}"/>
              </a:ext>
            </a:extLst>
          </p:cNvPr>
          <p:cNvSpPr/>
          <p:nvPr/>
        </p:nvSpPr>
        <p:spPr>
          <a:xfrm>
            <a:off x="3657988" y="2944421"/>
            <a:ext cx="1106848" cy="896346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scene3d>
            <a:camera prst="isometricLeftDown">
              <a:rot lat="1200000" lon="4200000" rev="21593776"/>
            </a:camera>
            <a:lightRig rig="balanced" dir="t"/>
          </a:scene3d>
          <a:sp3d extrusionH="1016000" contourW="12700">
            <a:extrusionClr>
              <a:schemeClr val="tx2">
                <a:lumMod val="25000"/>
                <a:lumOff val="75000"/>
              </a:schemeClr>
            </a:extrusionClr>
            <a:contourClr>
              <a:schemeClr val="tx2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7" name="矢印: 右 6">
            <a:extLst>
              <a:ext uri="{FF2B5EF4-FFF2-40B4-BE49-F238E27FC236}">
                <a16:creationId xmlns:a16="http://schemas.microsoft.com/office/drawing/2014/main" id="{D59D48CB-6829-AC95-AF29-B7A6DAEBA6B5}"/>
              </a:ext>
            </a:extLst>
          </p:cNvPr>
          <p:cNvSpPr/>
          <p:nvPr/>
        </p:nvSpPr>
        <p:spPr>
          <a:xfrm>
            <a:off x="2651948" y="3214558"/>
            <a:ext cx="1153934" cy="81869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B7687BD4-6785-5CA9-CFDF-9339222E4ED5}"/>
              </a:ext>
            </a:extLst>
          </p:cNvPr>
          <p:cNvSpPr txBox="1"/>
          <p:nvPr/>
        </p:nvSpPr>
        <p:spPr>
          <a:xfrm>
            <a:off x="2639933" y="1753404"/>
            <a:ext cx="1816523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ja-JP" b="1" dirty="0"/>
              <a:t>conv 2</a:t>
            </a:r>
            <a:endParaRPr lang="en-US" altLang="ja-JP" dirty="0"/>
          </a:p>
          <a:p>
            <a:pPr algn="ctr"/>
            <a:r>
              <a:rPr lang="en-US" altLang="ja-JP" sz="1600" dirty="0"/>
              <a:t>(s</a:t>
            </a:r>
            <a:r>
              <a:rPr kumimoji="1" lang="en-US" altLang="ja-JP" sz="1600" dirty="0"/>
              <a:t>tride=2 pad=1)</a:t>
            </a:r>
            <a:endParaRPr kumimoji="1" lang="ja-JP" altLang="en-US" sz="1600" dirty="0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F09F0351-C7DE-ED4F-97B9-000B73ABF321}"/>
              </a:ext>
            </a:extLst>
          </p:cNvPr>
          <p:cNvSpPr/>
          <p:nvPr/>
        </p:nvSpPr>
        <p:spPr>
          <a:xfrm>
            <a:off x="6480299" y="3011593"/>
            <a:ext cx="709974" cy="612044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scene3d>
            <a:camera prst="isometricLeftDown">
              <a:rot lat="1200000" lon="4200000" rev="21593776"/>
            </a:camera>
            <a:lightRig rig="balanced" dir="t"/>
          </a:scene3d>
          <a:sp3d extrusionH="1270000" contourW="12700">
            <a:extrusionClr>
              <a:schemeClr val="tx2">
                <a:lumMod val="25000"/>
                <a:lumOff val="75000"/>
              </a:schemeClr>
            </a:extrusionClr>
            <a:contourClr>
              <a:schemeClr val="tx2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1" name="矢印: 右 10">
            <a:extLst>
              <a:ext uri="{FF2B5EF4-FFF2-40B4-BE49-F238E27FC236}">
                <a16:creationId xmlns:a16="http://schemas.microsoft.com/office/drawing/2014/main" id="{F9B376DF-8E10-05CF-BAB9-CDFA06D4C06C}"/>
              </a:ext>
            </a:extLst>
          </p:cNvPr>
          <p:cNvSpPr/>
          <p:nvPr/>
        </p:nvSpPr>
        <p:spPr>
          <a:xfrm>
            <a:off x="8217694" y="3240595"/>
            <a:ext cx="1378903" cy="63761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F5348D35-FFBC-EA63-B86B-4216D3ED5027}"/>
              </a:ext>
            </a:extLst>
          </p:cNvPr>
          <p:cNvSpPr txBox="1"/>
          <p:nvPr/>
        </p:nvSpPr>
        <p:spPr>
          <a:xfrm>
            <a:off x="8242376" y="2884461"/>
            <a:ext cx="139012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600" b="1" dirty="0"/>
              <a:t>Leaky ReLU</a:t>
            </a:r>
            <a:endParaRPr kumimoji="1" lang="ja-JP" altLang="en-US" sz="1600" dirty="0"/>
          </a:p>
        </p:txBody>
      </p:sp>
      <p:sp>
        <p:nvSpPr>
          <p:cNvPr id="15" name="矢印: 右 14">
            <a:extLst>
              <a:ext uri="{FF2B5EF4-FFF2-40B4-BE49-F238E27FC236}">
                <a16:creationId xmlns:a16="http://schemas.microsoft.com/office/drawing/2014/main" id="{7F9AFB4E-0C43-FA71-F71F-64E3F0CFC099}"/>
              </a:ext>
            </a:extLst>
          </p:cNvPr>
          <p:cNvSpPr/>
          <p:nvPr/>
        </p:nvSpPr>
        <p:spPr>
          <a:xfrm>
            <a:off x="5476681" y="3199661"/>
            <a:ext cx="1153934" cy="81869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94B51946-6778-7C9A-E00F-29BAA071A150}"/>
              </a:ext>
            </a:extLst>
          </p:cNvPr>
          <p:cNvSpPr txBox="1"/>
          <p:nvPr/>
        </p:nvSpPr>
        <p:spPr>
          <a:xfrm>
            <a:off x="2633885" y="2861107"/>
            <a:ext cx="139012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600" b="1" dirty="0"/>
              <a:t>Leaky ReLU</a:t>
            </a:r>
            <a:endParaRPr kumimoji="1" lang="ja-JP" altLang="en-US" sz="1600" dirty="0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870A0B6B-9F89-C74D-E3E6-8F8DC58806E6}"/>
              </a:ext>
            </a:extLst>
          </p:cNvPr>
          <p:cNvSpPr txBox="1"/>
          <p:nvPr/>
        </p:nvSpPr>
        <p:spPr>
          <a:xfrm>
            <a:off x="5358586" y="2842316"/>
            <a:ext cx="139012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600" b="1" dirty="0"/>
              <a:t>Leaky ReLU</a:t>
            </a:r>
            <a:endParaRPr kumimoji="1" lang="ja-JP" altLang="en-US" sz="1600" dirty="0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FEA3E619-12F8-C7D5-2628-6F3821407360}"/>
              </a:ext>
            </a:extLst>
          </p:cNvPr>
          <p:cNvSpPr txBox="1"/>
          <p:nvPr/>
        </p:nvSpPr>
        <p:spPr>
          <a:xfrm>
            <a:off x="5340355" y="3370471"/>
            <a:ext cx="13789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600" b="1" dirty="0"/>
              <a:t>Batch Norm</a:t>
            </a: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956CC4FF-C3F3-64FB-E418-ADE30000AE93}"/>
              </a:ext>
            </a:extLst>
          </p:cNvPr>
          <p:cNvSpPr txBox="1"/>
          <p:nvPr/>
        </p:nvSpPr>
        <p:spPr>
          <a:xfrm>
            <a:off x="2630566" y="3350937"/>
            <a:ext cx="13789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600" b="1" dirty="0"/>
              <a:t>Batch Norm</a:t>
            </a: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7AAAC453-1298-F54E-8EE9-6EC830968013}"/>
              </a:ext>
            </a:extLst>
          </p:cNvPr>
          <p:cNvSpPr txBox="1"/>
          <p:nvPr/>
        </p:nvSpPr>
        <p:spPr>
          <a:xfrm>
            <a:off x="8244941" y="3304356"/>
            <a:ext cx="13789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600" b="1" dirty="0"/>
              <a:t>Batch Norm</a:t>
            </a: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07DB3314-29C9-1B54-F4C9-540963AF7823}"/>
              </a:ext>
            </a:extLst>
          </p:cNvPr>
          <p:cNvSpPr/>
          <p:nvPr/>
        </p:nvSpPr>
        <p:spPr>
          <a:xfrm>
            <a:off x="9651092" y="2842316"/>
            <a:ext cx="1243050" cy="847175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全結合層</a:t>
            </a:r>
            <a:endParaRPr kumimoji="1" lang="en-US" altLang="ja-JP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＋</a:t>
            </a:r>
            <a:r>
              <a:rPr kumimoji="1" lang="en-US" altLang="ja-JP" dirty="0">
                <a:solidFill>
                  <a:schemeClr val="tx1"/>
                </a:solidFill>
              </a:rPr>
              <a:t>sigmoid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2AAC3063-3AFE-9C94-90EA-E10D145B8712}"/>
              </a:ext>
            </a:extLst>
          </p:cNvPr>
          <p:cNvSpPr txBox="1"/>
          <p:nvPr/>
        </p:nvSpPr>
        <p:spPr>
          <a:xfrm>
            <a:off x="5063590" y="1753403"/>
            <a:ext cx="1816523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ja-JP" b="1" dirty="0"/>
              <a:t>conv 3</a:t>
            </a:r>
            <a:endParaRPr lang="en-US" altLang="ja-JP" dirty="0"/>
          </a:p>
          <a:p>
            <a:pPr algn="ctr"/>
            <a:r>
              <a:rPr lang="en-US" altLang="ja-JP" sz="1600" dirty="0"/>
              <a:t>(s</a:t>
            </a:r>
            <a:r>
              <a:rPr kumimoji="1" lang="en-US" altLang="ja-JP" sz="1600" dirty="0"/>
              <a:t>tride=2 pad=1)</a:t>
            </a:r>
            <a:endParaRPr kumimoji="1" lang="ja-JP" altLang="en-US" sz="1600" dirty="0"/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68DB9BCD-4C49-3A50-D207-F2FDC0973997}"/>
              </a:ext>
            </a:extLst>
          </p:cNvPr>
          <p:cNvSpPr txBox="1"/>
          <p:nvPr/>
        </p:nvSpPr>
        <p:spPr>
          <a:xfrm>
            <a:off x="8217694" y="1762596"/>
            <a:ext cx="15359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ja-JP" altLang="en-US" b="1" dirty="0"/>
              <a:t>全結合層</a:t>
            </a:r>
            <a:endParaRPr lang="en-US" altLang="ja-JP" b="1" dirty="0"/>
          </a:p>
          <a:p>
            <a:pPr algn="ctr"/>
            <a:r>
              <a:rPr lang="ja-JP" altLang="en-US" dirty="0"/>
              <a:t>（</a:t>
            </a:r>
            <a:r>
              <a:rPr lang="en-US" altLang="ja-JP" dirty="0"/>
              <a:t>4096to1</a:t>
            </a:r>
            <a:r>
              <a:rPr lang="ja-JP" altLang="en-US" dirty="0"/>
              <a:t>）</a:t>
            </a:r>
            <a:endParaRPr lang="en-US" altLang="ja-JP" dirty="0"/>
          </a:p>
        </p:txBody>
      </p:sp>
      <p:sp>
        <p:nvSpPr>
          <p:cNvPr id="25" name="矢印: 右 24">
            <a:extLst>
              <a:ext uri="{FF2B5EF4-FFF2-40B4-BE49-F238E27FC236}">
                <a16:creationId xmlns:a16="http://schemas.microsoft.com/office/drawing/2014/main" id="{48A25605-B159-AA12-E28E-223895D49CD7}"/>
              </a:ext>
            </a:extLst>
          </p:cNvPr>
          <p:cNvSpPr/>
          <p:nvPr/>
        </p:nvSpPr>
        <p:spPr>
          <a:xfrm>
            <a:off x="10975688" y="3196014"/>
            <a:ext cx="364987" cy="143935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59816DFF-C536-CC9B-8054-4F74F75BEE5F}"/>
              </a:ext>
            </a:extLst>
          </p:cNvPr>
          <p:cNvSpPr txBox="1"/>
          <p:nvPr/>
        </p:nvSpPr>
        <p:spPr>
          <a:xfrm>
            <a:off x="11340675" y="3127150"/>
            <a:ext cx="62388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600" b="1" dirty="0"/>
              <a:t>0</a:t>
            </a:r>
            <a:r>
              <a:rPr kumimoji="1" lang="ja-JP" altLang="en-US" sz="1600" b="1" dirty="0"/>
              <a:t>～</a:t>
            </a:r>
            <a:r>
              <a:rPr kumimoji="1" lang="en-US" altLang="ja-JP" sz="1600" b="1" dirty="0"/>
              <a:t>1</a:t>
            </a:r>
            <a:endParaRPr kumimoji="1" lang="ja-JP" altLang="en-US" sz="1600" dirty="0"/>
          </a:p>
        </p:txBody>
      </p:sp>
      <p:graphicFrame>
        <p:nvGraphicFramePr>
          <p:cNvPr id="27" name="表 26">
            <a:extLst>
              <a:ext uri="{FF2B5EF4-FFF2-40B4-BE49-F238E27FC236}">
                <a16:creationId xmlns:a16="http://schemas.microsoft.com/office/drawing/2014/main" id="{9BF06F14-D969-887E-2A5E-5D532C793C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4281667"/>
              </p:ext>
            </p:extLst>
          </p:nvPr>
        </p:nvGraphicFramePr>
        <p:xfrm>
          <a:off x="570005" y="4331689"/>
          <a:ext cx="8027716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9216">
                  <a:extLst>
                    <a:ext uri="{9D8B030D-6E8A-4147-A177-3AD203B41FA5}">
                      <a16:colId xmlns:a16="http://schemas.microsoft.com/office/drawing/2014/main" val="2895031422"/>
                    </a:ext>
                  </a:extLst>
                </a:gridCol>
                <a:gridCol w="2326918">
                  <a:extLst>
                    <a:ext uri="{9D8B030D-6E8A-4147-A177-3AD203B41FA5}">
                      <a16:colId xmlns:a16="http://schemas.microsoft.com/office/drawing/2014/main" val="2872803199"/>
                    </a:ext>
                  </a:extLst>
                </a:gridCol>
                <a:gridCol w="2289786">
                  <a:extLst>
                    <a:ext uri="{9D8B030D-6E8A-4147-A177-3AD203B41FA5}">
                      <a16:colId xmlns:a16="http://schemas.microsoft.com/office/drawing/2014/main" val="3318974129"/>
                    </a:ext>
                  </a:extLst>
                </a:gridCol>
                <a:gridCol w="2281796">
                  <a:extLst>
                    <a:ext uri="{9D8B030D-6E8A-4147-A177-3AD203B41FA5}">
                      <a16:colId xmlns:a16="http://schemas.microsoft.com/office/drawing/2014/main" val="32573840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b="0" dirty="0"/>
                        <a:t>特徴マップ１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b="0" dirty="0"/>
                        <a:t>特徴マップ２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b="0" dirty="0"/>
                        <a:t>特徴マップ３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4573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サイズ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dirty="0"/>
                        <a:t>16×16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dirty="0"/>
                        <a:t>8×</a:t>
                      </a:r>
                      <a:r>
                        <a:rPr lang="en-US" altLang="ja-JP" dirty="0"/>
                        <a:t>8</a:t>
                      </a:r>
                      <a:endParaRPr kumimoji="1" lang="en-US" altLang="ja-JP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dirty="0"/>
                        <a:t>4×4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71282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枚数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64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128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256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0065046"/>
                  </a:ext>
                </a:extLst>
              </a:tr>
            </a:tbl>
          </a:graphicData>
        </a:graphic>
      </p:graphicFrame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EDCBB4BA-78D5-851A-4EB3-74098E2A6991}"/>
              </a:ext>
            </a:extLst>
          </p:cNvPr>
          <p:cNvSpPr txBox="1"/>
          <p:nvPr/>
        </p:nvSpPr>
        <p:spPr>
          <a:xfrm>
            <a:off x="293131" y="3976743"/>
            <a:ext cx="13789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600" dirty="0"/>
              <a:t>32×32(1ch)</a:t>
            </a:r>
          </a:p>
        </p:txBody>
      </p:sp>
    </p:spTree>
    <p:extLst>
      <p:ext uri="{BB962C8B-B14F-4D97-AF65-F5344CB8AC3E}">
        <p14:creationId xmlns:p14="http://schemas.microsoft.com/office/powerpoint/2010/main" val="10482611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CFC9AD-6862-4684-7F04-AEE0525DC6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矢印: 右 2">
            <a:extLst>
              <a:ext uri="{FF2B5EF4-FFF2-40B4-BE49-F238E27FC236}">
                <a16:creationId xmlns:a16="http://schemas.microsoft.com/office/drawing/2014/main" id="{9F29C4FD-40C9-800A-BDA1-C0BEAD19D892}"/>
              </a:ext>
            </a:extLst>
          </p:cNvPr>
          <p:cNvSpPr/>
          <p:nvPr/>
        </p:nvSpPr>
        <p:spPr>
          <a:xfrm flipV="1">
            <a:off x="1382980" y="3250708"/>
            <a:ext cx="310014" cy="45719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11125487-68B6-A3D4-A5F9-2A1E320EC8DB}"/>
              </a:ext>
            </a:extLst>
          </p:cNvPr>
          <p:cNvSpPr txBox="1"/>
          <p:nvPr/>
        </p:nvSpPr>
        <p:spPr>
          <a:xfrm>
            <a:off x="767404" y="1753405"/>
            <a:ext cx="1816523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ja-JP" b="1" dirty="0"/>
              <a:t>conv 1</a:t>
            </a:r>
            <a:endParaRPr lang="en-US" altLang="ja-JP" dirty="0"/>
          </a:p>
          <a:p>
            <a:pPr algn="ctr"/>
            <a:r>
              <a:rPr lang="en-US" altLang="ja-JP" sz="1600" dirty="0"/>
              <a:t>(s</a:t>
            </a:r>
            <a:r>
              <a:rPr kumimoji="1" lang="en-US" altLang="ja-JP" sz="1600" dirty="0"/>
              <a:t>tride=2 pad=1)</a:t>
            </a:r>
            <a:endParaRPr kumimoji="1" lang="ja-JP" altLang="en-US" sz="1600" dirty="0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552CD9DC-B28D-28CA-C1B8-83ABEAFE5789}"/>
              </a:ext>
            </a:extLst>
          </p:cNvPr>
          <p:cNvSpPr/>
          <p:nvPr/>
        </p:nvSpPr>
        <p:spPr>
          <a:xfrm>
            <a:off x="1431880" y="2560203"/>
            <a:ext cx="1106848" cy="1400148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scene3d>
            <a:camera prst="isometricLeftDown">
              <a:rot lat="1200000" lon="4200000" rev="21593776"/>
            </a:camera>
            <a:lightRig rig="balanced" dir="t"/>
          </a:scene3d>
          <a:sp3d extrusionH="381000" contourW="12700">
            <a:extrusionClr>
              <a:schemeClr val="tx2">
                <a:lumMod val="25000"/>
                <a:lumOff val="75000"/>
              </a:schemeClr>
            </a:extrusionClr>
            <a:contourClr>
              <a:schemeClr val="tx2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083C2B7D-AF9C-B624-D97F-1C2AB9B64BCE}"/>
              </a:ext>
            </a:extLst>
          </p:cNvPr>
          <p:cNvSpPr/>
          <p:nvPr/>
        </p:nvSpPr>
        <p:spPr>
          <a:xfrm>
            <a:off x="3657988" y="2944421"/>
            <a:ext cx="1106848" cy="896346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scene3d>
            <a:camera prst="isometricLeftDown">
              <a:rot lat="1200000" lon="4200000" rev="21593776"/>
            </a:camera>
            <a:lightRig rig="balanced" dir="t"/>
          </a:scene3d>
          <a:sp3d extrusionH="1016000" contourW="12700">
            <a:extrusionClr>
              <a:schemeClr val="tx2">
                <a:lumMod val="25000"/>
                <a:lumOff val="75000"/>
              </a:schemeClr>
            </a:extrusionClr>
            <a:contourClr>
              <a:schemeClr val="tx2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7" name="矢印: 右 6">
            <a:extLst>
              <a:ext uri="{FF2B5EF4-FFF2-40B4-BE49-F238E27FC236}">
                <a16:creationId xmlns:a16="http://schemas.microsoft.com/office/drawing/2014/main" id="{FB629C14-E39B-B6F5-2AD2-A211F5F77B6F}"/>
              </a:ext>
            </a:extLst>
          </p:cNvPr>
          <p:cNvSpPr/>
          <p:nvPr/>
        </p:nvSpPr>
        <p:spPr>
          <a:xfrm>
            <a:off x="2651948" y="3214558"/>
            <a:ext cx="1153934" cy="81869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012F8C73-9F6D-CB08-66D4-0E6791864051}"/>
              </a:ext>
            </a:extLst>
          </p:cNvPr>
          <p:cNvSpPr txBox="1"/>
          <p:nvPr/>
        </p:nvSpPr>
        <p:spPr>
          <a:xfrm>
            <a:off x="2639933" y="1753404"/>
            <a:ext cx="1816523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ja-JP" b="1" dirty="0"/>
              <a:t>conv 2</a:t>
            </a:r>
            <a:endParaRPr lang="en-US" altLang="ja-JP" dirty="0"/>
          </a:p>
          <a:p>
            <a:pPr algn="ctr"/>
            <a:r>
              <a:rPr lang="en-US" altLang="ja-JP" sz="1600" dirty="0"/>
              <a:t>(s</a:t>
            </a:r>
            <a:r>
              <a:rPr kumimoji="1" lang="en-US" altLang="ja-JP" sz="1600" dirty="0"/>
              <a:t>tride=2 pad=1)</a:t>
            </a:r>
            <a:endParaRPr kumimoji="1" lang="ja-JP" altLang="en-US" sz="1600" dirty="0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B69350B8-738C-C997-E860-5C586BB01AC3}"/>
              </a:ext>
            </a:extLst>
          </p:cNvPr>
          <p:cNvSpPr/>
          <p:nvPr/>
        </p:nvSpPr>
        <p:spPr>
          <a:xfrm>
            <a:off x="6480299" y="3011593"/>
            <a:ext cx="709974" cy="612044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scene3d>
            <a:camera prst="isometricLeftDown">
              <a:rot lat="1200000" lon="4200000" rev="21593776"/>
            </a:camera>
            <a:lightRig rig="balanced" dir="t"/>
          </a:scene3d>
          <a:sp3d extrusionH="1270000" contourW="12700">
            <a:extrusionClr>
              <a:schemeClr val="tx2">
                <a:lumMod val="25000"/>
                <a:lumOff val="75000"/>
              </a:schemeClr>
            </a:extrusionClr>
            <a:contourClr>
              <a:schemeClr val="tx2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1" name="矢印: 右 10">
            <a:extLst>
              <a:ext uri="{FF2B5EF4-FFF2-40B4-BE49-F238E27FC236}">
                <a16:creationId xmlns:a16="http://schemas.microsoft.com/office/drawing/2014/main" id="{BFF67BA1-FA1B-8C26-69CB-3C3B15BEC65A}"/>
              </a:ext>
            </a:extLst>
          </p:cNvPr>
          <p:cNvSpPr/>
          <p:nvPr/>
        </p:nvSpPr>
        <p:spPr>
          <a:xfrm>
            <a:off x="8217694" y="3240595"/>
            <a:ext cx="1378903" cy="63761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BD456F65-8DC9-F930-F215-1A6F33935E97}"/>
              </a:ext>
            </a:extLst>
          </p:cNvPr>
          <p:cNvSpPr txBox="1"/>
          <p:nvPr/>
        </p:nvSpPr>
        <p:spPr>
          <a:xfrm>
            <a:off x="8242376" y="2884461"/>
            <a:ext cx="139012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600" b="1" dirty="0"/>
              <a:t>Leaky ReLU</a:t>
            </a:r>
            <a:endParaRPr kumimoji="1" lang="ja-JP" altLang="en-US" sz="1600" dirty="0"/>
          </a:p>
        </p:txBody>
      </p:sp>
      <p:sp>
        <p:nvSpPr>
          <p:cNvPr id="15" name="矢印: 右 14">
            <a:extLst>
              <a:ext uri="{FF2B5EF4-FFF2-40B4-BE49-F238E27FC236}">
                <a16:creationId xmlns:a16="http://schemas.microsoft.com/office/drawing/2014/main" id="{D11EC39A-0385-3E68-26B2-1A303B0BD799}"/>
              </a:ext>
            </a:extLst>
          </p:cNvPr>
          <p:cNvSpPr/>
          <p:nvPr/>
        </p:nvSpPr>
        <p:spPr>
          <a:xfrm>
            <a:off x="5476681" y="3199661"/>
            <a:ext cx="1153934" cy="81869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CFB687A1-885D-F5D6-9549-E0CAC235C94D}"/>
              </a:ext>
            </a:extLst>
          </p:cNvPr>
          <p:cNvSpPr txBox="1"/>
          <p:nvPr/>
        </p:nvSpPr>
        <p:spPr>
          <a:xfrm>
            <a:off x="2633885" y="2861107"/>
            <a:ext cx="139012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600" b="1" dirty="0"/>
              <a:t>Leaky ReLU</a:t>
            </a:r>
            <a:endParaRPr kumimoji="1" lang="ja-JP" altLang="en-US" sz="1600" dirty="0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9425D00A-48CF-EFAD-E6FC-BD959E8FE023}"/>
              </a:ext>
            </a:extLst>
          </p:cNvPr>
          <p:cNvSpPr txBox="1"/>
          <p:nvPr/>
        </p:nvSpPr>
        <p:spPr>
          <a:xfrm>
            <a:off x="5358586" y="2842316"/>
            <a:ext cx="139012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600" b="1" dirty="0"/>
              <a:t>Leaky ReLU</a:t>
            </a:r>
            <a:endParaRPr kumimoji="1" lang="ja-JP" altLang="en-US" sz="1600" dirty="0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C3A1ECB8-DDDC-8D06-5E1A-6FAE705A6B5A}"/>
              </a:ext>
            </a:extLst>
          </p:cNvPr>
          <p:cNvSpPr txBox="1"/>
          <p:nvPr/>
        </p:nvSpPr>
        <p:spPr>
          <a:xfrm>
            <a:off x="5340355" y="3370471"/>
            <a:ext cx="13789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600" b="1" dirty="0"/>
              <a:t>Batch Norm</a:t>
            </a: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98B43E7B-2B87-798A-086C-0AA6CCA07611}"/>
              </a:ext>
            </a:extLst>
          </p:cNvPr>
          <p:cNvSpPr txBox="1"/>
          <p:nvPr/>
        </p:nvSpPr>
        <p:spPr>
          <a:xfrm>
            <a:off x="2630566" y="3350937"/>
            <a:ext cx="13789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600" b="1" dirty="0"/>
              <a:t>Batch Norm</a:t>
            </a: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DC103011-9EC0-69A9-580C-28E013373E5C}"/>
              </a:ext>
            </a:extLst>
          </p:cNvPr>
          <p:cNvSpPr txBox="1"/>
          <p:nvPr/>
        </p:nvSpPr>
        <p:spPr>
          <a:xfrm>
            <a:off x="8244941" y="3304356"/>
            <a:ext cx="13789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600" b="1" dirty="0"/>
              <a:t>Batch Norm</a:t>
            </a: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CFB51AF9-5F33-C5B3-2126-A801363FDA59}"/>
              </a:ext>
            </a:extLst>
          </p:cNvPr>
          <p:cNvSpPr/>
          <p:nvPr/>
        </p:nvSpPr>
        <p:spPr>
          <a:xfrm>
            <a:off x="9651092" y="2842316"/>
            <a:ext cx="1243050" cy="847175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全結合層</a:t>
            </a:r>
            <a:endParaRPr kumimoji="1" lang="en-US" altLang="ja-JP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＋</a:t>
            </a:r>
            <a:r>
              <a:rPr kumimoji="1" lang="en-US" altLang="ja-JP" dirty="0">
                <a:solidFill>
                  <a:schemeClr val="tx1"/>
                </a:solidFill>
              </a:rPr>
              <a:t>sigmoid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B5D88BA3-0425-E245-2CDE-21B232E3E568}"/>
              </a:ext>
            </a:extLst>
          </p:cNvPr>
          <p:cNvSpPr txBox="1"/>
          <p:nvPr/>
        </p:nvSpPr>
        <p:spPr>
          <a:xfrm>
            <a:off x="5063590" y="1753403"/>
            <a:ext cx="1816523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ja-JP" b="1" dirty="0"/>
              <a:t>conv 3</a:t>
            </a:r>
            <a:endParaRPr lang="en-US" altLang="ja-JP" dirty="0"/>
          </a:p>
          <a:p>
            <a:pPr algn="ctr"/>
            <a:r>
              <a:rPr lang="en-US" altLang="ja-JP" sz="1600" dirty="0"/>
              <a:t>(s</a:t>
            </a:r>
            <a:r>
              <a:rPr kumimoji="1" lang="en-US" altLang="ja-JP" sz="1600" dirty="0"/>
              <a:t>tride=2 pad=1)</a:t>
            </a:r>
            <a:endParaRPr kumimoji="1" lang="ja-JP" altLang="en-US" sz="1600" dirty="0"/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10923E37-DFFD-CDCC-FF43-39B9A46FE156}"/>
              </a:ext>
            </a:extLst>
          </p:cNvPr>
          <p:cNvSpPr txBox="1"/>
          <p:nvPr/>
        </p:nvSpPr>
        <p:spPr>
          <a:xfrm>
            <a:off x="8217694" y="1762596"/>
            <a:ext cx="15359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ja-JP" altLang="en-US" b="1" dirty="0"/>
              <a:t>全結合層</a:t>
            </a:r>
            <a:endParaRPr lang="en-US" altLang="ja-JP" b="1" dirty="0"/>
          </a:p>
          <a:p>
            <a:pPr algn="ctr"/>
            <a:r>
              <a:rPr lang="ja-JP" altLang="en-US" dirty="0"/>
              <a:t>（</a:t>
            </a:r>
            <a:r>
              <a:rPr lang="en-US" altLang="ja-JP" dirty="0"/>
              <a:t>4096to1</a:t>
            </a:r>
            <a:r>
              <a:rPr lang="ja-JP" altLang="en-US" dirty="0"/>
              <a:t>）</a:t>
            </a:r>
            <a:endParaRPr lang="en-US" altLang="ja-JP" dirty="0"/>
          </a:p>
        </p:txBody>
      </p:sp>
      <p:sp>
        <p:nvSpPr>
          <p:cNvPr id="25" name="矢印: 右 24">
            <a:extLst>
              <a:ext uri="{FF2B5EF4-FFF2-40B4-BE49-F238E27FC236}">
                <a16:creationId xmlns:a16="http://schemas.microsoft.com/office/drawing/2014/main" id="{CA787CC2-BD46-2719-9E1A-3E2394BDC479}"/>
              </a:ext>
            </a:extLst>
          </p:cNvPr>
          <p:cNvSpPr/>
          <p:nvPr/>
        </p:nvSpPr>
        <p:spPr>
          <a:xfrm>
            <a:off x="10975688" y="3196014"/>
            <a:ext cx="364987" cy="143935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CE6058B1-2761-BA9B-6BB0-B76EBEFF9FA3}"/>
              </a:ext>
            </a:extLst>
          </p:cNvPr>
          <p:cNvSpPr txBox="1"/>
          <p:nvPr/>
        </p:nvSpPr>
        <p:spPr>
          <a:xfrm>
            <a:off x="11340675" y="3127150"/>
            <a:ext cx="62388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600" b="1" dirty="0"/>
              <a:t>0</a:t>
            </a:r>
            <a:r>
              <a:rPr kumimoji="1" lang="ja-JP" altLang="en-US" sz="1600" b="1" dirty="0"/>
              <a:t>～</a:t>
            </a:r>
            <a:r>
              <a:rPr kumimoji="1" lang="en-US" altLang="ja-JP" sz="1600" b="1" dirty="0"/>
              <a:t>1</a:t>
            </a:r>
            <a:endParaRPr kumimoji="1" lang="ja-JP" altLang="en-US" sz="1600" dirty="0"/>
          </a:p>
        </p:txBody>
      </p:sp>
      <p:graphicFrame>
        <p:nvGraphicFramePr>
          <p:cNvPr id="27" name="表 26">
            <a:extLst>
              <a:ext uri="{FF2B5EF4-FFF2-40B4-BE49-F238E27FC236}">
                <a16:creationId xmlns:a16="http://schemas.microsoft.com/office/drawing/2014/main" id="{F2609652-A149-A9F4-E802-E6B509A289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2437169"/>
              </p:ext>
            </p:extLst>
          </p:nvPr>
        </p:nvGraphicFramePr>
        <p:xfrm>
          <a:off x="570005" y="4331689"/>
          <a:ext cx="8027716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9216">
                  <a:extLst>
                    <a:ext uri="{9D8B030D-6E8A-4147-A177-3AD203B41FA5}">
                      <a16:colId xmlns:a16="http://schemas.microsoft.com/office/drawing/2014/main" val="2895031422"/>
                    </a:ext>
                  </a:extLst>
                </a:gridCol>
                <a:gridCol w="2326918">
                  <a:extLst>
                    <a:ext uri="{9D8B030D-6E8A-4147-A177-3AD203B41FA5}">
                      <a16:colId xmlns:a16="http://schemas.microsoft.com/office/drawing/2014/main" val="2872803199"/>
                    </a:ext>
                  </a:extLst>
                </a:gridCol>
                <a:gridCol w="2289786">
                  <a:extLst>
                    <a:ext uri="{9D8B030D-6E8A-4147-A177-3AD203B41FA5}">
                      <a16:colId xmlns:a16="http://schemas.microsoft.com/office/drawing/2014/main" val="3318974129"/>
                    </a:ext>
                  </a:extLst>
                </a:gridCol>
                <a:gridCol w="2281796">
                  <a:extLst>
                    <a:ext uri="{9D8B030D-6E8A-4147-A177-3AD203B41FA5}">
                      <a16:colId xmlns:a16="http://schemas.microsoft.com/office/drawing/2014/main" val="32573840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b="0" dirty="0"/>
                        <a:t>特徴マップ１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b="0" dirty="0"/>
                        <a:t>特徴マップ２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b="0" dirty="0"/>
                        <a:t>特徴マップ３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4573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サイズ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dirty="0"/>
                        <a:t>16×16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dirty="0"/>
                        <a:t>8×</a:t>
                      </a:r>
                      <a:r>
                        <a:rPr lang="en-US" altLang="ja-JP" dirty="0"/>
                        <a:t>8</a:t>
                      </a:r>
                      <a:endParaRPr kumimoji="1" lang="en-US" altLang="ja-JP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dirty="0"/>
                        <a:t>4×4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71282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枚数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64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128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256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0065046"/>
                  </a:ext>
                </a:extLst>
              </a:tr>
            </a:tbl>
          </a:graphicData>
        </a:graphic>
      </p:graphicFrame>
      <p:pic>
        <p:nvPicPr>
          <p:cNvPr id="12" name="図 11" descr="挿絵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9069FF99-8638-A4DC-53B6-612AE09F5F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810" y="2564751"/>
            <a:ext cx="1241444" cy="1276016"/>
          </a:xfrm>
          <a:prstGeom prst="rect">
            <a:avLst/>
          </a:prstGeom>
          <a:scene3d>
            <a:camera prst="isometricLeftDown"/>
            <a:lightRig rig="threePt" dir="t"/>
          </a:scene3d>
        </p:spPr>
      </p:pic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3AB86B26-B237-37CF-791B-233F5BC06CD4}"/>
              </a:ext>
            </a:extLst>
          </p:cNvPr>
          <p:cNvSpPr txBox="1"/>
          <p:nvPr/>
        </p:nvSpPr>
        <p:spPr>
          <a:xfrm>
            <a:off x="293131" y="3976743"/>
            <a:ext cx="134043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600" dirty="0"/>
              <a:t>32×32(3ch)</a:t>
            </a:r>
          </a:p>
        </p:txBody>
      </p:sp>
    </p:spTree>
    <p:extLst>
      <p:ext uri="{BB962C8B-B14F-4D97-AF65-F5344CB8AC3E}">
        <p14:creationId xmlns:p14="http://schemas.microsoft.com/office/powerpoint/2010/main" val="16695059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楕円 3">
            <a:extLst>
              <a:ext uri="{FF2B5EF4-FFF2-40B4-BE49-F238E27FC236}">
                <a16:creationId xmlns:a16="http://schemas.microsoft.com/office/drawing/2014/main" id="{2939CFCB-FE9E-B79B-3211-8108FE06F6FE}"/>
              </a:ext>
            </a:extLst>
          </p:cNvPr>
          <p:cNvSpPr/>
          <p:nvPr/>
        </p:nvSpPr>
        <p:spPr>
          <a:xfrm>
            <a:off x="747252" y="2873829"/>
            <a:ext cx="2556387" cy="1024932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7673113B-438B-2E65-2E65-FB0ECFBCE663}"/>
              </a:ext>
            </a:extLst>
          </p:cNvPr>
          <p:cNvSpPr txBox="1"/>
          <p:nvPr/>
        </p:nvSpPr>
        <p:spPr>
          <a:xfrm>
            <a:off x="1424158" y="3201629"/>
            <a:ext cx="12025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z 100</a:t>
            </a:r>
            <a:r>
              <a:rPr lang="ja-JP" altLang="en-US" dirty="0"/>
              <a:t>次元</a:t>
            </a:r>
            <a:endParaRPr lang="en-US" altLang="ja-JP" dirty="0"/>
          </a:p>
        </p:txBody>
      </p:sp>
      <p:sp>
        <p:nvSpPr>
          <p:cNvPr id="5" name="矢印: 右 4">
            <a:extLst>
              <a:ext uri="{FF2B5EF4-FFF2-40B4-BE49-F238E27FC236}">
                <a16:creationId xmlns:a16="http://schemas.microsoft.com/office/drawing/2014/main" id="{E1F19DC4-98E7-5B31-E5A5-793D648F6A4E}"/>
              </a:ext>
            </a:extLst>
          </p:cNvPr>
          <p:cNvSpPr/>
          <p:nvPr/>
        </p:nvSpPr>
        <p:spPr>
          <a:xfrm>
            <a:off x="3528261" y="3262474"/>
            <a:ext cx="452284" cy="18466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DBF4F10E-609E-0D13-F68B-C30328929950}"/>
              </a:ext>
            </a:extLst>
          </p:cNvPr>
          <p:cNvSpPr/>
          <p:nvPr/>
        </p:nvSpPr>
        <p:spPr>
          <a:xfrm>
            <a:off x="4186887" y="2962707"/>
            <a:ext cx="1466662" cy="847175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>
                <a:solidFill>
                  <a:schemeClr val="tx1"/>
                </a:solidFill>
              </a:rPr>
              <a:t>Generator</a:t>
            </a:r>
            <a:endParaRPr kumimoji="1" lang="en-US" altLang="ja-JP" dirty="0">
              <a:solidFill>
                <a:schemeClr val="tx1"/>
              </a:solidFill>
            </a:endParaRPr>
          </a:p>
        </p:txBody>
      </p:sp>
      <p:sp>
        <p:nvSpPr>
          <p:cNvPr id="7" name="矢印: 右 6">
            <a:extLst>
              <a:ext uri="{FF2B5EF4-FFF2-40B4-BE49-F238E27FC236}">
                <a16:creationId xmlns:a16="http://schemas.microsoft.com/office/drawing/2014/main" id="{938FCA38-7CF5-D327-D3A1-CC6DE430200C}"/>
              </a:ext>
            </a:extLst>
          </p:cNvPr>
          <p:cNvSpPr/>
          <p:nvPr/>
        </p:nvSpPr>
        <p:spPr>
          <a:xfrm>
            <a:off x="5774932" y="3262474"/>
            <a:ext cx="452284" cy="18466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楕円 7">
            <a:extLst>
              <a:ext uri="{FF2B5EF4-FFF2-40B4-BE49-F238E27FC236}">
                <a16:creationId xmlns:a16="http://schemas.microsoft.com/office/drawing/2014/main" id="{ACDCCD19-1F59-FA8C-6B15-E43EA6C62D1D}"/>
              </a:ext>
            </a:extLst>
          </p:cNvPr>
          <p:cNvSpPr/>
          <p:nvPr/>
        </p:nvSpPr>
        <p:spPr>
          <a:xfrm>
            <a:off x="6348600" y="1710813"/>
            <a:ext cx="4781516" cy="3077497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4" name="図 13" descr="動物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FAAC2A14-0C45-8EF9-196C-8495F3A68E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5580" y="3159803"/>
            <a:ext cx="1041370" cy="1044000"/>
          </a:xfrm>
          <a:prstGeom prst="rect">
            <a:avLst/>
          </a:prstGeom>
        </p:spPr>
      </p:pic>
      <p:pic>
        <p:nvPicPr>
          <p:cNvPr id="16" name="図 15" descr="カラフル, 色付け, 挿絵, 立つ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BC432EEC-3668-C01C-5C5C-E0F4F242E9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3690" y="2049693"/>
            <a:ext cx="1023120" cy="1044000"/>
          </a:xfrm>
          <a:prstGeom prst="rect">
            <a:avLst/>
          </a:prstGeom>
        </p:spPr>
      </p:pic>
      <p:pic>
        <p:nvPicPr>
          <p:cNvPr id="18" name="図 17" descr="挿絵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F6C5DA4E-4AC3-F6DB-AA4C-6D8A260D85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5116" y="3159805"/>
            <a:ext cx="1031079" cy="1044000"/>
          </a:xfrm>
          <a:prstGeom prst="rect">
            <a:avLst/>
          </a:prstGeom>
        </p:spPr>
      </p:pic>
      <p:pic>
        <p:nvPicPr>
          <p:cNvPr id="20" name="図 19" descr="挿絵, カラフル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7CCCD054-7B35-93DA-01C7-17A2E62D8A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38048" y="2049693"/>
            <a:ext cx="1044000" cy="1038766"/>
          </a:xfrm>
          <a:prstGeom prst="rect">
            <a:avLst/>
          </a:prstGeom>
        </p:spPr>
      </p:pic>
      <p:pic>
        <p:nvPicPr>
          <p:cNvPr id="22" name="図 21" descr="カラフル, 色付け, 色, 座る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FF89F924-9D71-899D-9705-DD6114C8917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54996" y="3159803"/>
            <a:ext cx="1044000" cy="10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57651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F3E09C-BA39-010C-9C2C-CB9280FF6B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楕円 3">
            <a:extLst>
              <a:ext uri="{FF2B5EF4-FFF2-40B4-BE49-F238E27FC236}">
                <a16:creationId xmlns:a16="http://schemas.microsoft.com/office/drawing/2014/main" id="{737E5B27-A98E-8C4C-9060-70CE53C21B3B}"/>
              </a:ext>
            </a:extLst>
          </p:cNvPr>
          <p:cNvSpPr/>
          <p:nvPr/>
        </p:nvSpPr>
        <p:spPr>
          <a:xfrm>
            <a:off x="775381" y="3560486"/>
            <a:ext cx="2215744" cy="1024932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テキスト ボックス 2">
                <a:extLst>
                  <a:ext uri="{FF2B5EF4-FFF2-40B4-BE49-F238E27FC236}">
                    <a16:creationId xmlns:a16="http://schemas.microsoft.com/office/drawing/2014/main" id="{A718B1B1-7AEE-E6D2-4E7B-ECC812700385}"/>
                  </a:ext>
                </a:extLst>
              </p:cNvPr>
              <p:cNvSpPr txBox="1"/>
              <p:nvPr/>
            </p:nvSpPr>
            <p:spPr>
              <a:xfrm>
                <a:off x="861247" y="3785888"/>
                <a:ext cx="212987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𝒛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ja-JP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ja-JP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100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altLang="ja-JP" b="0" dirty="0">
                  <a:ea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ja-JP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en-US" altLang="ja-JP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r>
                        <a:rPr lang="en-US" altLang="ja-JP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r>
                        <m:rPr>
                          <m:sty m:val="p"/>
                        </m:rPr>
                        <a:rPr lang="el-GR" altLang="ja-JP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Ν</m:t>
                      </m:r>
                      <m:d>
                        <m:d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0,1</m:t>
                          </m:r>
                        </m:e>
                      </m:d>
                    </m:oMath>
                  </m:oMathPara>
                </a14:m>
                <a:endParaRPr lang="en-US" altLang="ja-JP" dirty="0"/>
              </a:p>
            </p:txBody>
          </p:sp>
        </mc:Choice>
        <mc:Fallback>
          <p:sp>
            <p:nvSpPr>
              <p:cNvPr id="3" name="テキスト ボックス 2">
                <a:extLst>
                  <a:ext uri="{FF2B5EF4-FFF2-40B4-BE49-F238E27FC236}">
                    <a16:creationId xmlns:a16="http://schemas.microsoft.com/office/drawing/2014/main" id="{A718B1B1-7AEE-E6D2-4E7B-ECC8127003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1247" y="3785888"/>
                <a:ext cx="2129878" cy="64633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矢印: 右 4">
            <a:extLst>
              <a:ext uri="{FF2B5EF4-FFF2-40B4-BE49-F238E27FC236}">
                <a16:creationId xmlns:a16="http://schemas.microsoft.com/office/drawing/2014/main" id="{B7F84761-4306-10F2-C0AD-3D99E7E2B73F}"/>
              </a:ext>
            </a:extLst>
          </p:cNvPr>
          <p:cNvSpPr/>
          <p:nvPr/>
        </p:nvSpPr>
        <p:spPr>
          <a:xfrm>
            <a:off x="4171243" y="3263818"/>
            <a:ext cx="452284" cy="184666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20593CCE-E20E-6070-4795-52A2E0F8FEBD}"/>
              </a:ext>
            </a:extLst>
          </p:cNvPr>
          <p:cNvSpPr/>
          <p:nvPr/>
        </p:nvSpPr>
        <p:spPr>
          <a:xfrm>
            <a:off x="4829869" y="2964051"/>
            <a:ext cx="1466662" cy="8471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>
                <a:solidFill>
                  <a:schemeClr val="tx1"/>
                </a:solidFill>
              </a:rPr>
              <a:t>Generator</a:t>
            </a:r>
            <a:endParaRPr kumimoji="1" lang="en-US" altLang="ja-JP" dirty="0">
              <a:solidFill>
                <a:schemeClr val="tx1"/>
              </a:solidFill>
            </a:endParaRPr>
          </a:p>
        </p:txBody>
      </p:sp>
      <p:sp>
        <p:nvSpPr>
          <p:cNvPr id="7" name="矢印: 右 6">
            <a:extLst>
              <a:ext uri="{FF2B5EF4-FFF2-40B4-BE49-F238E27FC236}">
                <a16:creationId xmlns:a16="http://schemas.microsoft.com/office/drawing/2014/main" id="{CF3DE486-B8EA-8630-11E8-8913973784DA}"/>
              </a:ext>
            </a:extLst>
          </p:cNvPr>
          <p:cNvSpPr/>
          <p:nvPr/>
        </p:nvSpPr>
        <p:spPr>
          <a:xfrm>
            <a:off x="6417914" y="3263818"/>
            <a:ext cx="452284" cy="184666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楕円 7">
            <a:extLst>
              <a:ext uri="{FF2B5EF4-FFF2-40B4-BE49-F238E27FC236}">
                <a16:creationId xmlns:a16="http://schemas.microsoft.com/office/drawing/2014/main" id="{EA2A47E9-2668-84F8-9A59-82B38151658B}"/>
              </a:ext>
            </a:extLst>
          </p:cNvPr>
          <p:cNvSpPr/>
          <p:nvPr/>
        </p:nvSpPr>
        <p:spPr>
          <a:xfrm>
            <a:off x="7272835" y="805214"/>
            <a:ext cx="1757218" cy="1199536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1" name="図 20" descr="QR コード&#10;&#10;AI 生成コンテンツは誤りを含む可能性があります。">
            <a:extLst>
              <a:ext uri="{FF2B5EF4-FFF2-40B4-BE49-F238E27FC236}">
                <a16:creationId xmlns:a16="http://schemas.microsoft.com/office/drawing/2014/main" id="{55A70803-311E-A41A-3BC8-CDE5B84AC4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5443" y="903537"/>
            <a:ext cx="972000" cy="984382"/>
          </a:xfrm>
          <a:prstGeom prst="rect">
            <a:avLst/>
          </a:prstGeom>
        </p:spPr>
      </p:pic>
      <p:sp>
        <p:nvSpPr>
          <p:cNvPr id="23" name="楕円 22">
            <a:extLst>
              <a:ext uri="{FF2B5EF4-FFF2-40B4-BE49-F238E27FC236}">
                <a16:creationId xmlns:a16="http://schemas.microsoft.com/office/drawing/2014/main" id="{EBFD026F-D2A5-A113-3797-C8EB12C85B2F}"/>
              </a:ext>
            </a:extLst>
          </p:cNvPr>
          <p:cNvSpPr/>
          <p:nvPr/>
        </p:nvSpPr>
        <p:spPr>
          <a:xfrm>
            <a:off x="6796682" y="2061829"/>
            <a:ext cx="1757219" cy="119953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楕円 23">
            <a:extLst>
              <a:ext uri="{FF2B5EF4-FFF2-40B4-BE49-F238E27FC236}">
                <a16:creationId xmlns:a16="http://schemas.microsoft.com/office/drawing/2014/main" id="{E77D5DD3-4356-C4CF-2384-F1A8A852D248}"/>
              </a:ext>
            </a:extLst>
          </p:cNvPr>
          <p:cNvSpPr/>
          <p:nvPr/>
        </p:nvSpPr>
        <p:spPr>
          <a:xfrm>
            <a:off x="9030053" y="2061829"/>
            <a:ext cx="1757219" cy="1199536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3" name="図 12" descr="色付け, 座る, 手, カラフル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6BB256B3-64A6-6A1E-514C-1F9780AD1A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22662" y="2195314"/>
            <a:ext cx="972000" cy="981994"/>
          </a:xfrm>
          <a:prstGeom prst="rect">
            <a:avLst/>
          </a:prstGeom>
        </p:spPr>
      </p:pic>
      <p:pic>
        <p:nvPicPr>
          <p:cNvPr id="17" name="図 16" descr="タイル張り, 立つ, 座る, 手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C837A7AD-E5EC-085F-50D4-DD6A7655A5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05158" y="2172155"/>
            <a:ext cx="972000" cy="969552"/>
          </a:xfrm>
          <a:prstGeom prst="rect">
            <a:avLst/>
          </a:prstGeom>
        </p:spPr>
      </p:pic>
      <p:sp>
        <p:nvSpPr>
          <p:cNvPr id="25" name="楕円 24">
            <a:extLst>
              <a:ext uri="{FF2B5EF4-FFF2-40B4-BE49-F238E27FC236}">
                <a16:creationId xmlns:a16="http://schemas.microsoft.com/office/drawing/2014/main" id="{7BC1C505-37C5-C4B9-317B-9CE6503B84A9}"/>
              </a:ext>
            </a:extLst>
          </p:cNvPr>
          <p:cNvSpPr/>
          <p:nvPr/>
        </p:nvSpPr>
        <p:spPr>
          <a:xfrm>
            <a:off x="2428009" y="2152376"/>
            <a:ext cx="1567722" cy="1024932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楕円 25">
            <a:extLst>
              <a:ext uri="{FF2B5EF4-FFF2-40B4-BE49-F238E27FC236}">
                <a16:creationId xmlns:a16="http://schemas.microsoft.com/office/drawing/2014/main" id="{11F8A2DF-7A86-F045-84CE-19D538DA32E7}"/>
              </a:ext>
            </a:extLst>
          </p:cNvPr>
          <p:cNvSpPr/>
          <p:nvPr/>
        </p:nvSpPr>
        <p:spPr>
          <a:xfrm>
            <a:off x="472516" y="2131568"/>
            <a:ext cx="1501318" cy="1024932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テキスト ボックス 26">
                <a:extLst>
                  <a:ext uri="{FF2B5EF4-FFF2-40B4-BE49-F238E27FC236}">
                    <a16:creationId xmlns:a16="http://schemas.microsoft.com/office/drawing/2014/main" id="{A1ECEE2A-20E6-D040-4370-5AB8B99967C9}"/>
                  </a:ext>
                </a:extLst>
              </p:cNvPr>
              <p:cNvSpPr txBox="1"/>
              <p:nvPr/>
            </p:nvSpPr>
            <p:spPr>
              <a:xfrm>
                <a:off x="2769338" y="2443317"/>
                <a:ext cx="100367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ja-JP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en-US" altLang="ja-JP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ja-JP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ja-JP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altLang="ja-JP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altLang="ja-JP" dirty="0"/>
              </a:p>
            </p:txBody>
          </p:sp>
        </mc:Choice>
        <mc:Fallback>
          <p:sp>
            <p:nvSpPr>
              <p:cNvPr id="27" name="テキスト ボックス 26">
                <a:extLst>
                  <a:ext uri="{FF2B5EF4-FFF2-40B4-BE49-F238E27FC236}">
                    <a16:creationId xmlns:a16="http://schemas.microsoft.com/office/drawing/2014/main" id="{A1ECEE2A-20E6-D040-4370-5AB8B99967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9338" y="2443317"/>
                <a:ext cx="1003673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テキスト ボックス 27">
                <a:extLst>
                  <a:ext uri="{FF2B5EF4-FFF2-40B4-BE49-F238E27FC236}">
                    <a16:creationId xmlns:a16="http://schemas.microsoft.com/office/drawing/2014/main" id="{AC2B69D4-2D0A-23C2-9140-846E767CAAE6}"/>
                  </a:ext>
                </a:extLst>
              </p:cNvPr>
              <p:cNvSpPr txBox="1"/>
              <p:nvPr/>
            </p:nvSpPr>
            <p:spPr>
              <a:xfrm>
                <a:off x="767075" y="2424695"/>
                <a:ext cx="100367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ja-JP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en-US" altLang="ja-JP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ja-JP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ja-JP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altLang="ja-JP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altLang="ja-JP" dirty="0"/>
              </a:p>
            </p:txBody>
          </p:sp>
        </mc:Choice>
        <mc:Fallback>
          <p:sp>
            <p:nvSpPr>
              <p:cNvPr id="28" name="テキスト ボックス 27">
                <a:extLst>
                  <a:ext uri="{FF2B5EF4-FFF2-40B4-BE49-F238E27FC236}">
                    <a16:creationId xmlns:a16="http://schemas.microsoft.com/office/drawing/2014/main" id="{AC2B69D4-2D0A-23C2-9140-846E767CAA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075" y="2424695"/>
                <a:ext cx="1003673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矢印: 右 28">
            <a:extLst>
              <a:ext uri="{FF2B5EF4-FFF2-40B4-BE49-F238E27FC236}">
                <a16:creationId xmlns:a16="http://schemas.microsoft.com/office/drawing/2014/main" id="{957C2CB7-D9CE-CB3F-5CAD-3707863D70F8}"/>
              </a:ext>
            </a:extLst>
          </p:cNvPr>
          <p:cNvSpPr/>
          <p:nvPr/>
        </p:nvSpPr>
        <p:spPr>
          <a:xfrm rot="19019614">
            <a:off x="2154642" y="3246217"/>
            <a:ext cx="853556" cy="158584"/>
          </a:xfrm>
          <a:prstGeom prst="rightArrow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矢印: 右 29">
            <a:extLst>
              <a:ext uri="{FF2B5EF4-FFF2-40B4-BE49-F238E27FC236}">
                <a16:creationId xmlns:a16="http://schemas.microsoft.com/office/drawing/2014/main" id="{8A387668-8226-BF5B-A02B-170ACA068116}"/>
              </a:ext>
            </a:extLst>
          </p:cNvPr>
          <p:cNvSpPr/>
          <p:nvPr/>
        </p:nvSpPr>
        <p:spPr>
          <a:xfrm rot="14995609">
            <a:off x="1088301" y="3191000"/>
            <a:ext cx="707424" cy="128811"/>
          </a:xfrm>
          <a:prstGeom prst="rightArrow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1" name="テキスト ボックス 30">
                <a:extLst>
                  <a:ext uri="{FF2B5EF4-FFF2-40B4-BE49-F238E27FC236}">
                    <a16:creationId xmlns:a16="http://schemas.microsoft.com/office/drawing/2014/main" id="{9EE53EE1-4F1D-D1C5-A9AC-0A830BE38474}"/>
                  </a:ext>
                </a:extLst>
              </p:cNvPr>
              <p:cNvSpPr txBox="1"/>
              <p:nvPr/>
            </p:nvSpPr>
            <p:spPr>
              <a:xfrm>
                <a:off x="2592443" y="3277001"/>
                <a:ext cx="49879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ja-JP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altLang="ja-JP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altLang="ja-JP" dirty="0"/>
              </a:p>
            </p:txBody>
          </p:sp>
        </mc:Choice>
        <mc:Fallback>
          <p:sp>
            <p:nvSpPr>
              <p:cNvPr id="31" name="テキスト ボックス 30">
                <a:extLst>
                  <a:ext uri="{FF2B5EF4-FFF2-40B4-BE49-F238E27FC236}">
                    <a16:creationId xmlns:a16="http://schemas.microsoft.com/office/drawing/2014/main" id="{9EE53EE1-4F1D-D1C5-A9AC-0A830BE384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2443" y="3277001"/>
                <a:ext cx="498791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2" name="テキスト ボックス 31">
                <a:extLst>
                  <a:ext uri="{FF2B5EF4-FFF2-40B4-BE49-F238E27FC236}">
                    <a16:creationId xmlns:a16="http://schemas.microsoft.com/office/drawing/2014/main" id="{A71E1DC3-914E-38D1-C12D-7557C564FFA4}"/>
                  </a:ext>
                </a:extLst>
              </p:cNvPr>
              <p:cNvSpPr txBox="1"/>
              <p:nvPr/>
            </p:nvSpPr>
            <p:spPr>
              <a:xfrm>
                <a:off x="988083" y="3132339"/>
                <a:ext cx="4987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ja-JP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altLang="ja-JP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altLang="ja-JP" dirty="0"/>
              </a:p>
            </p:txBody>
          </p:sp>
        </mc:Choice>
        <mc:Fallback>
          <p:sp>
            <p:nvSpPr>
              <p:cNvPr id="32" name="テキスト ボックス 31">
                <a:extLst>
                  <a:ext uri="{FF2B5EF4-FFF2-40B4-BE49-F238E27FC236}">
                    <a16:creationId xmlns:a16="http://schemas.microsoft.com/office/drawing/2014/main" id="{A71E1DC3-914E-38D1-C12D-7557C564FF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8083" y="3132339"/>
                <a:ext cx="498790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矢印: 右 32">
            <a:extLst>
              <a:ext uri="{FF2B5EF4-FFF2-40B4-BE49-F238E27FC236}">
                <a16:creationId xmlns:a16="http://schemas.microsoft.com/office/drawing/2014/main" id="{846AB82D-C6D8-9C86-3582-6D922B27196F}"/>
              </a:ext>
            </a:extLst>
          </p:cNvPr>
          <p:cNvSpPr/>
          <p:nvPr/>
        </p:nvSpPr>
        <p:spPr>
          <a:xfrm rot="19019614">
            <a:off x="10035197" y="5148758"/>
            <a:ext cx="853556" cy="158584"/>
          </a:xfrm>
          <a:prstGeom prst="rightArrow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948115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375FB2-B800-5B93-5BF1-2C7468D694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楕円 3">
            <a:extLst>
              <a:ext uri="{FF2B5EF4-FFF2-40B4-BE49-F238E27FC236}">
                <a16:creationId xmlns:a16="http://schemas.microsoft.com/office/drawing/2014/main" id="{FEE2AEDD-89A1-1887-BB95-57E2424B1970}"/>
              </a:ext>
            </a:extLst>
          </p:cNvPr>
          <p:cNvSpPr/>
          <p:nvPr/>
        </p:nvSpPr>
        <p:spPr>
          <a:xfrm>
            <a:off x="974923" y="602683"/>
            <a:ext cx="2215744" cy="1024932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テキスト ボックス 2">
                <a:extLst>
                  <a:ext uri="{FF2B5EF4-FFF2-40B4-BE49-F238E27FC236}">
                    <a16:creationId xmlns:a16="http://schemas.microsoft.com/office/drawing/2014/main" id="{9ADD4788-BF1A-0912-6AB4-2115A5E16E43}"/>
                  </a:ext>
                </a:extLst>
              </p:cNvPr>
              <p:cNvSpPr txBox="1"/>
              <p:nvPr/>
            </p:nvSpPr>
            <p:spPr>
              <a:xfrm>
                <a:off x="1053636" y="821305"/>
                <a:ext cx="212987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𝒛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ja-JP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ja-JP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100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altLang="ja-JP" b="0" dirty="0">
                  <a:ea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ja-JP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en-US" altLang="ja-JP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r>
                        <a:rPr lang="en-US" altLang="ja-JP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r>
                        <m:rPr>
                          <m:sty m:val="p"/>
                        </m:rPr>
                        <a:rPr lang="el-GR" altLang="ja-JP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Ν</m:t>
                      </m:r>
                      <m:d>
                        <m:d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0,1</m:t>
                          </m:r>
                        </m:e>
                      </m:d>
                    </m:oMath>
                  </m:oMathPara>
                </a14:m>
                <a:endParaRPr lang="en-US" altLang="ja-JP" dirty="0"/>
              </a:p>
            </p:txBody>
          </p:sp>
        </mc:Choice>
        <mc:Fallback>
          <p:sp>
            <p:nvSpPr>
              <p:cNvPr id="3" name="テキスト ボックス 2">
                <a:extLst>
                  <a:ext uri="{FF2B5EF4-FFF2-40B4-BE49-F238E27FC236}">
                    <a16:creationId xmlns:a16="http://schemas.microsoft.com/office/drawing/2014/main" id="{9ADD4788-BF1A-0912-6AB4-2115A5E16E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3636" y="821305"/>
                <a:ext cx="2129878" cy="64633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楕円 7">
            <a:extLst>
              <a:ext uri="{FF2B5EF4-FFF2-40B4-BE49-F238E27FC236}">
                <a16:creationId xmlns:a16="http://schemas.microsoft.com/office/drawing/2014/main" id="{6C8D5AC4-FFAF-7857-B60B-840DC75562E7}"/>
              </a:ext>
            </a:extLst>
          </p:cNvPr>
          <p:cNvSpPr/>
          <p:nvPr/>
        </p:nvSpPr>
        <p:spPr>
          <a:xfrm>
            <a:off x="7205158" y="488435"/>
            <a:ext cx="1757218" cy="1199536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1" name="図 20" descr="QR コード&#10;&#10;AI 生成コンテンツは誤りを含む可能性があります。">
            <a:extLst>
              <a:ext uri="{FF2B5EF4-FFF2-40B4-BE49-F238E27FC236}">
                <a16:creationId xmlns:a16="http://schemas.microsoft.com/office/drawing/2014/main" id="{86DF506F-6BA3-106A-6FAB-0B13B32F83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7766" y="586758"/>
            <a:ext cx="972000" cy="984382"/>
          </a:xfrm>
          <a:prstGeom prst="rect">
            <a:avLst/>
          </a:prstGeom>
        </p:spPr>
      </p:pic>
      <p:sp>
        <p:nvSpPr>
          <p:cNvPr id="23" name="楕円 22">
            <a:extLst>
              <a:ext uri="{FF2B5EF4-FFF2-40B4-BE49-F238E27FC236}">
                <a16:creationId xmlns:a16="http://schemas.microsoft.com/office/drawing/2014/main" id="{9A559635-9A94-5D7B-62F7-FB57944F87DC}"/>
              </a:ext>
            </a:extLst>
          </p:cNvPr>
          <p:cNvSpPr/>
          <p:nvPr/>
        </p:nvSpPr>
        <p:spPr>
          <a:xfrm>
            <a:off x="7272834" y="1816678"/>
            <a:ext cx="1757219" cy="1199536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楕円 23">
            <a:extLst>
              <a:ext uri="{FF2B5EF4-FFF2-40B4-BE49-F238E27FC236}">
                <a16:creationId xmlns:a16="http://schemas.microsoft.com/office/drawing/2014/main" id="{C6A9D6B9-B0F6-1F02-EBBF-08A1CC749CBD}"/>
              </a:ext>
            </a:extLst>
          </p:cNvPr>
          <p:cNvSpPr/>
          <p:nvPr/>
        </p:nvSpPr>
        <p:spPr>
          <a:xfrm>
            <a:off x="7317352" y="3100802"/>
            <a:ext cx="1757219" cy="119953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3" name="図 12" descr="色付け, 座る, 手, カラフル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0E677CD7-B788-C5C6-78CD-4C46500710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03553" y="1957683"/>
            <a:ext cx="972000" cy="981994"/>
          </a:xfrm>
          <a:prstGeom prst="rect">
            <a:avLst/>
          </a:prstGeom>
        </p:spPr>
      </p:pic>
      <p:pic>
        <p:nvPicPr>
          <p:cNvPr id="17" name="図 16" descr="タイル張り, 立つ, 座る, 手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523DCB5A-0BB5-A2DF-3DCD-D6B1DC0573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03553" y="3207705"/>
            <a:ext cx="972000" cy="969552"/>
          </a:xfrm>
          <a:prstGeom prst="rect">
            <a:avLst/>
          </a:prstGeom>
        </p:spPr>
      </p:pic>
      <p:sp>
        <p:nvSpPr>
          <p:cNvPr id="26" name="楕円 25">
            <a:extLst>
              <a:ext uri="{FF2B5EF4-FFF2-40B4-BE49-F238E27FC236}">
                <a16:creationId xmlns:a16="http://schemas.microsoft.com/office/drawing/2014/main" id="{E39CD5CA-8CFE-E3D0-BACF-DFF633222747}"/>
              </a:ext>
            </a:extLst>
          </p:cNvPr>
          <p:cNvSpPr/>
          <p:nvPr/>
        </p:nvSpPr>
        <p:spPr>
          <a:xfrm>
            <a:off x="967770" y="1899529"/>
            <a:ext cx="2215744" cy="1024932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テキスト ボックス 27">
                <a:extLst>
                  <a:ext uri="{FF2B5EF4-FFF2-40B4-BE49-F238E27FC236}">
                    <a16:creationId xmlns:a16="http://schemas.microsoft.com/office/drawing/2014/main" id="{3E32DBF2-9350-8C78-5E47-A59163ED3D87}"/>
                  </a:ext>
                </a:extLst>
              </p:cNvPr>
              <p:cNvSpPr txBox="1"/>
              <p:nvPr/>
            </p:nvSpPr>
            <p:spPr>
              <a:xfrm>
                <a:off x="1365157" y="2192656"/>
                <a:ext cx="148128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𝒛</m:t>
                      </m:r>
                      <m:r>
                        <a:rPr lang="en-US" altLang="ja-JP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ja-JP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altLang="ja-JP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altLang="ja-JP" dirty="0"/>
              </a:p>
            </p:txBody>
          </p:sp>
        </mc:Choice>
        <mc:Fallback>
          <p:sp>
            <p:nvSpPr>
              <p:cNvPr id="28" name="テキスト ボックス 27">
                <a:extLst>
                  <a:ext uri="{FF2B5EF4-FFF2-40B4-BE49-F238E27FC236}">
                    <a16:creationId xmlns:a16="http://schemas.microsoft.com/office/drawing/2014/main" id="{3E32DBF2-9350-8C78-5E47-A59163ED3D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5157" y="2192656"/>
                <a:ext cx="1481286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矢印: 右 8">
            <a:extLst>
              <a:ext uri="{FF2B5EF4-FFF2-40B4-BE49-F238E27FC236}">
                <a16:creationId xmlns:a16="http://schemas.microsoft.com/office/drawing/2014/main" id="{2C614882-6EB6-139C-CFF1-4CCC971AC4CF}"/>
              </a:ext>
            </a:extLst>
          </p:cNvPr>
          <p:cNvSpPr/>
          <p:nvPr/>
        </p:nvSpPr>
        <p:spPr>
          <a:xfrm>
            <a:off x="3293218" y="2266347"/>
            <a:ext cx="932077" cy="184666"/>
          </a:xfrm>
          <a:prstGeom prst="rightArrow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59AD6FD6-789D-DB7A-6FE5-9DE03576D982}"/>
              </a:ext>
            </a:extLst>
          </p:cNvPr>
          <p:cNvSpPr/>
          <p:nvPr/>
        </p:nvSpPr>
        <p:spPr>
          <a:xfrm>
            <a:off x="4494843" y="1927004"/>
            <a:ext cx="1466662" cy="8471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>
                <a:solidFill>
                  <a:schemeClr val="tx1"/>
                </a:solidFill>
              </a:rPr>
              <a:t>Generator</a:t>
            </a:r>
            <a:endParaRPr kumimoji="1" lang="en-US" altLang="ja-JP" dirty="0">
              <a:solidFill>
                <a:schemeClr val="tx1"/>
              </a:solidFill>
            </a:endParaRPr>
          </a:p>
        </p:txBody>
      </p:sp>
      <p:sp>
        <p:nvSpPr>
          <p:cNvPr id="11" name="矢印: 右 10">
            <a:extLst>
              <a:ext uri="{FF2B5EF4-FFF2-40B4-BE49-F238E27FC236}">
                <a16:creationId xmlns:a16="http://schemas.microsoft.com/office/drawing/2014/main" id="{E223A2A4-19E6-E7C3-102B-377B826889EB}"/>
              </a:ext>
            </a:extLst>
          </p:cNvPr>
          <p:cNvSpPr/>
          <p:nvPr/>
        </p:nvSpPr>
        <p:spPr>
          <a:xfrm>
            <a:off x="6096000" y="2266347"/>
            <a:ext cx="1067130" cy="184666"/>
          </a:xfrm>
          <a:prstGeom prst="rightArrow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楕円 15">
            <a:extLst>
              <a:ext uri="{FF2B5EF4-FFF2-40B4-BE49-F238E27FC236}">
                <a16:creationId xmlns:a16="http://schemas.microsoft.com/office/drawing/2014/main" id="{D0DBFA76-7B0F-57E8-C10D-0CC36E3E0339}"/>
              </a:ext>
            </a:extLst>
          </p:cNvPr>
          <p:cNvSpPr/>
          <p:nvPr/>
        </p:nvSpPr>
        <p:spPr>
          <a:xfrm>
            <a:off x="1013483" y="3099933"/>
            <a:ext cx="2215744" cy="1024932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テキスト ボックス 17">
                <a:extLst>
                  <a:ext uri="{FF2B5EF4-FFF2-40B4-BE49-F238E27FC236}">
                    <a16:creationId xmlns:a16="http://schemas.microsoft.com/office/drawing/2014/main" id="{A56CEAD9-D7CA-2364-4D05-28332478161E}"/>
                  </a:ext>
                </a:extLst>
              </p:cNvPr>
              <p:cNvSpPr txBox="1"/>
              <p:nvPr/>
            </p:nvSpPr>
            <p:spPr>
              <a:xfrm>
                <a:off x="1410870" y="3393060"/>
                <a:ext cx="148128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𝒛</m:t>
                      </m:r>
                      <m:r>
                        <a:rPr lang="en-US" altLang="ja-JP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ja-JP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altLang="ja-JP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altLang="ja-JP" dirty="0"/>
              </a:p>
            </p:txBody>
          </p:sp>
        </mc:Choice>
        <mc:Fallback>
          <p:sp>
            <p:nvSpPr>
              <p:cNvPr id="18" name="テキスト ボックス 17">
                <a:extLst>
                  <a:ext uri="{FF2B5EF4-FFF2-40B4-BE49-F238E27FC236}">
                    <a16:creationId xmlns:a16="http://schemas.microsoft.com/office/drawing/2014/main" id="{A56CEAD9-D7CA-2364-4D05-2833247816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0870" y="3393060"/>
                <a:ext cx="1481286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2FC0D670-C211-99A0-F397-7A6FBAA8866A}"/>
              </a:ext>
            </a:extLst>
          </p:cNvPr>
          <p:cNvSpPr txBox="1"/>
          <p:nvPr/>
        </p:nvSpPr>
        <p:spPr>
          <a:xfrm>
            <a:off x="9030053" y="894283"/>
            <a:ext cx="12618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R</a:t>
            </a:r>
            <a:r>
              <a:rPr kumimoji="1" lang="ja-JP" altLang="en-US" dirty="0"/>
              <a:t>画像空間</a:t>
            </a: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C1646665-635E-3B27-EE10-8223FD4F88FF}"/>
              </a:ext>
            </a:extLst>
          </p:cNvPr>
          <p:cNvSpPr txBox="1"/>
          <p:nvPr/>
        </p:nvSpPr>
        <p:spPr>
          <a:xfrm>
            <a:off x="9030053" y="2227329"/>
            <a:ext cx="12763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G</a:t>
            </a:r>
            <a:r>
              <a:rPr kumimoji="1" lang="ja-JP" altLang="en-US" dirty="0"/>
              <a:t>画像空間</a:t>
            </a: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D8DC250D-3984-5029-CB89-B797934732B2}"/>
              </a:ext>
            </a:extLst>
          </p:cNvPr>
          <p:cNvSpPr txBox="1"/>
          <p:nvPr/>
        </p:nvSpPr>
        <p:spPr>
          <a:xfrm>
            <a:off x="9076597" y="3507815"/>
            <a:ext cx="12650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B</a:t>
            </a:r>
            <a:r>
              <a:rPr kumimoji="1" lang="ja-JP" altLang="en-US" dirty="0"/>
              <a:t>画像空間</a:t>
            </a:r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2A7865E3-B86B-D786-F33B-4F36FDC10AFD}"/>
              </a:ext>
            </a:extLst>
          </p:cNvPr>
          <p:cNvSpPr txBox="1"/>
          <p:nvPr/>
        </p:nvSpPr>
        <p:spPr>
          <a:xfrm>
            <a:off x="546932" y="4300338"/>
            <a:ext cx="35702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ランダムノイズ</a:t>
            </a:r>
            <a:r>
              <a:rPr kumimoji="1" lang="ja-JP" altLang="en-US" dirty="0"/>
              <a:t>空間（</a:t>
            </a:r>
            <a:r>
              <a:rPr kumimoji="1" lang="en-US" altLang="ja-JP" dirty="0"/>
              <a:t>100</a:t>
            </a:r>
            <a:r>
              <a:rPr kumimoji="1" lang="ja-JP" altLang="en-US" dirty="0"/>
              <a:t>次元）</a:t>
            </a:r>
          </a:p>
        </p:txBody>
      </p:sp>
      <p:sp>
        <p:nvSpPr>
          <p:cNvPr id="35" name="矢印: 右 34">
            <a:extLst>
              <a:ext uri="{FF2B5EF4-FFF2-40B4-BE49-F238E27FC236}">
                <a16:creationId xmlns:a16="http://schemas.microsoft.com/office/drawing/2014/main" id="{A9BCD1A2-3F48-9B13-E933-E59F48EBC1F3}"/>
              </a:ext>
            </a:extLst>
          </p:cNvPr>
          <p:cNvSpPr/>
          <p:nvPr/>
        </p:nvSpPr>
        <p:spPr>
          <a:xfrm rot="1195983">
            <a:off x="3238034" y="1508803"/>
            <a:ext cx="1137100" cy="165589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6" name="矢印: 右 35">
            <a:extLst>
              <a:ext uri="{FF2B5EF4-FFF2-40B4-BE49-F238E27FC236}">
                <a16:creationId xmlns:a16="http://schemas.microsoft.com/office/drawing/2014/main" id="{433EEBF9-2C0A-0A9B-60CD-8EE1AB5D0670}"/>
              </a:ext>
            </a:extLst>
          </p:cNvPr>
          <p:cNvSpPr/>
          <p:nvPr/>
        </p:nvSpPr>
        <p:spPr>
          <a:xfrm rot="20013872">
            <a:off x="6048620" y="1564386"/>
            <a:ext cx="1137100" cy="165589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7" name="矢印: 右 36">
            <a:extLst>
              <a:ext uri="{FF2B5EF4-FFF2-40B4-BE49-F238E27FC236}">
                <a16:creationId xmlns:a16="http://schemas.microsoft.com/office/drawing/2014/main" id="{303DE2C5-5A47-2ABB-AB07-290E0560271D}"/>
              </a:ext>
            </a:extLst>
          </p:cNvPr>
          <p:cNvSpPr/>
          <p:nvPr/>
        </p:nvSpPr>
        <p:spPr>
          <a:xfrm rot="20116904">
            <a:off x="3205634" y="2996639"/>
            <a:ext cx="1152569" cy="200572"/>
          </a:xfrm>
          <a:prstGeom prst="rightArrow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8" name="矢印: 右 37">
            <a:extLst>
              <a:ext uri="{FF2B5EF4-FFF2-40B4-BE49-F238E27FC236}">
                <a16:creationId xmlns:a16="http://schemas.microsoft.com/office/drawing/2014/main" id="{BB80D08A-E12A-0FCF-AB1A-E78A9DEDDBC8}"/>
              </a:ext>
            </a:extLst>
          </p:cNvPr>
          <p:cNvSpPr/>
          <p:nvPr/>
        </p:nvSpPr>
        <p:spPr>
          <a:xfrm rot="1429802">
            <a:off x="6008800" y="3038296"/>
            <a:ext cx="1152569" cy="200572"/>
          </a:xfrm>
          <a:prstGeom prst="rightArrow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269065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3690C58D-53AB-4BAC-C6D7-789B3B0F78F8}"/>
              </a:ext>
            </a:extLst>
          </p:cNvPr>
          <p:cNvSpPr/>
          <p:nvPr/>
        </p:nvSpPr>
        <p:spPr>
          <a:xfrm>
            <a:off x="1877960" y="1950421"/>
            <a:ext cx="6292645" cy="305419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 altLang="ja-JP" dirty="0">
              <a:solidFill>
                <a:schemeClr val="tx1"/>
              </a:solidFill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4BF62058-6CF7-5E8B-6152-735374F6C4B4}"/>
              </a:ext>
            </a:extLst>
          </p:cNvPr>
          <p:cNvSpPr/>
          <p:nvPr/>
        </p:nvSpPr>
        <p:spPr>
          <a:xfrm>
            <a:off x="4022403" y="3690509"/>
            <a:ext cx="1748641" cy="8471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>
                <a:solidFill>
                  <a:schemeClr val="tx1"/>
                </a:solidFill>
              </a:rPr>
              <a:t>Generator</a:t>
            </a:r>
            <a:r>
              <a:rPr lang="ja-JP" altLang="en-US" dirty="0">
                <a:solidFill>
                  <a:schemeClr val="tx1"/>
                </a:solidFill>
              </a:rPr>
              <a:t>回路</a:t>
            </a:r>
            <a:endParaRPr kumimoji="1" lang="en-US" altLang="ja-JP" dirty="0">
              <a:solidFill>
                <a:schemeClr val="tx1"/>
              </a:solidFill>
            </a:endParaRPr>
          </a:p>
        </p:txBody>
      </p:sp>
      <p:pic>
        <p:nvPicPr>
          <p:cNvPr id="5" name="グラフィックス 4" descr="男性 単色塗りつぶし">
            <a:extLst>
              <a:ext uri="{FF2B5EF4-FFF2-40B4-BE49-F238E27FC236}">
                <a16:creationId xmlns:a16="http://schemas.microsoft.com/office/drawing/2014/main" id="{1AF55AD2-9E40-23FB-E79C-AC9CF75D5E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5821" y="599074"/>
            <a:ext cx="914400" cy="914400"/>
          </a:xfrm>
          <a:prstGeom prst="rect">
            <a:avLst/>
          </a:prstGeom>
        </p:spPr>
      </p:pic>
      <p:sp>
        <p:nvSpPr>
          <p:cNvPr id="6" name="吹き出し: 角を丸めた四角形 5">
            <a:extLst>
              <a:ext uri="{FF2B5EF4-FFF2-40B4-BE49-F238E27FC236}">
                <a16:creationId xmlns:a16="http://schemas.microsoft.com/office/drawing/2014/main" id="{44654867-20C8-4066-55C2-4F425658BFAE}"/>
              </a:ext>
            </a:extLst>
          </p:cNvPr>
          <p:cNvSpPr/>
          <p:nvPr/>
        </p:nvSpPr>
        <p:spPr>
          <a:xfrm>
            <a:off x="2261418" y="679308"/>
            <a:ext cx="2635306" cy="736537"/>
          </a:xfrm>
          <a:prstGeom prst="wedgeRoundRectCallout">
            <a:avLst>
              <a:gd name="adj1" fmla="val -63281"/>
              <a:gd name="adj2" fmla="val -18701"/>
              <a:gd name="adj3" fmla="val 16667"/>
            </a:avLst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55DFD536-0464-0828-4AA5-6AFC54F29EFC}"/>
                  </a:ext>
                </a:extLst>
              </p:cNvPr>
              <p:cNvSpPr txBox="1"/>
              <p:nvPr/>
            </p:nvSpPr>
            <p:spPr>
              <a:xfrm>
                <a:off x="2208402" y="638543"/>
                <a:ext cx="2822376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endParaRPr lang="en-US" altLang="ja-JP" b="1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ja-JP" altLang="en-US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任意</m:t>
                      </m:r>
                      <m:r>
                        <a:rPr lang="ja-JP" altLang="en-US" b="1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の</m:t>
                      </m:r>
                      <m:r>
                        <a:rPr lang="en-US" altLang="ja-JP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𝒛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ja-JP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ja-JP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100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altLang="ja-JP" b="0" dirty="0"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55DFD536-0464-0828-4AA5-6AFC54F29E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8402" y="638543"/>
                <a:ext cx="2822376" cy="646331"/>
              </a:xfrm>
              <a:prstGeom prst="rect">
                <a:avLst/>
              </a:prstGeom>
              <a:blipFill>
                <a:blip r:embed="rId4"/>
                <a:stretch>
                  <a:fillRect l="-216" b="-471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テキスト ボックス 8">
                <a:extLst>
                  <a:ext uri="{FF2B5EF4-FFF2-40B4-BE49-F238E27FC236}">
                    <a16:creationId xmlns:a16="http://schemas.microsoft.com/office/drawing/2014/main" id="{09ADE88F-C4DD-B47E-0F0D-233FCBDE8EBA}"/>
                  </a:ext>
                </a:extLst>
              </p:cNvPr>
              <p:cNvSpPr txBox="1"/>
              <p:nvPr/>
            </p:nvSpPr>
            <p:spPr>
              <a:xfrm>
                <a:off x="4455513" y="2081392"/>
                <a:ext cx="3633020" cy="92333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square">
                <a:spAutoFit/>
              </a:bodyPr>
              <a:lstStyle/>
              <a:p>
                <a:pPr/>
                <a:r>
                  <a:rPr lang="ja-JP" altLang="en-US" b="1" u="sng" dirty="0">
                    <a:ea typeface="Cambria Math" panose="02040503050406030204" pitchFamily="18" charset="0"/>
                  </a:rPr>
                  <a:t>実装する値</a:t>
                </a:r>
                <a:endParaRPr lang="en-US" altLang="ja-JP" b="1" u="sng" dirty="0">
                  <a:ea typeface="Cambria Math" panose="02040503050406030204" pitchFamily="18" charset="0"/>
                </a:endParaRPr>
              </a:p>
              <a:p>
                <a:pPr/>
                <a:r>
                  <a:rPr lang="ja-JP" altLang="en-US" b="1" dirty="0">
                    <a:ea typeface="Cambria Math" panose="02040503050406030204" pitchFamily="18" charset="0"/>
                  </a:rPr>
                  <a:t>学習時の固定ベクトル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ja-JP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ja-JP" altLang="en-US" dirty="0"/>
                  <a:t>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ja-JP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endParaRPr lang="en-US" altLang="ja-JP" dirty="0"/>
              </a:p>
              <a:p>
                <a:pPr/>
                <a:r>
                  <a:rPr lang="ja-JP" altLang="en-US" b="1" dirty="0">
                    <a:ea typeface="Cambria Math" panose="02040503050406030204" pitchFamily="18" charset="0"/>
                  </a:rPr>
                  <a:t>学習時の</a:t>
                </a:r>
                <a:r>
                  <a:rPr lang="en-US" altLang="ja-JP" b="1" dirty="0">
                    <a:ea typeface="Cambria Math" panose="02040503050406030204" pitchFamily="18" charset="0"/>
                  </a:rPr>
                  <a:t>Generator</a:t>
                </a:r>
                <a:r>
                  <a:rPr lang="ja-JP" altLang="en-US" b="1" dirty="0">
                    <a:ea typeface="Cambria Math" panose="02040503050406030204" pitchFamily="18" charset="0"/>
                  </a:rPr>
                  <a:t>のパラメータ</a:t>
                </a:r>
                <a:endParaRPr lang="ja-JP" altLang="en-US" dirty="0"/>
              </a:p>
            </p:txBody>
          </p:sp>
        </mc:Choice>
        <mc:Fallback>
          <p:sp>
            <p:nvSpPr>
              <p:cNvPr id="9" name="テキスト ボックス 8">
                <a:extLst>
                  <a:ext uri="{FF2B5EF4-FFF2-40B4-BE49-F238E27FC236}">
                    <a16:creationId xmlns:a16="http://schemas.microsoft.com/office/drawing/2014/main" id="{09ADE88F-C4DD-B47E-0F0D-233FCBDE8E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5513" y="2081392"/>
                <a:ext cx="3633020" cy="923330"/>
              </a:xfrm>
              <a:prstGeom prst="rect">
                <a:avLst/>
              </a:prstGeom>
              <a:blipFill>
                <a:blip r:embed="rId5"/>
                <a:stretch>
                  <a:fillRect l="-1510" t="-5921" r="-1007" b="-921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直線矢印コネクタ 10">
            <a:extLst>
              <a:ext uri="{FF2B5EF4-FFF2-40B4-BE49-F238E27FC236}">
                <a16:creationId xmlns:a16="http://schemas.microsoft.com/office/drawing/2014/main" id="{3560EC93-9393-2F2D-455B-4B49956C8686}"/>
              </a:ext>
            </a:extLst>
          </p:cNvPr>
          <p:cNvCxnSpPr>
            <a:cxnSpLocks/>
          </p:cNvCxnSpPr>
          <p:nvPr/>
        </p:nvCxnSpPr>
        <p:spPr>
          <a:xfrm>
            <a:off x="3396324" y="1415845"/>
            <a:ext cx="0" cy="1191573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4A6CCE28-87EB-FD84-D5FC-3122F0E84E22}"/>
              </a:ext>
            </a:extLst>
          </p:cNvPr>
          <p:cNvSpPr txBox="1"/>
          <p:nvPr/>
        </p:nvSpPr>
        <p:spPr>
          <a:xfrm>
            <a:off x="3469039" y="1541803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b="1" dirty="0"/>
              <a:t>入力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100B48CB-04FE-0675-E53A-4A632A14C3A4}"/>
              </a:ext>
            </a:extLst>
          </p:cNvPr>
          <p:cNvSpPr txBox="1"/>
          <p:nvPr/>
        </p:nvSpPr>
        <p:spPr>
          <a:xfrm>
            <a:off x="2060221" y="3648001"/>
            <a:ext cx="1620957" cy="92333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①</a:t>
            </a:r>
            <a:r>
              <a:rPr kumimoji="1" lang="en-US" altLang="ja-JP" dirty="0"/>
              <a:t>z</a:t>
            </a:r>
            <a:r>
              <a:rPr kumimoji="1" lang="ja-JP" altLang="en-US" dirty="0"/>
              <a:t>を入力</a:t>
            </a:r>
            <a:endParaRPr kumimoji="1" lang="en-US" altLang="ja-JP" dirty="0"/>
          </a:p>
          <a:p>
            <a:r>
              <a:rPr lang="ja-JP" altLang="en-US" dirty="0"/>
              <a:t>②</a:t>
            </a:r>
            <a:r>
              <a:rPr lang="en-US" altLang="ja-JP" dirty="0"/>
              <a:t>z+v1</a:t>
            </a:r>
            <a:r>
              <a:rPr lang="ja-JP" altLang="en-US" dirty="0"/>
              <a:t>を入力</a:t>
            </a:r>
            <a:endParaRPr lang="en-US" altLang="ja-JP" dirty="0"/>
          </a:p>
          <a:p>
            <a:r>
              <a:rPr kumimoji="1" lang="ja-JP" altLang="en-US" dirty="0"/>
              <a:t>③</a:t>
            </a:r>
            <a:r>
              <a:rPr kumimoji="1" lang="en-US" altLang="ja-JP" dirty="0"/>
              <a:t>z+v2</a:t>
            </a:r>
            <a:r>
              <a:rPr kumimoji="1" lang="ja-JP" altLang="en-US" dirty="0"/>
              <a:t>を入力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テキスト ボックス 15">
                <a:extLst>
                  <a:ext uri="{FF2B5EF4-FFF2-40B4-BE49-F238E27FC236}">
                    <a16:creationId xmlns:a16="http://schemas.microsoft.com/office/drawing/2014/main" id="{C07D0947-F1C8-8616-5C6E-7FC15FAFB8DD}"/>
                  </a:ext>
                </a:extLst>
              </p:cNvPr>
              <p:cNvSpPr txBox="1"/>
              <p:nvPr/>
            </p:nvSpPr>
            <p:spPr>
              <a:xfrm>
                <a:off x="2060221" y="2577243"/>
                <a:ext cx="2127864" cy="646331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𝒛</m:t>
                        </m:r>
                        <m:r>
                          <a:rPr lang="ja-JP" alt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、</m:t>
                        </m:r>
                        <m:r>
                          <a:rPr lang="en-US" altLang="ja-JP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𝒛</m:t>
                        </m:r>
                        <m:r>
                          <a:rPr lang="en-US" altLang="ja-JP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altLang="ja-JP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ja-JP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ja-JP" altLang="en-US" dirty="0"/>
                  <a:t>、</a:t>
                </a:r>
                <a14:m>
                  <m:oMath xmlns:m="http://schemas.openxmlformats.org/officeDocument/2006/math">
                    <m:r>
                      <a:rPr lang="en-US" altLang="ja-JP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𝒛</m:t>
                    </m:r>
                    <m:r>
                      <a:rPr lang="en-US" altLang="ja-JP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ja-JP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ja-JP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endParaRPr lang="en-US" altLang="ja-JP" dirty="0"/>
              </a:p>
              <a:p>
                <a:pPr algn="ctr"/>
                <a:r>
                  <a:rPr lang="ja-JP" altLang="en-US" dirty="0"/>
                  <a:t>の生成</a:t>
                </a:r>
              </a:p>
            </p:txBody>
          </p:sp>
        </mc:Choice>
        <mc:Fallback>
          <p:sp>
            <p:nvSpPr>
              <p:cNvPr id="16" name="テキスト ボックス 15">
                <a:extLst>
                  <a:ext uri="{FF2B5EF4-FFF2-40B4-BE49-F238E27FC236}">
                    <a16:creationId xmlns:a16="http://schemas.microsoft.com/office/drawing/2014/main" id="{C07D0947-F1C8-8616-5C6E-7FC15FAFB8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0221" y="2577243"/>
                <a:ext cx="2127864" cy="646331"/>
              </a:xfrm>
              <a:prstGeom prst="rect">
                <a:avLst/>
              </a:prstGeom>
              <a:blipFill>
                <a:blip r:embed="rId6"/>
                <a:stretch>
                  <a:fillRect t="-4717" b="-1415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723F2862-EC85-610B-0D62-AA900924E306}"/>
              </a:ext>
            </a:extLst>
          </p:cNvPr>
          <p:cNvSpPr txBox="1"/>
          <p:nvPr/>
        </p:nvSpPr>
        <p:spPr>
          <a:xfrm>
            <a:off x="1877960" y="1961087"/>
            <a:ext cx="1518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b="1" dirty="0"/>
              <a:t>FPGA</a:t>
            </a:r>
            <a:r>
              <a:rPr lang="ja-JP" altLang="en-US" b="1" dirty="0"/>
              <a:t>ボード</a:t>
            </a:r>
            <a:endParaRPr kumimoji="1" lang="ja-JP" altLang="en-US" b="1" dirty="0"/>
          </a:p>
        </p:txBody>
      </p:sp>
      <p:cxnSp>
        <p:nvCxnSpPr>
          <p:cNvPr id="20" name="直線矢印コネクタ 19">
            <a:extLst>
              <a:ext uri="{FF2B5EF4-FFF2-40B4-BE49-F238E27FC236}">
                <a16:creationId xmlns:a16="http://schemas.microsoft.com/office/drawing/2014/main" id="{A62DEF3F-FD09-4098-8E0F-792597141E90}"/>
              </a:ext>
            </a:extLst>
          </p:cNvPr>
          <p:cNvCxnSpPr>
            <a:endCxn id="13" idx="0"/>
          </p:cNvCxnSpPr>
          <p:nvPr/>
        </p:nvCxnSpPr>
        <p:spPr>
          <a:xfrm>
            <a:off x="2870699" y="3223574"/>
            <a:ext cx="1" cy="42442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直線矢印コネクタ 20">
            <a:extLst>
              <a:ext uri="{FF2B5EF4-FFF2-40B4-BE49-F238E27FC236}">
                <a16:creationId xmlns:a16="http://schemas.microsoft.com/office/drawing/2014/main" id="{CCE0FF4B-FFEB-EA45-F838-832200F2297E}"/>
              </a:ext>
            </a:extLst>
          </p:cNvPr>
          <p:cNvCxnSpPr>
            <a:cxnSpLocks/>
          </p:cNvCxnSpPr>
          <p:nvPr/>
        </p:nvCxnSpPr>
        <p:spPr>
          <a:xfrm>
            <a:off x="3681178" y="3839730"/>
            <a:ext cx="32210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直線矢印コネクタ 23">
            <a:extLst>
              <a:ext uri="{FF2B5EF4-FFF2-40B4-BE49-F238E27FC236}">
                <a16:creationId xmlns:a16="http://schemas.microsoft.com/office/drawing/2014/main" id="{18F7C9A1-A46E-CB01-6B19-22067513B822}"/>
              </a:ext>
            </a:extLst>
          </p:cNvPr>
          <p:cNvCxnSpPr>
            <a:cxnSpLocks/>
          </p:cNvCxnSpPr>
          <p:nvPr/>
        </p:nvCxnSpPr>
        <p:spPr>
          <a:xfrm>
            <a:off x="3681178" y="4112152"/>
            <a:ext cx="322100" cy="0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直線矢印コネクタ 24">
            <a:extLst>
              <a:ext uri="{FF2B5EF4-FFF2-40B4-BE49-F238E27FC236}">
                <a16:creationId xmlns:a16="http://schemas.microsoft.com/office/drawing/2014/main" id="{4A35F3B8-2102-6A40-833C-A8FD0B5EFFC8}"/>
              </a:ext>
            </a:extLst>
          </p:cNvPr>
          <p:cNvCxnSpPr>
            <a:cxnSpLocks/>
          </p:cNvCxnSpPr>
          <p:nvPr/>
        </p:nvCxnSpPr>
        <p:spPr>
          <a:xfrm>
            <a:off x="3681178" y="4380053"/>
            <a:ext cx="322100" cy="0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ECA9C021-6B78-62CB-56D5-731BD3AB5A01}"/>
              </a:ext>
            </a:extLst>
          </p:cNvPr>
          <p:cNvSpPr txBox="1"/>
          <p:nvPr/>
        </p:nvSpPr>
        <p:spPr>
          <a:xfrm>
            <a:off x="6112269" y="3648001"/>
            <a:ext cx="1045479" cy="92333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①</a:t>
            </a:r>
            <a:r>
              <a:rPr lang="en-US" altLang="ja-JP" dirty="0"/>
              <a:t>R</a:t>
            </a:r>
            <a:r>
              <a:rPr lang="ja-JP" altLang="en-US" dirty="0"/>
              <a:t>画像</a:t>
            </a:r>
            <a:endParaRPr kumimoji="1" lang="en-US" altLang="ja-JP" dirty="0"/>
          </a:p>
          <a:p>
            <a:r>
              <a:rPr lang="ja-JP" altLang="en-US" dirty="0"/>
              <a:t>②</a:t>
            </a:r>
            <a:r>
              <a:rPr lang="en-US" altLang="ja-JP" dirty="0"/>
              <a:t>G</a:t>
            </a:r>
            <a:r>
              <a:rPr lang="ja-JP" altLang="en-US" dirty="0"/>
              <a:t>画像</a:t>
            </a:r>
            <a:endParaRPr lang="en-US" altLang="ja-JP" dirty="0"/>
          </a:p>
          <a:p>
            <a:r>
              <a:rPr kumimoji="1" lang="ja-JP" altLang="en-US" dirty="0"/>
              <a:t>③</a:t>
            </a:r>
            <a:r>
              <a:rPr lang="en-US" altLang="ja-JP" dirty="0"/>
              <a:t>B</a:t>
            </a:r>
            <a:r>
              <a:rPr lang="ja-JP" altLang="en-US" dirty="0"/>
              <a:t>画像</a:t>
            </a:r>
            <a:endParaRPr kumimoji="1" lang="ja-JP" altLang="en-US" dirty="0"/>
          </a:p>
        </p:txBody>
      </p:sp>
      <p:cxnSp>
        <p:nvCxnSpPr>
          <p:cNvPr id="27" name="直線矢印コネクタ 26">
            <a:extLst>
              <a:ext uri="{FF2B5EF4-FFF2-40B4-BE49-F238E27FC236}">
                <a16:creationId xmlns:a16="http://schemas.microsoft.com/office/drawing/2014/main" id="{309AB27E-5D99-7003-8E76-77F184AB0EC8}"/>
              </a:ext>
            </a:extLst>
          </p:cNvPr>
          <p:cNvCxnSpPr>
            <a:cxnSpLocks/>
          </p:cNvCxnSpPr>
          <p:nvPr/>
        </p:nvCxnSpPr>
        <p:spPr>
          <a:xfrm>
            <a:off x="5771044" y="3839730"/>
            <a:ext cx="32210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直線矢印コネクタ 27">
            <a:extLst>
              <a:ext uri="{FF2B5EF4-FFF2-40B4-BE49-F238E27FC236}">
                <a16:creationId xmlns:a16="http://schemas.microsoft.com/office/drawing/2014/main" id="{AB05B287-54F6-0639-813B-215E7F0ADF06}"/>
              </a:ext>
            </a:extLst>
          </p:cNvPr>
          <p:cNvCxnSpPr>
            <a:cxnSpLocks/>
          </p:cNvCxnSpPr>
          <p:nvPr/>
        </p:nvCxnSpPr>
        <p:spPr>
          <a:xfrm>
            <a:off x="5771044" y="4109666"/>
            <a:ext cx="322100" cy="0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直線矢印コネクタ 28">
            <a:extLst>
              <a:ext uri="{FF2B5EF4-FFF2-40B4-BE49-F238E27FC236}">
                <a16:creationId xmlns:a16="http://schemas.microsoft.com/office/drawing/2014/main" id="{C6E2B04E-FE39-16CD-D3BB-774B25B4A4B1}"/>
              </a:ext>
            </a:extLst>
          </p:cNvPr>
          <p:cNvCxnSpPr>
            <a:cxnSpLocks/>
          </p:cNvCxnSpPr>
          <p:nvPr/>
        </p:nvCxnSpPr>
        <p:spPr>
          <a:xfrm>
            <a:off x="5771044" y="4380053"/>
            <a:ext cx="322100" cy="0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直線矢印コネクタ 29">
            <a:extLst>
              <a:ext uri="{FF2B5EF4-FFF2-40B4-BE49-F238E27FC236}">
                <a16:creationId xmlns:a16="http://schemas.microsoft.com/office/drawing/2014/main" id="{70F8128A-E128-ED65-EDC0-73CE9EF7DA4A}"/>
              </a:ext>
            </a:extLst>
          </p:cNvPr>
          <p:cNvCxnSpPr>
            <a:cxnSpLocks/>
          </p:cNvCxnSpPr>
          <p:nvPr/>
        </p:nvCxnSpPr>
        <p:spPr>
          <a:xfrm>
            <a:off x="7157748" y="4109666"/>
            <a:ext cx="1303500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2" name="図 31" descr="挿絵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191440B3-2FD9-D47F-321C-CAC9DFF03A6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11830" y="3538773"/>
            <a:ext cx="1031079" cy="1044000"/>
          </a:xfrm>
          <a:prstGeom prst="rect">
            <a:avLst/>
          </a:prstGeom>
        </p:spPr>
      </p:pic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394D7DF1-46F0-4AFE-F050-A9615129BBEC}"/>
              </a:ext>
            </a:extLst>
          </p:cNvPr>
          <p:cNvSpPr txBox="1"/>
          <p:nvPr/>
        </p:nvSpPr>
        <p:spPr>
          <a:xfrm>
            <a:off x="8322689" y="4568280"/>
            <a:ext cx="14093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ja-JP" b="1" dirty="0"/>
              <a:t>RGB</a:t>
            </a:r>
            <a:r>
              <a:rPr lang="ja-JP" altLang="en-US" b="1" dirty="0"/>
              <a:t>画像</a:t>
            </a:r>
            <a:endParaRPr lang="en-US" altLang="ja-JP" b="1" dirty="0"/>
          </a:p>
          <a:p>
            <a:pPr algn="ctr"/>
            <a:r>
              <a:rPr lang="ja-JP" altLang="en-US" b="1" dirty="0"/>
              <a:t>（</a:t>
            </a:r>
            <a:r>
              <a:rPr lang="en-US" altLang="ja-JP" b="1" dirty="0"/>
              <a:t>32×32</a:t>
            </a:r>
            <a:r>
              <a:rPr lang="ja-JP" altLang="en-US" b="1" dirty="0"/>
              <a:t>）</a:t>
            </a:r>
            <a:endParaRPr kumimoji="1" lang="ja-JP" altLang="en-US" b="1" dirty="0"/>
          </a:p>
        </p:txBody>
      </p:sp>
    </p:spTree>
    <p:extLst>
      <p:ext uri="{BB962C8B-B14F-4D97-AF65-F5344CB8AC3E}">
        <p14:creationId xmlns:p14="http://schemas.microsoft.com/office/powerpoint/2010/main" val="29495852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食品, 部屋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C7365EF8-CBFF-DE23-7CA9-2116A06E54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0625" y="699706"/>
            <a:ext cx="8230749" cy="5458587"/>
          </a:xfrm>
          <a:prstGeom prst="rect">
            <a:avLst/>
          </a:prstGeom>
        </p:spPr>
      </p:pic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7EC9917B-BD48-F93D-4AD7-5112D092FCED}"/>
              </a:ext>
            </a:extLst>
          </p:cNvPr>
          <p:cNvSpPr txBox="1"/>
          <p:nvPr/>
        </p:nvSpPr>
        <p:spPr>
          <a:xfrm>
            <a:off x="2040128" y="778256"/>
            <a:ext cx="312906" cy="3693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1</a:t>
            </a:r>
            <a:endParaRPr kumimoji="1" lang="ja-JP" altLang="en-US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9EB3BF04-6CBD-83FB-4274-A467E7E98AAB}"/>
              </a:ext>
            </a:extLst>
          </p:cNvPr>
          <p:cNvSpPr txBox="1"/>
          <p:nvPr/>
        </p:nvSpPr>
        <p:spPr>
          <a:xfrm>
            <a:off x="4783328" y="778256"/>
            <a:ext cx="312906" cy="3693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ja-JP" dirty="0"/>
              <a:t>2</a:t>
            </a:r>
            <a:endParaRPr kumimoji="1" lang="ja-JP" altLang="en-US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E6D85431-0323-3F4E-9DEB-7C450E54F19F}"/>
              </a:ext>
            </a:extLst>
          </p:cNvPr>
          <p:cNvSpPr txBox="1"/>
          <p:nvPr/>
        </p:nvSpPr>
        <p:spPr>
          <a:xfrm>
            <a:off x="7526528" y="778256"/>
            <a:ext cx="312906" cy="3693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3</a:t>
            </a:r>
            <a:endParaRPr kumimoji="1" lang="ja-JP" altLang="en-US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2F0BA5B5-D728-D12C-E4C6-4E8A238C47EC}"/>
              </a:ext>
            </a:extLst>
          </p:cNvPr>
          <p:cNvSpPr txBox="1"/>
          <p:nvPr/>
        </p:nvSpPr>
        <p:spPr>
          <a:xfrm>
            <a:off x="2040128" y="3468274"/>
            <a:ext cx="312906" cy="3693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ja-JP" dirty="0"/>
              <a:t>4</a:t>
            </a:r>
            <a:endParaRPr kumimoji="1" lang="ja-JP" altLang="en-US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81851900-6A48-29A8-8500-784752C3346F}"/>
              </a:ext>
            </a:extLst>
          </p:cNvPr>
          <p:cNvSpPr txBox="1"/>
          <p:nvPr/>
        </p:nvSpPr>
        <p:spPr>
          <a:xfrm>
            <a:off x="4783328" y="3468274"/>
            <a:ext cx="312906" cy="3693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5</a:t>
            </a:r>
            <a:endParaRPr kumimoji="1" lang="ja-JP" altLang="en-US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BEF4C1B7-E1FB-A92B-573D-B13D4346B2E0}"/>
              </a:ext>
            </a:extLst>
          </p:cNvPr>
          <p:cNvSpPr txBox="1"/>
          <p:nvPr/>
        </p:nvSpPr>
        <p:spPr>
          <a:xfrm>
            <a:off x="7526528" y="3468274"/>
            <a:ext cx="312906" cy="3693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ja-JP" dirty="0"/>
              <a:t>6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6788331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ゲーム画面のスクリーンショット&#10;&#10;AI 生成コンテンツは誤りを含む可能性があります。">
            <a:extLst>
              <a:ext uri="{FF2B5EF4-FFF2-40B4-BE49-F238E27FC236}">
                <a16:creationId xmlns:a16="http://schemas.microsoft.com/office/drawing/2014/main" id="{A75A8B16-FD58-538B-21A9-2B0219CBE7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6322" y="2830006"/>
            <a:ext cx="5736276" cy="1070967"/>
          </a:xfrm>
          <a:prstGeom prst="rect">
            <a:avLst/>
          </a:prstGeom>
        </p:spPr>
      </p:pic>
      <p:pic>
        <p:nvPicPr>
          <p:cNvPr id="5" name="図 4" descr="挿絵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F59B54F9-6518-7729-AF06-C267938E9F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6322" y="1425791"/>
            <a:ext cx="5736276" cy="1028281"/>
          </a:xfrm>
          <a:prstGeom prst="rect">
            <a:avLst/>
          </a:prstGeom>
        </p:spPr>
      </p:pic>
      <p:pic>
        <p:nvPicPr>
          <p:cNvPr id="7" name="図 6" descr="色付け, カラフル, 立つ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2AAAE9C2-A010-A44E-6EE7-42EDD299A0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16322" y="4214603"/>
            <a:ext cx="5736276" cy="1062899"/>
          </a:xfrm>
          <a:prstGeom prst="rect">
            <a:avLst/>
          </a:prstGeo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4BF8745D-5A56-145F-1217-4D658D244C58}"/>
              </a:ext>
            </a:extLst>
          </p:cNvPr>
          <p:cNvSpPr txBox="1"/>
          <p:nvPr/>
        </p:nvSpPr>
        <p:spPr>
          <a:xfrm>
            <a:off x="3451122" y="243733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z1</a:t>
            </a:r>
            <a:endParaRPr kumimoji="1" lang="ja-JP" altLang="en-US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08C9117B-80E7-8D4C-1E12-C7B9B4D666B0}"/>
              </a:ext>
            </a:extLst>
          </p:cNvPr>
          <p:cNvSpPr txBox="1"/>
          <p:nvPr/>
        </p:nvSpPr>
        <p:spPr>
          <a:xfrm>
            <a:off x="3466703" y="386908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z1</a:t>
            </a:r>
            <a:endParaRPr kumimoji="1" lang="ja-JP" altLang="en-US" dirty="0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096A3800-E477-FE4B-FC7A-8D1A8B490E00}"/>
              </a:ext>
            </a:extLst>
          </p:cNvPr>
          <p:cNvSpPr txBox="1"/>
          <p:nvPr/>
        </p:nvSpPr>
        <p:spPr>
          <a:xfrm>
            <a:off x="3451122" y="527750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z1</a:t>
            </a:r>
            <a:endParaRPr kumimoji="1" lang="ja-JP" altLang="en-US" dirty="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DB66B1D6-ACEF-411D-A3E1-834CA5EB453C}"/>
              </a:ext>
            </a:extLst>
          </p:cNvPr>
          <p:cNvSpPr txBox="1"/>
          <p:nvPr/>
        </p:nvSpPr>
        <p:spPr>
          <a:xfrm>
            <a:off x="8185354" y="243733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z2</a:t>
            </a:r>
            <a:endParaRPr kumimoji="1" lang="ja-JP" altLang="en-US" dirty="0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77F42A2E-63AF-A96C-A3B1-19CFBA5F7C76}"/>
              </a:ext>
            </a:extLst>
          </p:cNvPr>
          <p:cNvSpPr txBox="1"/>
          <p:nvPr/>
        </p:nvSpPr>
        <p:spPr>
          <a:xfrm>
            <a:off x="8200935" y="386908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z2</a:t>
            </a:r>
            <a:endParaRPr kumimoji="1" lang="ja-JP" altLang="en-US" dirty="0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D0707E79-9A37-38F1-DF42-C4024922BFEF}"/>
              </a:ext>
            </a:extLst>
          </p:cNvPr>
          <p:cNvSpPr txBox="1"/>
          <p:nvPr/>
        </p:nvSpPr>
        <p:spPr>
          <a:xfrm>
            <a:off x="8185354" y="527750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z2</a:t>
            </a:r>
            <a:endParaRPr kumimoji="1" lang="ja-JP" altLang="en-US" dirty="0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C12C9844-EF81-2DB8-A85D-D299C24CE6FD}"/>
              </a:ext>
            </a:extLst>
          </p:cNvPr>
          <p:cNvSpPr txBox="1"/>
          <p:nvPr/>
        </p:nvSpPr>
        <p:spPr>
          <a:xfrm>
            <a:off x="2782576" y="1828800"/>
            <a:ext cx="333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A</a:t>
            </a:r>
            <a:endParaRPr kumimoji="1" lang="ja-JP" altLang="en-US" dirty="0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DD05E80E-42C8-FAA9-BF9A-8BB83BDC2FE3}"/>
              </a:ext>
            </a:extLst>
          </p:cNvPr>
          <p:cNvSpPr txBox="1"/>
          <p:nvPr/>
        </p:nvSpPr>
        <p:spPr>
          <a:xfrm>
            <a:off x="2782576" y="3180823"/>
            <a:ext cx="3417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B</a:t>
            </a:r>
            <a:endParaRPr kumimoji="1" lang="ja-JP" altLang="en-US" dirty="0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576D9329-8E1F-5DE5-339D-2367653FA832}"/>
              </a:ext>
            </a:extLst>
          </p:cNvPr>
          <p:cNvSpPr txBox="1"/>
          <p:nvPr/>
        </p:nvSpPr>
        <p:spPr>
          <a:xfrm>
            <a:off x="2778569" y="4561386"/>
            <a:ext cx="3417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C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4598957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1314</TotalTime>
  <Words>356</Words>
  <Application>Microsoft Office PowerPoint</Application>
  <PresentationFormat>ワイド画面</PresentationFormat>
  <Paragraphs>141</Paragraphs>
  <Slides>10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10</vt:i4>
      </vt:variant>
    </vt:vector>
  </HeadingPairs>
  <TitlesOfParts>
    <vt:vector size="15" baseType="lpstr">
      <vt:lpstr>游ゴシック</vt:lpstr>
      <vt:lpstr>游ゴシック Light</vt:lpstr>
      <vt:lpstr>Arial</vt:lpstr>
      <vt:lpstr>Cambria Math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yoshihiro mitani</dc:creator>
  <cp:lastModifiedBy>yoshihiro mitani</cp:lastModifiedBy>
  <cp:revision>3</cp:revision>
  <dcterms:created xsi:type="dcterms:W3CDTF">2026-01-12T06:37:09Z</dcterms:created>
  <dcterms:modified xsi:type="dcterms:W3CDTF">2026-01-13T04:31:43Z</dcterms:modified>
</cp:coreProperties>
</file>